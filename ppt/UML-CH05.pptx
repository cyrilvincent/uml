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Lst>
  <p:notesMasterIdLst>
    <p:notesMasterId r:id="rId82"/>
  </p:notesMasterIdLst>
  <p:handoutMasterIdLst>
    <p:handoutMasterId r:id="rId83"/>
  </p:handoutMasterIdLst>
  <p:sldIdLst>
    <p:sldId id="256" r:id="rId2"/>
    <p:sldId id="257" r:id="rId3"/>
    <p:sldId id="258" r:id="rId4"/>
    <p:sldId id="259" r:id="rId5"/>
    <p:sldId id="261" r:id="rId6"/>
    <p:sldId id="262" r:id="rId7"/>
    <p:sldId id="264" r:id="rId8"/>
    <p:sldId id="265" r:id="rId9"/>
    <p:sldId id="266" r:id="rId10"/>
    <p:sldId id="267" r:id="rId11"/>
    <p:sldId id="268" r:id="rId12"/>
    <p:sldId id="269" r:id="rId13"/>
    <p:sldId id="271" r:id="rId14"/>
    <p:sldId id="272" r:id="rId15"/>
    <p:sldId id="273" r:id="rId16"/>
    <p:sldId id="274" r:id="rId17"/>
    <p:sldId id="275" r:id="rId18"/>
    <p:sldId id="276" r:id="rId19"/>
    <p:sldId id="277" r:id="rId20"/>
    <p:sldId id="278" r:id="rId21"/>
    <p:sldId id="279" r:id="rId22"/>
    <p:sldId id="281" r:id="rId23"/>
    <p:sldId id="282" r:id="rId24"/>
    <p:sldId id="283" r:id="rId25"/>
    <p:sldId id="284" r:id="rId26"/>
    <p:sldId id="285" r:id="rId27"/>
    <p:sldId id="286" r:id="rId28"/>
    <p:sldId id="287" r:id="rId29"/>
    <p:sldId id="288" r:id="rId30"/>
    <p:sldId id="289" r:id="rId31"/>
    <p:sldId id="291" r:id="rId32"/>
    <p:sldId id="294" r:id="rId33"/>
    <p:sldId id="295" r:id="rId34"/>
    <p:sldId id="297" r:id="rId35"/>
    <p:sldId id="298" r:id="rId36"/>
    <p:sldId id="299" r:id="rId37"/>
    <p:sldId id="301" r:id="rId38"/>
    <p:sldId id="303" r:id="rId39"/>
    <p:sldId id="304" r:id="rId40"/>
    <p:sldId id="305" r:id="rId41"/>
    <p:sldId id="306" r:id="rId42"/>
    <p:sldId id="307" r:id="rId43"/>
    <p:sldId id="308" r:id="rId44"/>
    <p:sldId id="309" r:id="rId45"/>
    <p:sldId id="310" r:id="rId46"/>
    <p:sldId id="317" r:id="rId47"/>
    <p:sldId id="318" r:id="rId48"/>
    <p:sldId id="320" r:id="rId49"/>
    <p:sldId id="321" r:id="rId50"/>
    <p:sldId id="322" r:id="rId51"/>
    <p:sldId id="323" r:id="rId52"/>
    <p:sldId id="324" r:id="rId53"/>
    <p:sldId id="326" r:id="rId54"/>
    <p:sldId id="327" r:id="rId55"/>
    <p:sldId id="328" r:id="rId56"/>
    <p:sldId id="330" r:id="rId57"/>
    <p:sldId id="331" r:id="rId58"/>
    <p:sldId id="332" r:id="rId59"/>
    <p:sldId id="335" r:id="rId60"/>
    <p:sldId id="336" r:id="rId61"/>
    <p:sldId id="337" r:id="rId62"/>
    <p:sldId id="338" r:id="rId63"/>
    <p:sldId id="340" r:id="rId64"/>
    <p:sldId id="341" r:id="rId65"/>
    <p:sldId id="342" r:id="rId66"/>
    <p:sldId id="344" r:id="rId67"/>
    <p:sldId id="345" r:id="rId68"/>
    <p:sldId id="346" r:id="rId69"/>
    <p:sldId id="348" r:id="rId70"/>
    <p:sldId id="349" r:id="rId71"/>
    <p:sldId id="350" r:id="rId72"/>
    <p:sldId id="351" r:id="rId73"/>
    <p:sldId id="352" r:id="rId74"/>
    <p:sldId id="353" r:id="rId75"/>
    <p:sldId id="354" r:id="rId76"/>
    <p:sldId id="355" r:id="rId77"/>
    <p:sldId id="356" r:id="rId78"/>
    <p:sldId id="358" r:id="rId79"/>
    <p:sldId id="359" r:id="rId80"/>
    <p:sldId id="360" r:id="rId81"/>
  </p:sldIdLst>
  <p:sldSz cx="9144000" cy="6858000" type="screen4x3"/>
  <p:notesSz cx="6756400" cy="9929813"/>
  <p:defaultTextStyle>
    <a:defPPr>
      <a:defRPr lang="en-GB"/>
    </a:defPPr>
    <a:lvl1pPr algn="l"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sz="1400" kern="1200">
        <a:solidFill>
          <a:schemeClr val="tx1"/>
        </a:solidFill>
        <a:latin typeface="Arial" charset="0"/>
        <a:ea typeface="+mn-ea"/>
        <a:cs typeface="+mn-cs"/>
      </a:defRPr>
    </a:lvl2pPr>
    <a:lvl3pPr marL="914400" algn="l" rtl="0" eaLnBrk="0" fontAlgn="base" hangingPunct="0">
      <a:spcBef>
        <a:spcPct val="0"/>
      </a:spcBef>
      <a:spcAft>
        <a:spcPct val="0"/>
      </a:spcAft>
      <a:defRPr sz="1400" kern="1200">
        <a:solidFill>
          <a:schemeClr val="tx1"/>
        </a:solidFill>
        <a:latin typeface="Arial" charset="0"/>
        <a:ea typeface="+mn-ea"/>
        <a:cs typeface="+mn-cs"/>
      </a:defRPr>
    </a:lvl3pPr>
    <a:lvl4pPr marL="1371600" algn="l" rtl="0" eaLnBrk="0" fontAlgn="base" hangingPunct="0">
      <a:spcBef>
        <a:spcPct val="0"/>
      </a:spcBef>
      <a:spcAft>
        <a:spcPct val="0"/>
      </a:spcAft>
      <a:defRPr sz="1400" kern="1200">
        <a:solidFill>
          <a:schemeClr val="tx1"/>
        </a:solidFill>
        <a:latin typeface="Arial" charset="0"/>
        <a:ea typeface="+mn-ea"/>
        <a:cs typeface="+mn-cs"/>
      </a:defRPr>
    </a:lvl4pPr>
    <a:lvl5pPr marL="1828800" algn="l" rtl="0" eaLnBrk="0" fontAlgn="base" hangingPunct="0">
      <a:spcBef>
        <a:spcPct val="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p15:clr>
            <a:srgbClr val="A4A3A4"/>
          </p15:clr>
        </p15:guide>
        <p15:guide id="2" pos="212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80"/>
    <a:srgbClr val="660066"/>
    <a:srgbClr val="800080"/>
    <a:srgbClr val="800000"/>
    <a:srgbClr val="000000"/>
    <a:srgbClr val="292929"/>
    <a:srgbClr val="006600"/>
    <a:srgbClr val="99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27653" autoAdjust="0"/>
    <p:restoredTop sz="91331" autoAdjust="0"/>
  </p:normalViewPr>
  <p:slideViewPr>
    <p:cSldViewPr>
      <p:cViewPr varScale="1">
        <p:scale>
          <a:sx n="74" d="100"/>
          <a:sy n="74" d="100"/>
        </p:scale>
        <p:origin x="624" y="72"/>
      </p:cViewPr>
      <p:guideLst>
        <p:guide orient="horz" pos="2160"/>
        <p:guide pos="2880"/>
      </p:guideLst>
    </p:cSldViewPr>
  </p:slideViewPr>
  <p:outlineViewPr>
    <p:cViewPr>
      <p:scale>
        <a:sx n="50" d="100"/>
        <a:sy n="50" d="100"/>
      </p:scale>
      <p:origin x="0" y="0"/>
    </p:cViewPr>
    <p:sldLst>
      <p:sld r:id="rId1" collapse="1"/>
    </p:sldLst>
  </p:outlineViewPr>
  <p:notesTextViewPr>
    <p:cViewPr>
      <p:scale>
        <a:sx n="100" d="100"/>
        <a:sy n="100" d="100"/>
      </p:scale>
      <p:origin x="0" y="0"/>
    </p:cViewPr>
  </p:notesTextViewPr>
  <p:sorterViewPr>
    <p:cViewPr>
      <p:scale>
        <a:sx n="66" d="100"/>
        <a:sy n="66" d="100"/>
      </p:scale>
      <p:origin x="0" y="522"/>
    </p:cViewPr>
  </p:sorterViewPr>
  <p:notesViewPr>
    <p:cSldViewPr>
      <p:cViewPr>
        <p:scale>
          <a:sx n="100" d="100"/>
          <a:sy n="100" d="100"/>
        </p:scale>
        <p:origin x="-1572" y="-72"/>
      </p:cViewPr>
      <p:guideLst>
        <p:guide orient="horz" pos="3127"/>
        <p:guide pos="212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s>
</file>

<file path=ppt/_rels/viewProps.xml.rels><?xml version="1.0" encoding="UTF-8" standalone="yes"?>
<Relationships xmlns="http://schemas.openxmlformats.org/package/2006/relationships"><Relationship Id="rId1"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9026" name="Rectangle 2"/>
          <p:cNvSpPr>
            <a:spLocks noGrp="1" noChangeArrowheads="1"/>
          </p:cNvSpPr>
          <p:nvPr>
            <p:ph type="hdr" sz="quarter"/>
          </p:nvPr>
        </p:nvSpPr>
        <p:spPr bwMode="auto">
          <a:xfrm>
            <a:off x="0" y="0"/>
            <a:ext cx="2928938" cy="495300"/>
          </a:xfrm>
          <a:prstGeom prst="rect">
            <a:avLst/>
          </a:prstGeom>
          <a:noFill/>
          <a:ln w="9525">
            <a:noFill/>
            <a:miter lim="800000"/>
            <a:headEnd/>
            <a:tailEnd/>
          </a:ln>
          <a:effectLst/>
        </p:spPr>
        <p:txBody>
          <a:bodyPr vert="horz" wrap="square" lIns="92642" tIns="46321" rIns="92642" bIns="46321" numCol="1" anchor="t" anchorCtr="0" compatLnSpc="1">
            <a:prstTxWarp prst="textNoShape">
              <a:avLst/>
            </a:prstTxWarp>
          </a:bodyPr>
          <a:lstStyle>
            <a:lvl1pPr defTabSz="927100">
              <a:defRPr sz="1200" b="1" smtClean="0">
                <a:latin typeface="Times New Roman" pitchFamily="18" charset="0"/>
              </a:defRPr>
            </a:lvl1pPr>
          </a:lstStyle>
          <a:p>
            <a:pPr>
              <a:defRPr/>
            </a:pPr>
            <a:endParaRPr lang="en-GB"/>
          </a:p>
        </p:txBody>
      </p:sp>
      <p:sp>
        <p:nvSpPr>
          <p:cNvPr id="129027" name="Rectangle 3"/>
          <p:cNvSpPr>
            <a:spLocks noGrp="1" noChangeArrowheads="1"/>
          </p:cNvSpPr>
          <p:nvPr>
            <p:ph type="dt" sz="quarter" idx="1"/>
          </p:nvPr>
        </p:nvSpPr>
        <p:spPr bwMode="auto">
          <a:xfrm>
            <a:off x="3827463" y="0"/>
            <a:ext cx="2928937" cy="495300"/>
          </a:xfrm>
          <a:prstGeom prst="rect">
            <a:avLst/>
          </a:prstGeom>
          <a:noFill/>
          <a:ln w="9525">
            <a:noFill/>
            <a:miter lim="800000"/>
            <a:headEnd/>
            <a:tailEnd/>
          </a:ln>
          <a:effectLst/>
        </p:spPr>
        <p:txBody>
          <a:bodyPr vert="horz" wrap="square" lIns="92642" tIns="46321" rIns="92642" bIns="46321" numCol="1" anchor="t" anchorCtr="0" compatLnSpc="1">
            <a:prstTxWarp prst="textNoShape">
              <a:avLst/>
            </a:prstTxWarp>
          </a:bodyPr>
          <a:lstStyle>
            <a:lvl1pPr algn="r" defTabSz="927100">
              <a:defRPr sz="1200" b="1" smtClean="0">
                <a:latin typeface="Times New Roman" pitchFamily="18" charset="0"/>
              </a:defRPr>
            </a:lvl1pPr>
          </a:lstStyle>
          <a:p>
            <a:pPr>
              <a:defRPr/>
            </a:pPr>
            <a:endParaRPr lang="en-GB"/>
          </a:p>
        </p:txBody>
      </p:sp>
      <p:sp>
        <p:nvSpPr>
          <p:cNvPr id="129028" name="Rectangle 4"/>
          <p:cNvSpPr>
            <a:spLocks noGrp="1" noChangeArrowheads="1"/>
          </p:cNvSpPr>
          <p:nvPr>
            <p:ph type="ftr" sz="quarter" idx="2"/>
          </p:nvPr>
        </p:nvSpPr>
        <p:spPr bwMode="auto">
          <a:xfrm>
            <a:off x="0" y="9434513"/>
            <a:ext cx="2928938" cy="495300"/>
          </a:xfrm>
          <a:prstGeom prst="rect">
            <a:avLst/>
          </a:prstGeom>
          <a:noFill/>
          <a:ln w="9525">
            <a:noFill/>
            <a:miter lim="800000"/>
            <a:headEnd/>
            <a:tailEnd/>
          </a:ln>
          <a:effectLst/>
        </p:spPr>
        <p:txBody>
          <a:bodyPr vert="horz" wrap="square" lIns="92642" tIns="46321" rIns="92642" bIns="46321" numCol="1" anchor="b" anchorCtr="0" compatLnSpc="1">
            <a:prstTxWarp prst="textNoShape">
              <a:avLst/>
            </a:prstTxWarp>
          </a:bodyPr>
          <a:lstStyle>
            <a:lvl1pPr defTabSz="927100">
              <a:defRPr sz="1200" b="1" smtClean="0">
                <a:latin typeface="Times New Roman" pitchFamily="18" charset="0"/>
              </a:defRPr>
            </a:lvl1pPr>
          </a:lstStyle>
          <a:p>
            <a:pPr>
              <a:defRPr/>
            </a:pPr>
            <a:endParaRPr lang="en-GB"/>
          </a:p>
        </p:txBody>
      </p:sp>
      <p:sp>
        <p:nvSpPr>
          <p:cNvPr id="129029" name="Rectangle 5"/>
          <p:cNvSpPr>
            <a:spLocks noGrp="1" noChangeArrowheads="1"/>
          </p:cNvSpPr>
          <p:nvPr>
            <p:ph type="sldNum" sz="quarter" idx="3"/>
          </p:nvPr>
        </p:nvSpPr>
        <p:spPr bwMode="auto">
          <a:xfrm>
            <a:off x="3827463" y="9434513"/>
            <a:ext cx="2928937" cy="495300"/>
          </a:xfrm>
          <a:prstGeom prst="rect">
            <a:avLst/>
          </a:prstGeom>
          <a:noFill/>
          <a:ln w="9525">
            <a:noFill/>
            <a:miter lim="800000"/>
            <a:headEnd/>
            <a:tailEnd/>
          </a:ln>
          <a:effectLst/>
        </p:spPr>
        <p:txBody>
          <a:bodyPr vert="horz" wrap="square" lIns="92642" tIns="46321" rIns="92642" bIns="46321" numCol="1" anchor="b" anchorCtr="0" compatLnSpc="1">
            <a:prstTxWarp prst="textNoShape">
              <a:avLst/>
            </a:prstTxWarp>
          </a:bodyPr>
          <a:lstStyle>
            <a:lvl1pPr algn="r" defTabSz="927100">
              <a:defRPr sz="1200" b="1" smtClean="0">
                <a:latin typeface="Times New Roman" pitchFamily="18" charset="0"/>
              </a:defRPr>
            </a:lvl1pPr>
          </a:lstStyle>
          <a:p>
            <a:pPr>
              <a:defRPr/>
            </a:pPr>
            <a:fld id="{ADDDA595-6434-4780-8F23-F6A1177F52B4}" type="slidenum">
              <a:rPr lang="en-GB"/>
              <a:pPr>
                <a:defRPr/>
              </a:pPr>
              <a:t>‹N°›</a:t>
            </a:fld>
            <a:endParaRPr lang="en-GB"/>
          </a:p>
        </p:txBody>
      </p:sp>
    </p:spTree>
    <p:extLst>
      <p:ext uri="{BB962C8B-B14F-4D97-AF65-F5344CB8AC3E}">
        <p14:creationId xmlns:p14="http://schemas.microsoft.com/office/powerpoint/2010/main" val="110063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58" name="Rectangle 4"/>
          <p:cNvSpPr>
            <a:spLocks noGrp="1" noRot="1" noChangeAspect="1" noChangeArrowheads="1" noTextEdit="1"/>
          </p:cNvSpPr>
          <p:nvPr>
            <p:ph type="sldImg" idx="2"/>
          </p:nvPr>
        </p:nvSpPr>
        <p:spPr bwMode="auto">
          <a:xfrm>
            <a:off x="592118" y="607188"/>
            <a:ext cx="5620362" cy="4214842"/>
          </a:xfrm>
          <a:prstGeom prst="rect">
            <a:avLst/>
          </a:prstGeom>
          <a:noFill/>
          <a:ln w="12700">
            <a:solidFill>
              <a:schemeClr val="tx1"/>
            </a:solidFill>
            <a:miter lim="800000"/>
            <a:headEnd/>
            <a:tailEnd/>
          </a:ln>
        </p:spPr>
      </p:sp>
    </p:spTree>
    <p:extLst>
      <p:ext uri="{BB962C8B-B14F-4D97-AF65-F5344CB8AC3E}">
        <p14:creationId xmlns:p14="http://schemas.microsoft.com/office/powerpoint/2010/main" val="27223989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xfrm>
            <a:off x="592138" y="606425"/>
            <a:ext cx="5619750" cy="4214813"/>
          </a:xfrm>
          <a:ln/>
        </p:spPr>
      </p:sp>
      <p:sp>
        <p:nvSpPr>
          <p:cNvPr id="46083" name="Rectangle 3"/>
          <p:cNvSpPr>
            <a:spLocks noGrp="1" noChangeArrowheads="1"/>
          </p:cNvSpPr>
          <p:nvPr>
            <p:ph type="body" idx="1"/>
          </p:nvPr>
        </p:nvSpPr>
        <p:spPr>
          <a:xfrm>
            <a:off x="220663" y="4238625"/>
            <a:ext cx="6265862" cy="5299075"/>
          </a:xfrm>
          <a:prstGeom prst="rect">
            <a:avLst/>
          </a:prstGeom>
          <a:noFill/>
          <a:ln/>
        </p:spPr>
        <p:txBody>
          <a:bodyPr/>
          <a:lstStyle/>
          <a:p>
            <a:pPr eaLnBrk="1" hangingPunct="1"/>
            <a:endParaRPr lang="en-US" smtClean="0"/>
          </a:p>
        </p:txBody>
      </p:sp>
    </p:spTree>
    <p:extLst>
      <p:ext uri="{BB962C8B-B14F-4D97-AF65-F5344CB8AC3E}">
        <p14:creationId xmlns:p14="http://schemas.microsoft.com/office/powerpoint/2010/main" val="3569168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xfrm>
            <a:off x="592138" y="606425"/>
            <a:ext cx="5619750" cy="4214813"/>
          </a:xfrm>
          <a:ln/>
        </p:spPr>
      </p:sp>
      <p:sp>
        <p:nvSpPr>
          <p:cNvPr id="47107" name="Rectangle 3"/>
          <p:cNvSpPr>
            <a:spLocks noGrp="1" noChangeArrowheads="1"/>
          </p:cNvSpPr>
          <p:nvPr>
            <p:ph type="body" idx="1"/>
          </p:nvPr>
        </p:nvSpPr>
        <p:spPr>
          <a:xfrm>
            <a:off x="220663" y="4238625"/>
            <a:ext cx="6265862" cy="5299075"/>
          </a:xfrm>
          <a:prstGeom prst="rect">
            <a:avLst/>
          </a:prstGeom>
          <a:noFill/>
          <a:ln/>
        </p:spPr>
        <p:txBody>
          <a:bodyPr/>
          <a:lstStyle/>
          <a:p>
            <a:pPr eaLnBrk="1" hangingPunct="1"/>
            <a:endParaRPr lang="en-US" smtClean="0"/>
          </a:p>
        </p:txBody>
      </p:sp>
    </p:spTree>
    <p:extLst>
      <p:ext uri="{BB962C8B-B14F-4D97-AF65-F5344CB8AC3E}">
        <p14:creationId xmlns:p14="http://schemas.microsoft.com/office/powerpoint/2010/main" val="2556256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EA98EFBB-A8F7-4077-92BC-EF6D6E706A51}" type="slidenum">
              <a:rPr lang="fr-FR" altLang="fr-FR"/>
              <a:pPr/>
              <a:t>3</a:t>
            </a:fld>
            <a:endParaRPr lang="fr-FR" altLang="fr-FR"/>
          </a:p>
        </p:txBody>
      </p:sp>
      <p:sp>
        <p:nvSpPr>
          <p:cNvPr id="139266" name="Rectangle 2"/>
          <p:cNvSpPr>
            <a:spLocks noChangeArrowheads="1" noTextEdit="1"/>
          </p:cNvSpPr>
          <p:nvPr>
            <p:ph type="sldImg"/>
          </p:nvPr>
        </p:nvSpPr>
        <p:spPr>
          <a:ln/>
        </p:spPr>
      </p:sp>
      <p:sp>
        <p:nvSpPr>
          <p:cNvPr id="139267" name="Rectangle 3"/>
          <p:cNvSpPr>
            <a:spLocks noGrp="1" noChangeArrowheads="1"/>
          </p:cNvSpPr>
          <p:nvPr>
            <p:ph type="body" idx="1"/>
          </p:nvPr>
        </p:nvSpPr>
        <p:spPr>
          <a:xfrm>
            <a:off x="914400" y="4343400"/>
            <a:ext cx="5029200" cy="4114800"/>
          </a:xfrm>
          <a:prstGeom prst="rect">
            <a:avLst/>
          </a:prstGeom>
        </p:spPr>
        <p:txBody>
          <a:bodyPr/>
          <a:lstStyle/>
          <a:p>
            <a:r>
              <a:rPr lang="fr-FR" altLang="fr-FR"/>
              <a:t>Note the actor’s name is shown, not the class of which it is an instance, hence no “:”. Note also that Together does not support full-stick arrowhead for unspecified, hence I have used asynchronous.</a:t>
            </a:r>
          </a:p>
          <a:p>
            <a:endParaRPr lang="fr-FR" altLang="fr-FR"/>
          </a:p>
        </p:txBody>
      </p:sp>
    </p:spTree>
    <p:extLst>
      <p:ext uri="{BB962C8B-B14F-4D97-AF65-F5344CB8AC3E}">
        <p14:creationId xmlns:p14="http://schemas.microsoft.com/office/powerpoint/2010/main" val="16183578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A2F3529C-52FC-4D24-BBDE-FB65A525E20A}" type="slidenum">
              <a:rPr lang="fr-FR" altLang="fr-FR"/>
              <a:pPr/>
              <a:t>4</a:t>
            </a:fld>
            <a:endParaRPr lang="fr-FR" altLang="fr-FR"/>
          </a:p>
        </p:txBody>
      </p:sp>
      <p:sp>
        <p:nvSpPr>
          <p:cNvPr id="140290" name="Rectangle 2"/>
          <p:cNvSpPr>
            <a:spLocks noChangeArrowheads="1" noTextEdit="1"/>
          </p:cNvSpPr>
          <p:nvPr>
            <p:ph type="sldImg"/>
          </p:nvPr>
        </p:nvSpPr>
        <p:spPr>
          <a:ln/>
        </p:spPr>
      </p:sp>
      <p:sp>
        <p:nvSpPr>
          <p:cNvPr id="140291"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3300159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E0FF9599-9B10-46E0-82DB-E1AC52651556}" type="slidenum">
              <a:rPr lang="fr-FR" altLang="fr-FR"/>
              <a:pPr/>
              <a:t>5</a:t>
            </a:fld>
            <a:endParaRPr lang="fr-FR" altLang="fr-FR"/>
          </a:p>
        </p:txBody>
      </p:sp>
      <p:sp>
        <p:nvSpPr>
          <p:cNvPr id="142338" name="Rectangle 2"/>
          <p:cNvSpPr>
            <a:spLocks noChangeArrowheads="1" noTextEdit="1"/>
          </p:cNvSpPr>
          <p:nvPr>
            <p:ph type="sldImg"/>
          </p:nvPr>
        </p:nvSpPr>
        <p:spPr>
          <a:xfrm>
            <a:off x="592138" y="606425"/>
            <a:ext cx="5619750" cy="4214813"/>
          </a:xfrm>
          <a:ln/>
        </p:spPr>
      </p:sp>
      <p:sp>
        <p:nvSpPr>
          <p:cNvPr id="142339" name="Rectangle 3"/>
          <p:cNvSpPr>
            <a:spLocks noGrp="1" noChangeArrowheads="1"/>
          </p:cNvSpPr>
          <p:nvPr>
            <p:ph type="body" idx="1"/>
          </p:nvPr>
        </p:nvSpPr>
        <p:spPr>
          <a:xfrm>
            <a:off x="914400" y="4343400"/>
            <a:ext cx="5029200" cy="4114800"/>
          </a:xfrm>
          <a:prstGeom prst="rect">
            <a:avLst/>
          </a:prstGeom>
        </p:spPr>
        <p:txBody>
          <a:bodyPr/>
          <a:lstStyle/>
          <a:p>
            <a:r>
              <a:rPr lang="fr-FR" altLang="fr-FR"/>
              <a:t>Isomorphic translates into ‘same form’ while Polymorphic is ‘many forms’.</a:t>
            </a:r>
          </a:p>
          <a:p>
            <a:endParaRPr lang="fr-FR" altLang="fr-FR"/>
          </a:p>
        </p:txBody>
      </p:sp>
    </p:spTree>
    <p:extLst>
      <p:ext uri="{BB962C8B-B14F-4D97-AF65-F5344CB8AC3E}">
        <p14:creationId xmlns:p14="http://schemas.microsoft.com/office/powerpoint/2010/main" val="4280608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1BA7DBCD-1605-4647-8914-1D14BD3C77FE}" type="slidenum">
              <a:rPr lang="fr-FR" altLang="fr-FR"/>
              <a:pPr/>
              <a:t>6</a:t>
            </a:fld>
            <a:endParaRPr lang="fr-FR" altLang="fr-FR"/>
          </a:p>
        </p:txBody>
      </p:sp>
      <p:sp>
        <p:nvSpPr>
          <p:cNvPr id="143362" name="Rectangle 2"/>
          <p:cNvSpPr>
            <a:spLocks noChangeArrowheads="1" noTextEdit="1"/>
          </p:cNvSpPr>
          <p:nvPr>
            <p:ph type="sldImg"/>
          </p:nvPr>
        </p:nvSpPr>
        <p:spPr>
          <a:xfrm>
            <a:off x="592138" y="606425"/>
            <a:ext cx="5619750" cy="4214813"/>
          </a:xfrm>
          <a:ln/>
        </p:spPr>
      </p:sp>
      <p:sp>
        <p:nvSpPr>
          <p:cNvPr id="143363"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35136728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AF554E59-E3F9-4E47-BB95-0F6A06F6344E}" type="slidenum">
              <a:rPr lang="fr-FR" altLang="fr-FR"/>
              <a:pPr/>
              <a:t>7</a:t>
            </a:fld>
            <a:endParaRPr lang="fr-FR" altLang="fr-FR"/>
          </a:p>
        </p:txBody>
      </p:sp>
      <p:sp>
        <p:nvSpPr>
          <p:cNvPr id="146434" name="Rectangle 2"/>
          <p:cNvSpPr>
            <a:spLocks noChangeArrowheads="1" noTextEdit="1"/>
          </p:cNvSpPr>
          <p:nvPr>
            <p:ph type="sldImg"/>
          </p:nvPr>
        </p:nvSpPr>
        <p:spPr>
          <a:xfrm>
            <a:off x="592138" y="606425"/>
            <a:ext cx="5619750" cy="4214813"/>
          </a:xfrm>
          <a:ln/>
        </p:spPr>
      </p:sp>
      <p:sp>
        <p:nvSpPr>
          <p:cNvPr id="146435" name="Rectangle 3"/>
          <p:cNvSpPr>
            <a:spLocks noGrp="1" noChangeArrowheads="1"/>
          </p:cNvSpPr>
          <p:nvPr>
            <p:ph type="body" idx="1"/>
          </p:nvPr>
        </p:nvSpPr>
        <p:spPr>
          <a:xfrm>
            <a:off x="914400" y="4343400"/>
            <a:ext cx="5029200" cy="4114800"/>
          </a:xfrm>
          <a:prstGeom prst="rect">
            <a:avLst/>
          </a:prstGeom>
        </p:spPr>
        <p:txBody>
          <a:bodyPr/>
          <a:lstStyle/>
          <a:p>
            <a:r>
              <a:rPr lang="fr-FR" altLang="fr-FR"/>
              <a:t>A lot of pages from now on come in pairs and can be put up simultaneously. Remember your attendees are also visual and/or verbal. The first provides a textual explanation of the feature and the second a diagram example.</a:t>
            </a:r>
          </a:p>
          <a:p>
            <a:r>
              <a:rPr lang="fr-FR" altLang="fr-FR"/>
              <a:t>The vertical axis of time starts at the beginning of the interaction and finishes at the end of the interaction.</a:t>
            </a:r>
          </a:p>
          <a:p>
            <a:endParaRPr lang="fr-FR" altLang="fr-FR"/>
          </a:p>
        </p:txBody>
      </p:sp>
    </p:spTree>
    <p:extLst>
      <p:ext uri="{BB962C8B-B14F-4D97-AF65-F5344CB8AC3E}">
        <p14:creationId xmlns:p14="http://schemas.microsoft.com/office/powerpoint/2010/main" val="218541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D9102A22-F3AF-4FA1-B187-685D586D5D79}" type="slidenum">
              <a:rPr lang="fr-FR" altLang="fr-FR"/>
              <a:pPr/>
              <a:t>8</a:t>
            </a:fld>
            <a:endParaRPr lang="fr-FR" altLang="fr-FR"/>
          </a:p>
        </p:txBody>
      </p:sp>
      <p:sp>
        <p:nvSpPr>
          <p:cNvPr id="147458" name="Rectangle 2"/>
          <p:cNvSpPr>
            <a:spLocks noChangeArrowheads="1" noTextEdit="1"/>
          </p:cNvSpPr>
          <p:nvPr>
            <p:ph type="sldImg"/>
          </p:nvPr>
        </p:nvSpPr>
        <p:spPr>
          <a:ln/>
        </p:spPr>
      </p:sp>
      <p:sp>
        <p:nvSpPr>
          <p:cNvPr id="147459"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31115329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40378EEE-4D72-49B8-ABC8-7654A681ECD9}" type="slidenum">
              <a:rPr lang="fr-FR" altLang="fr-FR"/>
              <a:pPr/>
              <a:t>9</a:t>
            </a:fld>
            <a:endParaRPr lang="fr-FR" altLang="fr-FR"/>
          </a:p>
        </p:txBody>
      </p:sp>
      <p:sp>
        <p:nvSpPr>
          <p:cNvPr id="148482" name="Rectangle 2"/>
          <p:cNvSpPr>
            <a:spLocks noChangeArrowheads="1" noTextEdit="1"/>
          </p:cNvSpPr>
          <p:nvPr>
            <p:ph type="sldImg"/>
          </p:nvPr>
        </p:nvSpPr>
        <p:spPr>
          <a:ln/>
        </p:spPr>
      </p:sp>
      <p:sp>
        <p:nvSpPr>
          <p:cNvPr id="148483" name="Rectangle 3"/>
          <p:cNvSpPr>
            <a:spLocks noGrp="1" noChangeArrowheads="1"/>
          </p:cNvSpPr>
          <p:nvPr>
            <p:ph type="body" idx="1"/>
          </p:nvPr>
        </p:nvSpPr>
        <p:spPr>
          <a:xfrm>
            <a:off x="914400" y="4343400"/>
            <a:ext cx="5029200" cy="4114800"/>
          </a:xfrm>
          <a:prstGeom prst="rect">
            <a:avLst/>
          </a:prstGeom>
        </p:spPr>
        <p:txBody>
          <a:bodyPr/>
          <a:lstStyle/>
          <a:p>
            <a:r>
              <a:rPr lang="fr-FR" altLang="fr-FR"/>
              <a:t>Ask attendees – A Link is an instance of?  An object is an instance of? As a lead into A stimulus is an instance of a message.</a:t>
            </a:r>
          </a:p>
          <a:p>
            <a:endParaRPr lang="fr-FR" altLang="fr-FR"/>
          </a:p>
        </p:txBody>
      </p:sp>
    </p:spTree>
    <p:extLst>
      <p:ext uri="{BB962C8B-B14F-4D97-AF65-F5344CB8AC3E}">
        <p14:creationId xmlns:p14="http://schemas.microsoft.com/office/powerpoint/2010/main" val="15362047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E8534B99-8650-44D2-8693-E706307EFBF8}" type="slidenum">
              <a:rPr lang="fr-FR" altLang="fr-FR"/>
              <a:pPr/>
              <a:t>10</a:t>
            </a:fld>
            <a:endParaRPr lang="fr-FR" altLang="fr-FR"/>
          </a:p>
        </p:txBody>
      </p:sp>
      <p:sp>
        <p:nvSpPr>
          <p:cNvPr id="149506" name="Rectangle 2"/>
          <p:cNvSpPr>
            <a:spLocks noChangeArrowheads="1" noTextEdit="1"/>
          </p:cNvSpPr>
          <p:nvPr>
            <p:ph type="sldImg"/>
          </p:nvPr>
        </p:nvSpPr>
        <p:spPr>
          <a:ln/>
        </p:spPr>
      </p:sp>
      <p:sp>
        <p:nvSpPr>
          <p:cNvPr id="149507" name="Rectangle 3"/>
          <p:cNvSpPr>
            <a:spLocks noGrp="1" noChangeArrowheads="1"/>
          </p:cNvSpPr>
          <p:nvPr>
            <p:ph type="body" idx="1"/>
          </p:nvPr>
        </p:nvSpPr>
        <p:spPr>
          <a:xfrm>
            <a:off x="914400" y="4343400"/>
            <a:ext cx="5029200" cy="4114800"/>
          </a:xfrm>
          <a:prstGeom prst="rect">
            <a:avLst/>
          </a:prstGeom>
        </p:spPr>
        <p:txBody>
          <a:bodyPr/>
          <a:lstStyle/>
          <a:p>
            <a:r>
              <a:rPr lang="fr-FR" altLang="fr-FR"/>
              <a:t>In Together, set the object’s “Concurrent” property (not the “Active” property) to make it appear active. (The “active” property applies to collaboration diagrams.)</a:t>
            </a:r>
          </a:p>
          <a:p>
            <a:endParaRPr lang="fr-FR" altLang="fr-FR"/>
          </a:p>
        </p:txBody>
      </p:sp>
    </p:spTree>
    <p:extLst>
      <p:ext uri="{BB962C8B-B14F-4D97-AF65-F5344CB8AC3E}">
        <p14:creationId xmlns:p14="http://schemas.microsoft.com/office/powerpoint/2010/main" val="37630702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BBB398B4-87DB-4713-B6AE-9F6229451130}" type="slidenum">
              <a:rPr lang="fr-FR" altLang="fr-FR"/>
              <a:pPr/>
              <a:t>11</a:t>
            </a:fld>
            <a:endParaRPr lang="fr-FR" altLang="fr-FR"/>
          </a:p>
        </p:txBody>
      </p:sp>
      <p:sp>
        <p:nvSpPr>
          <p:cNvPr id="150530" name="Rectangle 2"/>
          <p:cNvSpPr>
            <a:spLocks noChangeArrowheads="1" noTextEdit="1"/>
          </p:cNvSpPr>
          <p:nvPr>
            <p:ph type="sldImg"/>
          </p:nvPr>
        </p:nvSpPr>
        <p:spPr>
          <a:xfrm>
            <a:off x="592138" y="606425"/>
            <a:ext cx="5619750" cy="4214813"/>
          </a:xfrm>
          <a:ln/>
        </p:spPr>
      </p:sp>
      <p:sp>
        <p:nvSpPr>
          <p:cNvPr id="150531"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21354981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5FFD4A52-8E8E-4543-9D11-720163D88BCB}" type="slidenum">
              <a:rPr lang="fr-FR" altLang="fr-FR"/>
              <a:pPr/>
              <a:t>12</a:t>
            </a:fld>
            <a:endParaRPr lang="fr-FR" altLang="fr-FR"/>
          </a:p>
        </p:txBody>
      </p:sp>
      <p:sp>
        <p:nvSpPr>
          <p:cNvPr id="151554" name="Rectangle 2"/>
          <p:cNvSpPr>
            <a:spLocks noChangeArrowheads="1" noTextEdit="1"/>
          </p:cNvSpPr>
          <p:nvPr>
            <p:ph type="sldImg"/>
          </p:nvPr>
        </p:nvSpPr>
        <p:spPr>
          <a:ln/>
        </p:spPr>
      </p:sp>
      <p:sp>
        <p:nvSpPr>
          <p:cNvPr id="151555" name="Rectangle 3"/>
          <p:cNvSpPr>
            <a:spLocks noGrp="1" noChangeArrowheads="1"/>
          </p:cNvSpPr>
          <p:nvPr>
            <p:ph type="body" idx="1"/>
          </p:nvPr>
        </p:nvSpPr>
        <p:spPr>
          <a:xfrm>
            <a:off x="914400" y="4343400"/>
            <a:ext cx="5029200" cy="4114800"/>
          </a:xfrm>
          <a:prstGeom prst="rect">
            <a:avLst/>
          </a:prstGeom>
        </p:spPr>
        <p:txBody>
          <a:bodyPr/>
          <a:lstStyle/>
          <a:p>
            <a:r>
              <a:rPr lang="fr-FR" altLang="fr-FR"/>
              <a:t>withdrawal accepted() and withdraw(amount) are happening concurrently, the diagram shows no precedence for one before the other.</a:t>
            </a:r>
          </a:p>
          <a:p>
            <a:endParaRPr lang="fr-FR" altLang="fr-FR"/>
          </a:p>
        </p:txBody>
      </p:sp>
    </p:spTree>
    <p:extLst>
      <p:ext uri="{BB962C8B-B14F-4D97-AF65-F5344CB8AC3E}">
        <p14:creationId xmlns:p14="http://schemas.microsoft.com/office/powerpoint/2010/main" val="8389451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D83FDB3A-103E-48E1-83BC-CB5D816E11C9}" type="slidenum">
              <a:rPr lang="fr-FR" altLang="fr-FR"/>
              <a:pPr/>
              <a:t>13</a:t>
            </a:fld>
            <a:endParaRPr lang="fr-FR" altLang="fr-FR"/>
          </a:p>
        </p:txBody>
      </p:sp>
      <p:sp>
        <p:nvSpPr>
          <p:cNvPr id="153602" name="Rectangle 2"/>
          <p:cNvSpPr>
            <a:spLocks noChangeArrowheads="1" noTextEdit="1"/>
          </p:cNvSpPr>
          <p:nvPr>
            <p:ph type="sldImg"/>
          </p:nvPr>
        </p:nvSpPr>
        <p:spPr>
          <a:ln/>
        </p:spPr>
      </p:sp>
      <p:sp>
        <p:nvSpPr>
          <p:cNvPr id="153603"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39659320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4B41DB09-C1A9-4F98-8228-0DA613C2EBE5}" type="slidenum">
              <a:rPr lang="fr-FR" altLang="fr-FR"/>
              <a:pPr/>
              <a:t>14</a:t>
            </a:fld>
            <a:endParaRPr lang="fr-FR" altLang="fr-FR"/>
          </a:p>
        </p:txBody>
      </p:sp>
      <p:sp>
        <p:nvSpPr>
          <p:cNvPr id="154626" name="Rectangle 2"/>
          <p:cNvSpPr>
            <a:spLocks noChangeArrowheads="1" noTextEdit="1"/>
          </p:cNvSpPr>
          <p:nvPr>
            <p:ph type="sldImg"/>
          </p:nvPr>
        </p:nvSpPr>
        <p:spPr>
          <a:xfrm>
            <a:off x="592138" y="606425"/>
            <a:ext cx="5619750" cy="4214813"/>
          </a:xfrm>
          <a:ln/>
        </p:spPr>
      </p:sp>
      <p:sp>
        <p:nvSpPr>
          <p:cNvPr id="154627"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18996405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3E6F3F7B-4D75-4C9E-95AC-C5C88466D4FB}" type="slidenum">
              <a:rPr lang="fr-FR" altLang="fr-FR"/>
              <a:pPr/>
              <a:t>15</a:t>
            </a:fld>
            <a:endParaRPr lang="fr-FR" altLang="fr-FR"/>
          </a:p>
        </p:txBody>
      </p:sp>
      <p:sp>
        <p:nvSpPr>
          <p:cNvPr id="155650" name="Rectangle 2"/>
          <p:cNvSpPr>
            <a:spLocks noChangeArrowheads="1" noTextEdit="1"/>
          </p:cNvSpPr>
          <p:nvPr>
            <p:ph type="sldImg"/>
          </p:nvPr>
        </p:nvSpPr>
        <p:spPr>
          <a:ln/>
        </p:spPr>
      </p:sp>
      <p:sp>
        <p:nvSpPr>
          <p:cNvPr id="155651"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15629926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17D64DDB-5B2C-4CAE-983D-42504356BCB7}" type="slidenum">
              <a:rPr lang="fr-FR" altLang="fr-FR"/>
              <a:pPr/>
              <a:t>16</a:t>
            </a:fld>
            <a:endParaRPr lang="fr-FR" altLang="fr-FR"/>
          </a:p>
        </p:txBody>
      </p:sp>
      <p:sp>
        <p:nvSpPr>
          <p:cNvPr id="156674" name="Rectangle 2"/>
          <p:cNvSpPr>
            <a:spLocks noChangeArrowheads="1" noTextEdit="1"/>
          </p:cNvSpPr>
          <p:nvPr>
            <p:ph type="sldImg"/>
          </p:nvPr>
        </p:nvSpPr>
        <p:spPr>
          <a:ln/>
        </p:spPr>
      </p:sp>
      <p:sp>
        <p:nvSpPr>
          <p:cNvPr id="156675"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37090995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DB65591A-EE0F-48BF-8C08-2DB31927A4B4}" type="slidenum">
              <a:rPr lang="fr-FR" altLang="fr-FR"/>
              <a:pPr/>
              <a:t>17</a:t>
            </a:fld>
            <a:endParaRPr lang="fr-FR" altLang="fr-FR"/>
          </a:p>
        </p:txBody>
      </p:sp>
      <p:sp>
        <p:nvSpPr>
          <p:cNvPr id="157698" name="Rectangle 2"/>
          <p:cNvSpPr>
            <a:spLocks noChangeArrowheads="1" noTextEdit="1"/>
          </p:cNvSpPr>
          <p:nvPr>
            <p:ph type="sldImg"/>
          </p:nvPr>
        </p:nvSpPr>
        <p:spPr>
          <a:ln/>
        </p:spPr>
      </p:sp>
      <p:sp>
        <p:nvSpPr>
          <p:cNvPr id="157699"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19264968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603B95BC-E839-487B-B330-67EB03C87DEB}" type="slidenum">
              <a:rPr lang="fr-FR" altLang="fr-FR"/>
              <a:pPr/>
              <a:t>18</a:t>
            </a:fld>
            <a:endParaRPr lang="fr-FR" altLang="fr-FR"/>
          </a:p>
        </p:txBody>
      </p:sp>
      <p:sp>
        <p:nvSpPr>
          <p:cNvPr id="158722" name="Rectangle 2"/>
          <p:cNvSpPr>
            <a:spLocks noChangeArrowheads="1" noTextEdit="1"/>
          </p:cNvSpPr>
          <p:nvPr>
            <p:ph type="sldImg"/>
          </p:nvPr>
        </p:nvSpPr>
        <p:spPr>
          <a:ln/>
        </p:spPr>
      </p:sp>
      <p:sp>
        <p:nvSpPr>
          <p:cNvPr id="158723"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3674796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03A4D29D-4164-439D-A988-E83026D81F0F}" type="slidenum">
              <a:rPr lang="fr-FR" altLang="fr-FR"/>
              <a:pPr/>
              <a:t>19</a:t>
            </a:fld>
            <a:endParaRPr lang="fr-FR" altLang="fr-FR"/>
          </a:p>
        </p:txBody>
      </p:sp>
      <p:sp>
        <p:nvSpPr>
          <p:cNvPr id="159746" name="Rectangle 2"/>
          <p:cNvSpPr>
            <a:spLocks noChangeArrowheads="1" noTextEdit="1"/>
          </p:cNvSpPr>
          <p:nvPr>
            <p:ph type="sldImg"/>
          </p:nvPr>
        </p:nvSpPr>
        <p:spPr>
          <a:ln/>
        </p:spPr>
      </p:sp>
      <p:sp>
        <p:nvSpPr>
          <p:cNvPr id="159747"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16166049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6C2769D3-D3A0-4662-A2C9-2CB00F3C40D2}" type="slidenum">
              <a:rPr lang="fr-FR" altLang="fr-FR"/>
              <a:pPr/>
              <a:t>22</a:t>
            </a:fld>
            <a:endParaRPr lang="fr-FR" altLang="fr-FR"/>
          </a:p>
        </p:txBody>
      </p:sp>
      <p:sp>
        <p:nvSpPr>
          <p:cNvPr id="161794" name="Rectangle 2"/>
          <p:cNvSpPr>
            <a:spLocks noChangeArrowheads="1" noTextEdit="1"/>
          </p:cNvSpPr>
          <p:nvPr>
            <p:ph type="sldImg"/>
          </p:nvPr>
        </p:nvSpPr>
        <p:spPr>
          <a:ln/>
        </p:spPr>
      </p:sp>
      <p:sp>
        <p:nvSpPr>
          <p:cNvPr id="161795"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11692341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A4B0BA8E-A66F-4283-89D3-70E276DA6529}" type="slidenum">
              <a:rPr lang="fr-FR" altLang="fr-FR"/>
              <a:pPr/>
              <a:t>23</a:t>
            </a:fld>
            <a:endParaRPr lang="fr-FR" altLang="fr-FR"/>
          </a:p>
        </p:txBody>
      </p:sp>
      <p:sp>
        <p:nvSpPr>
          <p:cNvPr id="162818" name="Rectangle 2"/>
          <p:cNvSpPr>
            <a:spLocks noChangeArrowheads="1" noTextEdit="1"/>
          </p:cNvSpPr>
          <p:nvPr>
            <p:ph type="sldImg"/>
          </p:nvPr>
        </p:nvSpPr>
        <p:spPr>
          <a:ln/>
        </p:spPr>
      </p:sp>
      <p:sp>
        <p:nvSpPr>
          <p:cNvPr id="162819"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29186856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AAAC447F-57CA-467B-ACEA-AFEA13ACF0D4}" type="slidenum">
              <a:rPr lang="fr-FR" altLang="fr-FR"/>
              <a:pPr/>
              <a:t>24</a:t>
            </a:fld>
            <a:endParaRPr lang="fr-FR" altLang="fr-FR"/>
          </a:p>
        </p:txBody>
      </p:sp>
      <p:sp>
        <p:nvSpPr>
          <p:cNvPr id="163842" name="Rectangle 2"/>
          <p:cNvSpPr>
            <a:spLocks noChangeArrowheads="1" noTextEdit="1"/>
          </p:cNvSpPr>
          <p:nvPr>
            <p:ph type="sldImg"/>
          </p:nvPr>
        </p:nvSpPr>
        <p:spPr>
          <a:ln/>
        </p:spPr>
      </p:sp>
      <p:sp>
        <p:nvSpPr>
          <p:cNvPr id="163843"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14174144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0C407122-9155-43E1-AEF6-2AEB1F7BD06A}" type="slidenum">
              <a:rPr lang="fr-FR" altLang="fr-FR"/>
              <a:pPr/>
              <a:t>25</a:t>
            </a:fld>
            <a:endParaRPr lang="fr-FR" altLang="fr-FR"/>
          </a:p>
        </p:txBody>
      </p:sp>
      <p:sp>
        <p:nvSpPr>
          <p:cNvPr id="164866" name="Rectangle 2"/>
          <p:cNvSpPr>
            <a:spLocks noChangeArrowheads="1" noTextEdit="1"/>
          </p:cNvSpPr>
          <p:nvPr>
            <p:ph type="sldImg"/>
          </p:nvPr>
        </p:nvSpPr>
        <p:spPr>
          <a:ln/>
        </p:spPr>
      </p:sp>
      <p:sp>
        <p:nvSpPr>
          <p:cNvPr id="164867"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24541952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9035F202-23D9-4414-B85C-10A57F2B859E}" type="slidenum">
              <a:rPr lang="fr-FR" altLang="fr-FR"/>
              <a:pPr/>
              <a:t>26</a:t>
            </a:fld>
            <a:endParaRPr lang="fr-FR" altLang="fr-FR"/>
          </a:p>
        </p:txBody>
      </p:sp>
      <p:sp>
        <p:nvSpPr>
          <p:cNvPr id="165890" name="Rectangle 2"/>
          <p:cNvSpPr>
            <a:spLocks noChangeArrowheads="1" noTextEdit="1"/>
          </p:cNvSpPr>
          <p:nvPr>
            <p:ph type="sldImg"/>
          </p:nvPr>
        </p:nvSpPr>
        <p:spPr>
          <a:ln/>
        </p:spPr>
      </p:sp>
      <p:sp>
        <p:nvSpPr>
          <p:cNvPr id="165891" name="Rectangle 3"/>
          <p:cNvSpPr>
            <a:spLocks noGrp="1" noChangeArrowheads="1"/>
          </p:cNvSpPr>
          <p:nvPr>
            <p:ph type="body" idx="1"/>
          </p:nvPr>
        </p:nvSpPr>
        <p:spPr>
          <a:xfrm>
            <a:off x="914400" y="4343400"/>
            <a:ext cx="5029200" cy="4114800"/>
          </a:xfrm>
          <a:prstGeom prst="rect">
            <a:avLst/>
          </a:prstGeom>
        </p:spPr>
        <p:txBody>
          <a:bodyPr/>
          <a:lstStyle/>
          <a:p>
            <a:r>
              <a:rPr lang="fr-FR" altLang="fr-FR"/>
              <a:t>In UML 1.3, the lifeline of teller should not be a solid line on the top side of the second activation box, but I guess Together treats a merge as a “return from branch” and so only dashes the merge, not the branch.</a:t>
            </a:r>
          </a:p>
          <a:p>
            <a:endParaRPr lang="fr-FR" altLang="fr-FR"/>
          </a:p>
        </p:txBody>
      </p:sp>
    </p:spTree>
    <p:extLst>
      <p:ext uri="{BB962C8B-B14F-4D97-AF65-F5344CB8AC3E}">
        <p14:creationId xmlns:p14="http://schemas.microsoft.com/office/powerpoint/2010/main" val="29190722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98373A32-6A0A-4D6C-8031-5FF9A5DEF3DE}" type="slidenum">
              <a:rPr lang="fr-FR" altLang="fr-FR"/>
              <a:pPr/>
              <a:t>27</a:t>
            </a:fld>
            <a:endParaRPr lang="fr-FR" altLang="fr-FR"/>
          </a:p>
        </p:txBody>
      </p:sp>
      <p:sp>
        <p:nvSpPr>
          <p:cNvPr id="166914" name="Rectangle 2"/>
          <p:cNvSpPr>
            <a:spLocks noChangeArrowheads="1" noTextEdit="1"/>
          </p:cNvSpPr>
          <p:nvPr>
            <p:ph type="sldImg"/>
          </p:nvPr>
        </p:nvSpPr>
        <p:spPr>
          <a:ln/>
        </p:spPr>
      </p:sp>
      <p:sp>
        <p:nvSpPr>
          <p:cNvPr id="166915" name="Rectangle 3"/>
          <p:cNvSpPr>
            <a:spLocks noGrp="1" noChangeArrowheads="1"/>
          </p:cNvSpPr>
          <p:nvPr>
            <p:ph type="body" idx="1"/>
          </p:nvPr>
        </p:nvSpPr>
        <p:spPr>
          <a:xfrm>
            <a:off x="914400" y="4343400"/>
            <a:ext cx="5029200" cy="4114800"/>
          </a:xfrm>
          <a:prstGeom prst="rect">
            <a:avLst/>
          </a:prstGeom>
        </p:spPr>
        <p:txBody>
          <a:bodyPr/>
          <a:lstStyle/>
          <a:p>
            <a:r>
              <a:rPr lang="fr-FR" altLang="fr-FR"/>
              <a:t>Rumbaugh’s Event Traces and Jacobson’s Object Interaction Diagrams (precursors to the sequence diagram) did not have conditional branching and you had to use two diagrams. </a:t>
            </a:r>
          </a:p>
          <a:p>
            <a:r>
              <a:rPr lang="fr-FR" altLang="fr-FR"/>
              <a:t> </a:t>
            </a:r>
          </a:p>
          <a:p>
            <a:r>
              <a:rPr lang="fr-FR" altLang="fr-FR"/>
              <a:t>The movie “Sliding Doors” told two parallel stories about a lady who was fired and on the way home in the first story she missed her subway train by 1 second as the doors closed in front of her nose. She then takes a taxi home to her boy friend. In the second story she gets on the subway just before the doors close and gets home 5 minutes earlier and find her boyfriend in bed with another women. The two stories go on from there with interesting endings. Conditional Branching is rather like this, two parallel message sequences on one diagram.  The students – even though most of them had not seen this movie – really liked the analogy.</a:t>
            </a:r>
          </a:p>
          <a:p>
            <a:r>
              <a:rPr lang="fr-FR" altLang="fr-FR"/>
              <a:t> </a:t>
            </a:r>
          </a:p>
          <a:p>
            <a:r>
              <a:rPr lang="fr-FR" altLang="fr-FR"/>
              <a:t>You might like to add to the syntax definition, “provided there is no predecessor nor sequence expression included.”</a:t>
            </a:r>
          </a:p>
          <a:p>
            <a:endParaRPr lang="fr-FR" altLang="fr-FR"/>
          </a:p>
        </p:txBody>
      </p:sp>
    </p:spTree>
    <p:extLst>
      <p:ext uri="{BB962C8B-B14F-4D97-AF65-F5344CB8AC3E}">
        <p14:creationId xmlns:p14="http://schemas.microsoft.com/office/powerpoint/2010/main" val="41898977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114E4DB2-36E3-4EB5-935C-3A646167B99D}" type="slidenum">
              <a:rPr lang="fr-FR" altLang="fr-FR"/>
              <a:pPr/>
              <a:t>28</a:t>
            </a:fld>
            <a:endParaRPr lang="fr-FR" altLang="fr-FR"/>
          </a:p>
        </p:txBody>
      </p:sp>
      <p:sp>
        <p:nvSpPr>
          <p:cNvPr id="167938" name="Rectangle 2"/>
          <p:cNvSpPr>
            <a:spLocks noChangeArrowheads="1" noTextEdit="1"/>
          </p:cNvSpPr>
          <p:nvPr>
            <p:ph type="sldImg"/>
          </p:nvPr>
        </p:nvSpPr>
        <p:spPr>
          <a:ln/>
        </p:spPr>
      </p:sp>
      <p:sp>
        <p:nvSpPr>
          <p:cNvPr id="167939"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28525816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22FBB89F-DA7A-49C0-88A5-0F73DD7A3020}" type="slidenum">
              <a:rPr lang="fr-FR" altLang="fr-FR"/>
              <a:pPr/>
              <a:t>29</a:t>
            </a:fld>
            <a:endParaRPr lang="fr-FR" altLang="fr-FR"/>
          </a:p>
        </p:txBody>
      </p:sp>
      <p:sp>
        <p:nvSpPr>
          <p:cNvPr id="168962" name="Rectangle 2"/>
          <p:cNvSpPr>
            <a:spLocks noChangeArrowheads="1" noTextEdit="1"/>
          </p:cNvSpPr>
          <p:nvPr>
            <p:ph type="sldImg"/>
          </p:nvPr>
        </p:nvSpPr>
        <p:spPr>
          <a:ln/>
        </p:spPr>
      </p:sp>
      <p:sp>
        <p:nvSpPr>
          <p:cNvPr id="168963"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7930087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13B30AEC-9717-4957-9185-3069DA95BB44}" type="slidenum">
              <a:rPr lang="fr-FR" altLang="fr-FR"/>
              <a:pPr/>
              <a:t>30</a:t>
            </a:fld>
            <a:endParaRPr lang="fr-FR" altLang="fr-FR"/>
          </a:p>
        </p:txBody>
      </p:sp>
      <p:sp>
        <p:nvSpPr>
          <p:cNvPr id="169986" name="Rectangle 2"/>
          <p:cNvSpPr>
            <a:spLocks noChangeArrowheads="1" noTextEdit="1"/>
          </p:cNvSpPr>
          <p:nvPr>
            <p:ph type="sldImg"/>
          </p:nvPr>
        </p:nvSpPr>
        <p:spPr>
          <a:ln/>
        </p:spPr>
      </p:sp>
      <p:sp>
        <p:nvSpPr>
          <p:cNvPr id="169987" name="Rectangle 3"/>
          <p:cNvSpPr>
            <a:spLocks noGrp="1" noChangeArrowheads="1"/>
          </p:cNvSpPr>
          <p:nvPr>
            <p:ph type="body" idx="1"/>
          </p:nvPr>
        </p:nvSpPr>
        <p:spPr>
          <a:xfrm>
            <a:off x="914400" y="4343400"/>
            <a:ext cx="5029200" cy="4114800"/>
          </a:xfrm>
          <a:prstGeom prst="rect">
            <a:avLst/>
          </a:prstGeom>
        </p:spPr>
        <p:txBody>
          <a:bodyPr/>
          <a:lstStyle/>
          <a:p>
            <a:r>
              <a:rPr lang="fr-FR" altLang="fr-FR"/>
              <a:t>Transaction should, strictly speaking, be a role, and therefore not underlined. Together does not support this. In any case, I removed the discussion of object roles as it seemed to add very little.</a:t>
            </a:r>
          </a:p>
          <a:p>
            <a:endParaRPr lang="fr-FR" altLang="fr-FR"/>
          </a:p>
        </p:txBody>
      </p:sp>
    </p:spTree>
    <p:extLst>
      <p:ext uri="{BB962C8B-B14F-4D97-AF65-F5344CB8AC3E}">
        <p14:creationId xmlns:p14="http://schemas.microsoft.com/office/powerpoint/2010/main" val="15522102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8A2374F2-E7BB-47B1-8430-CDC0CEAB2159}" type="slidenum">
              <a:rPr lang="fr-FR" altLang="fr-FR"/>
              <a:pPr/>
              <a:t>31</a:t>
            </a:fld>
            <a:endParaRPr lang="fr-FR" altLang="fr-FR"/>
          </a:p>
        </p:txBody>
      </p:sp>
      <p:sp>
        <p:nvSpPr>
          <p:cNvPr id="172034" name="Rectangle 2"/>
          <p:cNvSpPr>
            <a:spLocks noChangeArrowheads="1" noTextEdit="1"/>
          </p:cNvSpPr>
          <p:nvPr>
            <p:ph type="sldImg"/>
          </p:nvPr>
        </p:nvSpPr>
        <p:spPr>
          <a:ln/>
        </p:spPr>
      </p:sp>
      <p:sp>
        <p:nvSpPr>
          <p:cNvPr id="172035"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25958009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205CBFBC-44AA-4CC8-B889-FCEB9D419A60}" type="slidenum">
              <a:rPr lang="fr-FR" altLang="fr-FR"/>
              <a:pPr/>
              <a:t>32</a:t>
            </a:fld>
            <a:endParaRPr lang="fr-FR" altLang="fr-FR"/>
          </a:p>
        </p:txBody>
      </p:sp>
      <p:sp>
        <p:nvSpPr>
          <p:cNvPr id="176130" name="Rectangle 2"/>
          <p:cNvSpPr>
            <a:spLocks noChangeArrowheads="1" noTextEdit="1"/>
          </p:cNvSpPr>
          <p:nvPr>
            <p:ph type="sldImg"/>
          </p:nvPr>
        </p:nvSpPr>
        <p:spPr>
          <a:ln/>
        </p:spPr>
      </p:sp>
      <p:sp>
        <p:nvSpPr>
          <p:cNvPr id="176131"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59716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C50EFFF0-388B-4921-8809-14CE6BD84E6C}" type="slidenum">
              <a:rPr lang="fr-FR" altLang="fr-FR"/>
              <a:pPr/>
              <a:t>33</a:t>
            </a:fld>
            <a:endParaRPr lang="fr-FR" altLang="fr-FR"/>
          </a:p>
        </p:txBody>
      </p:sp>
      <p:sp>
        <p:nvSpPr>
          <p:cNvPr id="177154" name="Rectangle 2"/>
          <p:cNvSpPr>
            <a:spLocks noChangeArrowheads="1" noTextEdit="1"/>
          </p:cNvSpPr>
          <p:nvPr>
            <p:ph type="sldImg"/>
          </p:nvPr>
        </p:nvSpPr>
        <p:spPr>
          <a:ln/>
        </p:spPr>
      </p:sp>
      <p:sp>
        <p:nvSpPr>
          <p:cNvPr id="177155"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6563324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7A51B422-6029-4135-9F00-C160251F5E16}" type="slidenum">
              <a:rPr lang="fr-FR" altLang="fr-FR"/>
              <a:pPr/>
              <a:t>34</a:t>
            </a:fld>
            <a:endParaRPr lang="fr-FR" altLang="fr-FR"/>
          </a:p>
        </p:txBody>
      </p:sp>
      <p:sp>
        <p:nvSpPr>
          <p:cNvPr id="179202" name="Rectangle 2"/>
          <p:cNvSpPr>
            <a:spLocks noChangeArrowheads="1" noTextEdit="1"/>
          </p:cNvSpPr>
          <p:nvPr>
            <p:ph type="sldImg"/>
          </p:nvPr>
        </p:nvSpPr>
        <p:spPr>
          <a:ln/>
        </p:spPr>
      </p:sp>
      <p:sp>
        <p:nvSpPr>
          <p:cNvPr id="179203"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16108579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74EC1C0C-E375-475E-8B59-08C53CB195D4}" type="slidenum">
              <a:rPr lang="fr-FR" altLang="fr-FR"/>
              <a:pPr/>
              <a:t>35</a:t>
            </a:fld>
            <a:endParaRPr lang="fr-FR" altLang="fr-FR"/>
          </a:p>
        </p:txBody>
      </p:sp>
      <p:sp>
        <p:nvSpPr>
          <p:cNvPr id="180226" name="Rectangle 2"/>
          <p:cNvSpPr>
            <a:spLocks noChangeArrowheads="1" noTextEdit="1"/>
          </p:cNvSpPr>
          <p:nvPr>
            <p:ph type="sldImg"/>
          </p:nvPr>
        </p:nvSpPr>
        <p:spPr>
          <a:ln/>
        </p:spPr>
      </p:sp>
      <p:sp>
        <p:nvSpPr>
          <p:cNvPr id="180227" name="Rectangle 3"/>
          <p:cNvSpPr>
            <a:spLocks noGrp="1" noChangeArrowheads="1"/>
          </p:cNvSpPr>
          <p:nvPr>
            <p:ph type="body" idx="1"/>
          </p:nvPr>
        </p:nvSpPr>
        <p:spPr>
          <a:xfrm>
            <a:off x="914400" y="4343400"/>
            <a:ext cx="5029200" cy="4114800"/>
          </a:xfrm>
          <a:prstGeom prst="rect">
            <a:avLst/>
          </a:prstGeom>
        </p:spPr>
        <p:txBody>
          <a:bodyPr/>
          <a:lstStyle/>
          <a:p>
            <a:r>
              <a:rPr lang="fr-FR" altLang="fr-FR"/>
              <a:t>You can put up 4-31 with this diagram to show the isomorphic nature of the two diagrams.</a:t>
            </a:r>
          </a:p>
          <a:p>
            <a:endParaRPr lang="fr-FR" altLang="fr-FR"/>
          </a:p>
        </p:txBody>
      </p:sp>
    </p:spTree>
    <p:extLst>
      <p:ext uri="{BB962C8B-B14F-4D97-AF65-F5344CB8AC3E}">
        <p14:creationId xmlns:p14="http://schemas.microsoft.com/office/powerpoint/2010/main" val="24478520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EC854732-D513-4BFB-BF46-B534F8ADEF54}" type="slidenum">
              <a:rPr lang="fr-FR" altLang="fr-FR"/>
              <a:pPr/>
              <a:t>36</a:t>
            </a:fld>
            <a:endParaRPr lang="fr-FR" altLang="fr-FR"/>
          </a:p>
        </p:txBody>
      </p:sp>
      <p:sp>
        <p:nvSpPr>
          <p:cNvPr id="181250" name="Rectangle 2"/>
          <p:cNvSpPr>
            <a:spLocks noChangeArrowheads="1" noTextEdit="1"/>
          </p:cNvSpPr>
          <p:nvPr>
            <p:ph type="sldImg"/>
          </p:nvPr>
        </p:nvSpPr>
        <p:spPr>
          <a:xfrm>
            <a:off x="592138" y="606425"/>
            <a:ext cx="5619750" cy="4214813"/>
          </a:xfrm>
          <a:ln/>
        </p:spPr>
      </p:sp>
      <p:sp>
        <p:nvSpPr>
          <p:cNvPr id="181251"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1760618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88D25B74-9659-479B-85B6-434A9BB8B648}" type="slidenum">
              <a:rPr lang="fr-FR" altLang="fr-FR"/>
              <a:pPr/>
              <a:t>37</a:t>
            </a:fld>
            <a:endParaRPr lang="fr-FR" altLang="fr-FR"/>
          </a:p>
        </p:txBody>
      </p:sp>
      <p:sp>
        <p:nvSpPr>
          <p:cNvPr id="183298" name="Rectangle 2"/>
          <p:cNvSpPr>
            <a:spLocks noChangeArrowheads="1" noTextEdit="1"/>
          </p:cNvSpPr>
          <p:nvPr>
            <p:ph type="sldImg"/>
          </p:nvPr>
        </p:nvSpPr>
        <p:spPr>
          <a:ln/>
        </p:spPr>
      </p:sp>
      <p:sp>
        <p:nvSpPr>
          <p:cNvPr id="183299"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35442589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A4DD38BC-D37A-4386-A8EF-42B832E880AF}" type="slidenum">
              <a:rPr lang="fr-FR" altLang="fr-FR"/>
              <a:pPr/>
              <a:t>38</a:t>
            </a:fld>
            <a:endParaRPr lang="fr-FR" altLang="fr-FR"/>
          </a:p>
        </p:txBody>
      </p:sp>
      <p:sp>
        <p:nvSpPr>
          <p:cNvPr id="187394" name="Rectangle 2"/>
          <p:cNvSpPr>
            <a:spLocks noChangeArrowheads="1" noTextEdit="1"/>
          </p:cNvSpPr>
          <p:nvPr>
            <p:ph type="sldImg"/>
          </p:nvPr>
        </p:nvSpPr>
        <p:spPr>
          <a:xfrm>
            <a:off x="592138" y="606425"/>
            <a:ext cx="5619750" cy="4214813"/>
          </a:xfrm>
          <a:ln/>
        </p:spPr>
      </p:sp>
      <p:sp>
        <p:nvSpPr>
          <p:cNvPr id="187395"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35951265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55EF60E8-C0E8-4BF8-82EC-0988EDD19B08}" type="slidenum">
              <a:rPr lang="fr-FR" altLang="fr-FR"/>
              <a:pPr/>
              <a:t>39</a:t>
            </a:fld>
            <a:endParaRPr lang="fr-FR" altLang="fr-FR"/>
          </a:p>
        </p:txBody>
      </p:sp>
      <p:sp>
        <p:nvSpPr>
          <p:cNvPr id="188418" name="Rectangle 2"/>
          <p:cNvSpPr>
            <a:spLocks noChangeArrowheads="1" noTextEdit="1"/>
          </p:cNvSpPr>
          <p:nvPr>
            <p:ph type="sldImg"/>
          </p:nvPr>
        </p:nvSpPr>
        <p:spPr>
          <a:xfrm>
            <a:off x="592138" y="606425"/>
            <a:ext cx="5619750" cy="4214813"/>
          </a:xfrm>
          <a:ln/>
        </p:spPr>
      </p:sp>
      <p:sp>
        <p:nvSpPr>
          <p:cNvPr id="188419"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11832894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2BDB7E72-FB7B-4954-9ABC-480541B9021D}" type="slidenum">
              <a:rPr lang="fr-FR" altLang="fr-FR"/>
              <a:pPr/>
              <a:t>40</a:t>
            </a:fld>
            <a:endParaRPr lang="fr-FR" altLang="fr-FR"/>
          </a:p>
        </p:txBody>
      </p:sp>
      <p:sp>
        <p:nvSpPr>
          <p:cNvPr id="189442" name="Rectangle 2"/>
          <p:cNvSpPr>
            <a:spLocks noChangeArrowheads="1" noTextEdit="1"/>
          </p:cNvSpPr>
          <p:nvPr>
            <p:ph type="sldImg"/>
          </p:nvPr>
        </p:nvSpPr>
        <p:spPr>
          <a:xfrm>
            <a:off x="592138" y="606425"/>
            <a:ext cx="5619750" cy="4214813"/>
          </a:xfrm>
          <a:ln/>
        </p:spPr>
      </p:sp>
      <p:sp>
        <p:nvSpPr>
          <p:cNvPr id="189443"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397961569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2FA12AE9-8C62-470A-A633-9913B601C2DF}" type="slidenum">
              <a:rPr lang="fr-FR" altLang="fr-FR"/>
              <a:pPr/>
              <a:t>41</a:t>
            </a:fld>
            <a:endParaRPr lang="fr-FR" altLang="fr-FR"/>
          </a:p>
        </p:txBody>
      </p:sp>
      <p:sp>
        <p:nvSpPr>
          <p:cNvPr id="190466" name="Rectangle 2"/>
          <p:cNvSpPr>
            <a:spLocks noChangeArrowheads="1" noTextEdit="1"/>
          </p:cNvSpPr>
          <p:nvPr>
            <p:ph type="sldImg"/>
          </p:nvPr>
        </p:nvSpPr>
        <p:spPr>
          <a:ln/>
        </p:spPr>
      </p:sp>
      <p:sp>
        <p:nvSpPr>
          <p:cNvPr id="190467" name="Rectangle 3"/>
          <p:cNvSpPr>
            <a:spLocks noGrp="1" noChangeArrowheads="1"/>
          </p:cNvSpPr>
          <p:nvPr>
            <p:ph type="body" idx="1"/>
          </p:nvPr>
        </p:nvSpPr>
        <p:spPr>
          <a:xfrm>
            <a:off x="914400" y="4343400"/>
            <a:ext cx="5029200" cy="4114800"/>
          </a:xfrm>
          <a:prstGeom prst="rect">
            <a:avLst/>
          </a:prstGeom>
        </p:spPr>
        <p:txBody>
          <a:bodyPr/>
          <a:lstStyle/>
          <a:p>
            <a:r>
              <a:rPr lang="fr-FR" altLang="fr-FR"/>
              <a:t>The observer pattern is also known as Publish/subscribe, Model/View/Controller (MVC) in Smalltalk, Document/View in MFC and Observer/Observable in Java. If you use an example as you explain this pattern it works better for the students.</a:t>
            </a:r>
          </a:p>
          <a:p>
            <a:endParaRPr lang="fr-FR" altLang="fr-FR"/>
          </a:p>
        </p:txBody>
      </p:sp>
    </p:spTree>
    <p:extLst>
      <p:ext uri="{BB962C8B-B14F-4D97-AF65-F5344CB8AC3E}">
        <p14:creationId xmlns:p14="http://schemas.microsoft.com/office/powerpoint/2010/main" val="31421796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DB877E51-C092-4883-8929-7C904C3544E5}" type="slidenum">
              <a:rPr lang="fr-FR" altLang="fr-FR"/>
              <a:pPr/>
              <a:t>42</a:t>
            </a:fld>
            <a:endParaRPr lang="fr-FR" altLang="fr-FR"/>
          </a:p>
        </p:txBody>
      </p:sp>
      <p:sp>
        <p:nvSpPr>
          <p:cNvPr id="191490" name="Rectangle 2"/>
          <p:cNvSpPr>
            <a:spLocks noChangeArrowheads="1" noTextEdit="1"/>
          </p:cNvSpPr>
          <p:nvPr>
            <p:ph type="sldImg"/>
          </p:nvPr>
        </p:nvSpPr>
        <p:spPr>
          <a:xfrm>
            <a:off x="592138" y="606425"/>
            <a:ext cx="5619750" cy="4214813"/>
          </a:xfrm>
          <a:ln/>
        </p:spPr>
      </p:sp>
      <p:sp>
        <p:nvSpPr>
          <p:cNvPr id="191491"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15282584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0AF5BBE1-0FA5-4F16-9DBC-6F6FB0DE9988}" type="slidenum">
              <a:rPr lang="fr-FR" altLang="fr-FR"/>
              <a:pPr/>
              <a:t>43</a:t>
            </a:fld>
            <a:endParaRPr lang="fr-FR" altLang="fr-FR"/>
          </a:p>
        </p:txBody>
      </p:sp>
      <p:sp>
        <p:nvSpPr>
          <p:cNvPr id="192514" name="Rectangle 2"/>
          <p:cNvSpPr>
            <a:spLocks noChangeArrowheads="1" noTextEdit="1"/>
          </p:cNvSpPr>
          <p:nvPr>
            <p:ph type="sldImg"/>
          </p:nvPr>
        </p:nvSpPr>
        <p:spPr>
          <a:xfrm>
            <a:off x="592138" y="606425"/>
            <a:ext cx="5619750" cy="4214813"/>
          </a:xfrm>
          <a:ln/>
        </p:spPr>
      </p:sp>
      <p:sp>
        <p:nvSpPr>
          <p:cNvPr id="192515"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35278685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C311BEC1-1E6C-4453-AEF1-0D680EE421EF}" type="slidenum">
              <a:rPr lang="fr-FR" altLang="fr-FR"/>
              <a:pPr/>
              <a:t>44</a:t>
            </a:fld>
            <a:endParaRPr lang="fr-FR" altLang="fr-FR"/>
          </a:p>
        </p:txBody>
      </p:sp>
      <p:sp>
        <p:nvSpPr>
          <p:cNvPr id="193538" name="Rectangle 2"/>
          <p:cNvSpPr>
            <a:spLocks noChangeArrowheads="1" noTextEdit="1"/>
          </p:cNvSpPr>
          <p:nvPr>
            <p:ph type="sldImg"/>
          </p:nvPr>
        </p:nvSpPr>
        <p:spPr>
          <a:xfrm>
            <a:off x="592138" y="606425"/>
            <a:ext cx="5619750" cy="4214813"/>
          </a:xfrm>
          <a:ln/>
        </p:spPr>
      </p:sp>
      <p:sp>
        <p:nvSpPr>
          <p:cNvPr id="193539"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15869515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B133A2EB-83EA-40A8-B798-A103DE6DA6B8}" type="slidenum">
              <a:rPr lang="fr-FR" altLang="fr-FR"/>
              <a:pPr/>
              <a:t>45</a:t>
            </a:fld>
            <a:endParaRPr lang="fr-FR" altLang="fr-FR"/>
          </a:p>
        </p:txBody>
      </p:sp>
      <p:sp>
        <p:nvSpPr>
          <p:cNvPr id="194562" name="Rectangle 2"/>
          <p:cNvSpPr>
            <a:spLocks noChangeArrowheads="1" noTextEdit="1"/>
          </p:cNvSpPr>
          <p:nvPr>
            <p:ph type="sldImg"/>
          </p:nvPr>
        </p:nvSpPr>
        <p:spPr>
          <a:xfrm>
            <a:off x="592138" y="606425"/>
            <a:ext cx="5619750" cy="4214813"/>
          </a:xfrm>
          <a:ln/>
        </p:spPr>
      </p:sp>
      <p:sp>
        <p:nvSpPr>
          <p:cNvPr id="194563"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131553105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EA3E7D6E-FF84-4129-BD73-C328D1BBED99}" type="slidenum">
              <a:rPr lang="fr-FR" altLang="fr-FR"/>
              <a:pPr/>
              <a:t>46</a:t>
            </a:fld>
            <a:endParaRPr lang="fr-FR" altLang="fr-FR"/>
          </a:p>
        </p:txBody>
      </p:sp>
      <p:sp>
        <p:nvSpPr>
          <p:cNvPr id="114690" name="Rectangle 2"/>
          <p:cNvSpPr>
            <a:spLocks noChangeArrowheads="1" noTextEdit="1"/>
          </p:cNvSpPr>
          <p:nvPr>
            <p:ph type="sldImg"/>
          </p:nvPr>
        </p:nvSpPr>
        <p:spPr>
          <a:xfrm>
            <a:off x="592138" y="606425"/>
            <a:ext cx="5619750" cy="4214813"/>
          </a:xfrm>
          <a:ln/>
        </p:spPr>
      </p:sp>
      <p:sp>
        <p:nvSpPr>
          <p:cNvPr id="114691"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60133423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FECC5E20-CF6A-49E7-867B-31D564168129}" type="slidenum">
              <a:rPr lang="fr-FR" altLang="fr-FR"/>
              <a:pPr/>
              <a:t>47</a:t>
            </a:fld>
            <a:endParaRPr lang="fr-FR" altLang="fr-FR"/>
          </a:p>
        </p:txBody>
      </p:sp>
      <p:sp>
        <p:nvSpPr>
          <p:cNvPr id="115714" name="Rectangle 2"/>
          <p:cNvSpPr>
            <a:spLocks noChangeArrowheads="1" noTextEdit="1"/>
          </p:cNvSpPr>
          <p:nvPr>
            <p:ph type="sldImg"/>
          </p:nvPr>
        </p:nvSpPr>
        <p:spPr>
          <a:ln/>
        </p:spPr>
      </p:sp>
      <p:sp>
        <p:nvSpPr>
          <p:cNvPr id="115715"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366464515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519DA638-3C9F-41C6-803B-1519C6026CF0}" type="slidenum">
              <a:rPr lang="fr-FR" altLang="fr-FR"/>
              <a:pPr/>
              <a:t>48</a:t>
            </a:fld>
            <a:endParaRPr lang="fr-FR" altLang="fr-FR"/>
          </a:p>
        </p:txBody>
      </p:sp>
      <p:sp>
        <p:nvSpPr>
          <p:cNvPr id="117762" name="Rectangle 2"/>
          <p:cNvSpPr>
            <a:spLocks noChangeArrowheads="1" noTextEdit="1"/>
          </p:cNvSpPr>
          <p:nvPr>
            <p:ph type="sldImg"/>
          </p:nvPr>
        </p:nvSpPr>
        <p:spPr>
          <a:ln/>
        </p:spPr>
      </p:sp>
      <p:sp>
        <p:nvSpPr>
          <p:cNvPr id="117763" name="Rectangle 3"/>
          <p:cNvSpPr>
            <a:spLocks noGrp="1" noChangeArrowheads="1"/>
          </p:cNvSpPr>
          <p:nvPr>
            <p:ph type="body" idx="1"/>
          </p:nvPr>
        </p:nvSpPr>
        <p:spPr>
          <a:xfrm>
            <a:off x="914400" y="4343400"/>
            <a:ext cx="5029200" cy="4114800"/>
          </a:xfrm>
          <a:prstGeom prst="rect">
            <a:avLst/>
          </a:prstGeom>
        </p:spPr>
        <p:txBody>
          <a:bodyPr/>
          <a:lstStyle/>
          <a:p>
            <a:r>
              <a:rPr lang="fr-FR" altLang="fr-FR"/>
              <a:t>Use 6-10 at the same time. </a:t>
            </a:r>
          </a:p>
        </p:txBody>
      </p:sp>
    </p:spTree>
    <p:extLst>
      <p:ext uri="{BB962C8B-B14F-4D97-AF65-F5344CB8AC3E}">
        <p14:creationId xmlns:p14="http://schemas.microsoft.com/office/powerpoint/2010/main" val="132793813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43391F83-8DFB-4F8D-AB0F-3D1F383C4888}" type="slidenum">
              <a:rPr lang="fr-FR" altLang="fr-FR"/>
              <a:pPr/>
              <a:t>49</a:t>
            </a:fld>
            <a:endParaRPr lang="fr-FR" altLang="fr-FR"/>
          </a:p>
        </p:txBody>
      </p:sp>
      <p:sp>
        <p:nvSpPr>
          <p:cNvPr id="118786" name="Rectangle 2"/>
          <p:cNvSpPr>
            <a:spLocks noChangeArrowheads="1" noTextEdit="1"/>
          </p:cNvSpPr>
          <p:nvPr>
            <p:ph type="sldImg"/>
          </p:nvPr>
        </p:nvSpPr>
        <p:spPr>
          <a:ln/>
        </p:spPr>
      </p:sp>
      <p:sp>
        <p:nvSpPr>
          <p:cNvPr id="118787"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132109311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588A8874-3087-4DFC-B5FC-D641E9E6F2CF}" type="slidenum">
              <a:rPr lang="fr-FR" altLang="fr-FR"/>
              <a:pPr/>
              <a:t>50</a:t>
            </a:fld>
            <a:endParaRPr lang="fr-FR" altLang="fr-FR"/>
          </a:p>
        </p:txBody>
      </p:sp>
      <p:sp>
        <p:nvSpPr>
          <p:cNvPr id="119810" name="Rectangle 2"/>
          <p:cNvSpPr>
            <a:spLocks noChangeArrowheads="1" noTextEdit="1"/>
          </p:cNvSpPr>
          <p:nvPr>
            <p:ph type="sldImg"/>
          </p:nvPr>
        </p:nvSpPr>
        <p:spPr>
          <a:ln/>
        </p:spPr>
      </p:sp>
      <p:sp>
        <p:nvSpPr>
          <p:cNvPr id="119811" name="Rectangle 3"/>
          <p:cNvSpPr>
            <a:spLocks noGrp="1" noChangeArrowheads="1"/>
          </p:cNvSpPr>
          <p:nvPr>
            <p:ph type="body" idx="1"/>
          </p:nvPr>
        </p:nvSpPr>
        <p:spPr>
          <a:xfrm>
            <a:off x="914400" y="4343400"/>
            <a:ext cx="5029200" cy="4114800"/>
          </a:xfrm>
          <a:prstGeom prst="rect">
            <a:avLst/>
          </a:prstGeom>
        </p:spPr>
        <p:txBody>
          <a:bodyPr/>
          <a:lstStyle/>
          <a:p>
            <a:r>
              <a:rPr lang="fr-FR" altLang="fr-FR"/>
              <a:t>entry, do, include, and exit are all UML keywords. </a:t>
            </a:r>
          </a:p>
        </p:txBody>
      </p:sp>
    </p:spTree>
    <p:extLst>
      <p:ext uri="{BB962C8B-B14F-4D97-AF65-F5344CB8AC3E}">
        <p14:creationId xmlns:p14="http://schemas.microsoft.com/office/powerpoint/2010/main" val="162553796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ED97AC26-660F-4F0A-8ACB-51C7E0EF2130}" type="slidenum">
              <a:rPr lang="fr-FR" altLang="fr-FR"/>
              <a:pPr/>
              <a:t>51</a:t>
            </a:fld>
            <a:endParaRPr lang="fr-FR" altLang="fr-FR"/>
          </a:p>
        </p:txBody>
      </p:sp>
      <p:sp>
        <p:nvSpPr>
          <p:cNvPr id="120834" name="Rectangle 2"/>
          <p:cNvSpPr>
            <a:spLocks noChangeArrowheads="1" noTextEdit="1"/>
          </p:cNvSpPr>
          <p:nvPr>
            <p:ph type="sldImg"/>
          </p:nvPr>
        </p:nvSpPr>
        <p:spPr>
          <a:ln/>
        </p:spPr>
      </p:sp>
      <p:sp>
        <p:nvSpPr>
          <p:cNvPr id="120835"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406849288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3FEBC7D5-5292-46B3-8EC1-B9CA0597B5B9}" type="slidenum">
              <a:rPr lang="fr-FR" altLang="fr-FR"/>
              <a:pPr/>
              <a:t>52</a:t>
            </a:fld>
            <a:endParaRPr lang="fr-FR" altLang="fr-FR"/>
          </a:p>
        </p:txBody>
      </p:sp>
      <p:sp>
        <p:nvSpPr>
          <p:cNvPr id="121858" name="Rectangle 2"/>
          <p:cNvSpPr>
            <a:spLocks noChangeArrowheads="1" noTextEdit="1"/>
          </p:cNvSpPr>
          <p:nvPr>
            <p:ph type="sldImg"/>
          </p:nvPr>
        </p:nvSpPr>
        <p:spPr>
          <a:ln/>
        </p:spPr>
      </p:sp>
      <p:sp>
        <p:nvSpPr>
          <p:cNvPr id="121859"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390238109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6E87C436-6BEB-47DA-ACC7-2972E5C63134}" type="slidenum">
              <a:rPr lang="fr-FR" altLang="fr-FR"/>
              <a:pPr/>
              <a:t>53</a:t>
            </a:fld>
            <a:endParaRPr lang="fr-FR" altLang="fr-FR"/>
          </a:p>
        </p:txBody>
      </p:sp>
      <p:sp>
        <p:nvSpPr>
          <p:cNvPr id="123906" name="Rectangle 2"/>
          <p:cNvSpPr>
            <a:spLocks noChangeArrowheads="1" noTextEdit="1"/>
          </p:cNvSpPr>
          <p:nvPr>
            <p:ph type="sldImg"/>
          </p:nvPr>
        </p:nvSpPr>
        <p:spPr>
          <a:ln/>
        </p:spPr>
      </p:sp>
      <p:sp>
        <p:nvSpPr>
          <p:cNvPr id="123907"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191060768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7903CAB3-3F2F-4B64-9420-02A47C73D411}" type="slidenum">
              <a:rPr lang="fr-FR" altLang="fr-FR"/>
              <a:pPr/>
              <a:t>54</a:t>
            </a:fld>
            <a:endParaRPr lang="fr-FR" altLang="fr-FR"/>
          </a:p>
        </p:txBody>
      </p:sp>
      <p:sp>
        <p:nvSpPr>
          <p:cNvPr id="124930" name="Rectangle 2"/>
          <p:cNvSpPr>
            <a:spLocks noChangeArrowheads="1" noTextEdit="1"/>
          </p:cNvSpPr>
          <p:nvPr>
            <p:ph type="sldImg"/>
          </p:nvPr>
        </p:nvSpPr>
        <p:spPr>
          <a:ln/>
        </p:spPr>
      </p:sp>
      <p:sp>
        <p:nvSpPr>
          <p:cNvPr id="124931"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12002688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65F9505F-1992-4C70-94D6-E757ABDBF908}" type="slidenum">
              <a:rPr lang="fr-FR" altLang="fr-FR"/>
              <a:pPr/>
              <a:t>55</a:t>
            </a:fld>
            <a:endParaRPr lang="fr-FR" altLang="fr-FR"/>
          </a:p>
        </p:txBody>
      </p:sp>
      <p:sp>
        <p:nvSpPr>
          <p:cNvPr id="125954" name="Rectangle 2"/>
          <p:cNvSpPr>
            <a:spLocks noChangeArrowheads="1" noTextEdit="1"/>
          </p:cNvSpPr>
          <p:nvPr>
            <p:ph type="sldImg"/>
          </p:nvPr>
        </p:nvSpPr>
        <p:spPr>
          <a:ln/>
        </p:spPr>
      </p:sp>
      <p:sp>
        <p:nvSpPr>
          <p:cNvPr id="125955"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425191140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CBE7BC7D-03CE-438A-BCE9-E1A2F823D752}" type="slidenum">
              <a:rPr lang="fr-FR" altLang="fr-FR"/>
              <a:pPr/>
              <a:t>56</a:t>
            </a:fld>
            <a:endParaRPr lang="fr-FR" altLang="fr-FR"/>
          </a:p>
        </p:txBody>
      </p:sp>
      <p:sp>
        <p:nvSpPr>
          <p:cNvPr id="128002" name="Rectangle 2"/>
          <p:cNvSpPr>
            <a:spLocks noChangeArrowheads="1" noTextEdit="1"/>
          </p:cNvSpPr>
          <p:nvPr>
            <p:ph type="sldImg"/>
          </p:nvPr>
        </p:nvSpPr>
        <p:spPr>
          <a:ln/>
        </p:spPr>
      </p:sp>
      <p:sp>
        <p:nvSpPr>
          <p:cNvPr id="128003"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292255004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0A19FCE7-0752-413D-9776-CB1AD025B2F8}" type="slidenum">
              <a:rPr lang="fr-FR" altLang="fr-FR"/>
              <a:pPr/>
              <a:t>57</a:t>
            </a:fld>
            <a:endParaRPr lang="fr-FR" altLang="fr-FR"/>
          </a:p>
        </p:txBody>
      </p:sp>
      <p:sp>
        <p:nvSpPr>
          <p:cNvPr id="129026" name="Rectangle 2"/>
          <p:cNvSpPr>
            <a:spLocks noChangeArrowheads="1" noTextEdit="1"/>
          </p:cNvSpPr>
          <p:nvPr>
            <p:ph type="sldImg"/>
          </p:nvPr>
        </p:nvSpPr>
        <p:spPr>
          <a:ln/>
        </p:spPr>
      </p:sp>
      <p:sp>
        <p:nvSpPr>
          <p:cNvPr id="129027"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387112657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2698EF44-F341-4D1D-9C4C-C4BF961449BC}" type="slidenum">
              <a:rPr lang="fr-FR" altLang="fr-FR"/>
              <a:pPr/>
              <a:t>58</a:t>
            </a:fld>
            <a:endParaRPr lang="fr-FR" altLang="fr-FR"/>
          </a:p>
        </p:txBody>
      </p:sp>
      <p:sp>
        <p:nvSpPr>
          <p:cNvPr id="130050" name="Rectangle 2"/>
          <p:cNvSpPr>
            <a:spLocks noChangeArrowheads="1" noTextEdit="1"/>
          </p:cNvSpPr>
          <p:nvPr>
            <p:ph type="sldImg"/>
          </p:nvPr>
        </p:nvSpPr>
        <p:spPr>
          <a:ln/>
        </p:spPr>
      </p:sp>
      <p:sp>
        <p:nvSpPr>
          <p:cNvPr id="130051" name="Rectangle 3"/>
          <p:cNvSpPr>
            <a:spLocks noGrp="1" noChangeArrowheads="1"/>
          </p:cNvSpPr>
          <p:nvPr>
            <p:ph type="body" idx="1"/>
          </p:nvPr>
        </p:nvSpPr>
        <p:spPr>
          <a:xfrm>
            <a:off x="914400" y="4343400"/>
            <a:ext cx="5029200" cy="4114800"/>
          </a:xfrm>
          <a:prstGeom prst="rect">
            <a:avLst/>
          </a:prstGeom>
        </p:spPr>
        <p:txBody>
          <a:bodyPr/>
          <a:lstStyle/>
          <a:p>
            <a:r>
              <a:rPr lang="fr-FR" altLang="fr-FR"/>
              <a:t>There are lots of examples coming up showing these entry, exit actions and do activities. </a:t>
            </a:r>
          </a:p>
        </p:txBody>
      </p:sp>
    </p:spTree>
    <p:extLst>
      <p:ext uri="{BB962C8B-B14F-4D97-AF65-F5344CB8AC3E}">
        <p14:creationId xmlns:p14="http://schemas.microsoft.com/office/powerpoint/2010/main" val="3304178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FF89D289-077C-4009-8862-237B7BAC0A75}" type="slidenum">
              <a:rPr lang="fr-FR" altLang="fr-FR"/>
              <a:pPr/>
              <a:t>59</a:t>
            </a:fld>
            <a:endParaRPr lang="fr-FR" altLang="fr-FR"/>
          </a:p>
        </p:txBody>
      </p:sp>
      <p:sp>
        <p:nvSpPr>
          <p:cNvPr id="132098" name="Rectangle 2"/>
          <p:cNvSpPr>
            <a:spLocks noChangeArrowheads="1" noTextEdit="1"/>
          </p:cNvSpPr>
          <p:nvPr>
            <p:ph type="sldImg"/>
          </p:nvPr>
        </p:nvSpPr>
        <p:spPr>
          <a:ln/>
        </p:spPr>
      </p:sp>
      <p:sp>
        <p:nvSpPr>
          <p:cNvPr id="132099" name="Rectangle 3"/>
          <p:cNvSpPr>
            <a:spLocks noGrp="1" noChangeArrowheads="1"/>
          </p:cNvSpPr>
          <p:nvPr>
            <p:ph type="body" idx="1"/>
          </p:nvPr>
        </p:nvSpPr>
        <p:spPr>
          <a:xfrm>
            <a:off x="914400" y="4343400"/>
            <a:ext cx="5029200" cy="4114800"/>
          </a:xfrm>
          <a:prstGeom prst="rect">
            <a:avLst/>
          </a:prstGeom>
        </p:spPr>
        <p:txBody>
          <a:bodyPr/>
          <a:lstStyle/>
          <a:p>
            <a:r>
              <a:rPr lang="fr-FR" altLang="fr-FR"/>
              <a:t>For complex Statecharts where nesting becomes useful there are composite states. </a:t>
            </a:r>
          </a:p>
        </p:txBody>
      </p:sp>
    </p:spTree>
    <p:extLst>
      <p:ext uri="{BB962C8B-B14F-4D97-AF65-F5344CB8AC3E}">
        <p14:creationId xmlns:p14="http://schemas.microsoft.com/office/powerpoint/2010/main" val="1961177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6A14F5FF-276F-44A8-AFA6-73C4F7EA30CD}" type="slidenum">
              <a:rPr lang="fr-FR" altLang="fr-FR"/>
              <a:pPr/>
              <a:t>60</a:t>
            </a:fld>
            <a:endParaRPr lang="fr-FR" altLang="fr-FR"/>
          </a:p>
        </p:txBody>
      </p:sp>
      <p:sp>
        <p:nvSpPr>
          <p:cNvPr id="133122" name="Rectangle 2"/>
          <p:cNvSpPr>
            <a:spLocks noChangeArrowheads="1" noTextEdit="1"/>
          </p:cNvSpPr>
          <p:nvPr>
            <p:ph type="sldImg"/>
          </p:nvPr>
        </p:nvSpPr>
        <p:spPr>
          <a:ln/>
        </p:spPr>
      </p:sp>
      <p:sp>
        <p:nvSpPr>
          <p:cNvPr id="133123"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65308811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A544264B-180E-43FB-B20A-16C668C79135}" type="slidenum">
              <a:rPr lang="fr-FR" altLang="fr-FR"/>
              <a:pPr/>
              <a:t>61</a:t>
            </a:fld>
            <a:endParaRPr lang="fr-FR" altLang="fr-FR"/>
          </a:p>
        </p:txBody>
      </p:sp>
      <p:sp>
        <p:nvSpPr>
          <p:cNvPr id="134146" name="Rectangle 2"/>
          <p:cNvSpPr>
            <a:spLocks noChangeArrowheads="1" noTextEdit="1"/>
          </p:cNvSpPr>
          <p:nvPr>
            <p:ph type="sldImg"/>
          </p:nvPr>
        </p:nvSpPr>
        <p:spPr>
          <a:ln/>
        </p:spPr>
      </p:sp>
      <p:sp>
        <p:nvSpPr>
          <p:cNvPr id="134147" name="Rectangle 3"/>
          <p:cNvSpPr>
            <a:spLocks noGrp="1" noChangeArrowheads="1"/>
          </p:cNvSpPr>
          <p:nvPr>
            <p:ph type="body" idx="1"/>
          </p:nvPr>
        </p:nvSpPr>
        <p:spPr>
          <a:xfrm>
            <a:off x="914400" y="4343400"/>
            <a:ext cx="5029200" cy="4114800"/>
          </a:xfrm>
          <a:prstGeom prst="rect">
            <a:avLst/>
          </a:prstGeom>
        </p:spPr>
        <p:txBody>
          <a:bodyPr/>
          <a:lstStyle/>
          <a:p>
            <a:r>
              <a:rPr lang="fr-FR" altLang="fr-FR"/>
              <a:t>One could put this on the previous diagram if one had room but it would make it more complicated to explain. </a:t>
            </a:r>
          </a:p>
        </p:txBody>
      </p:sp>
    </p:spTree>
    <p:extLst>
      <p:ext uri="{BB962C8B-B14F-4D97-AF65-F5344CB8AC3E}">
        <p14:creationId xmlns:p14="http://schemas.microsoft.com/office/powerpoint/2010/main" val="323333331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7C153920-F012-49AF-9E90-41A12F5D3FA5}" type="slidenum">
              <a:rPr lang="fr-FR" altLang="fr-FR"/>
              <a:pPr/>
              <a:t>62</a:t>
            </a:fld>
            <a:endParaRPr lang="fr-FR" altLang="fr-FR"/>
          </a:p>
        </p:txBody>
      </p:sp>
      <p:sp>
        <p:nvSpPr>
          <p:cNvPr id="135170" name="Rectangle 2"/>
          <p:cNvSpPr>
            <a:spLocks noChangeArrowheads="1" noTextEdit="1"/>
          </p:cNvSpPr>
          <p:nvPr>
            <p:ph type="sldImg"/>
          </p:nvPr>
        </p:nvSpPr>
        <p:spPr>
          <a:ln/>
        </p:spPr>
      </p:sp>
      <p:sp>
        <p:nvSpPr>
          <p:cNvPr id="135171"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141012265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51008E28-D503-421F-83CF-30CAB31781D2}" type="slidenum">
              <a:rPr lang="fr-FR" altLang="fr-FR"/>
              <a:pPr/>
              <a:t>63</a:t>
            </a:fld>
            <a:endParaRPr lang="fr-FR" altLang="fr-FR"/>
          </a:p>
        </p:txBody>
      </p:sp>
      <p:sp>
        <p:nvSpPr>
          <p:cNvPr id="137218" name="Rectangle 2"/>
          <p:cNvSpPr>
            <a:spLocks noChangeArrowheads="1" noTextEdit="1"/>
          </p:cNvSpPr>
          <p:nvPr>
            <p:ph type="sldImg"/>
          </p:nvPr>
        </p:nvSpPr>
        <p:spPr>
          <a:ln/>
        </p:spPr>
      </p:sp>
      <p:sp>
        <p:nvSpPr>
          <p:cNvPr id="137219"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352487511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82FA820E-E8C0-4857-97CD-9AFE84BDD233}" type="slidenum">
              <a:rPr lang="fr-FR" altLang="fr-FR"/>
              <a:pPr/>
              <a:t>64</a:t>
            </a:fld>
            <a:endParaRPr lang="fr-FR" altLang="fr-FR"/>
          </a:p>
        </p:txBody>
      </p:sp>
      <p:sp>
        <p:nvSpPr>
          <p:cNvPr id="138242" name="Rectangle 2"/>
          <p:cNvSpPr>
            <a:spLocks noChangeArrowheads="1" noTextEdit="1"/>
          </p:cNvSpPr>
          <p:nvPr>
            <p:ph type="sldImg"/>
          </p:nvPr>
        </p:nvSpPr>
        <p:spPr>
          <a:ln/>
        </p:spPr>
      </p:sp>
      <p:sp>
        <p:nvSpPr>
          <p:cNvPr id="138243"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372031051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41B8BD92-3520-464E-9817-8CDAB309F29B}" type="slidenum">
              <a:rPr lang="fr-FR" altLang="fr-FR"/>
              <a:pPr/>
              <a:t>65</a:t>
            </a:fld>
            <a:endParaRPr lang="fr-FR" altLang="fr-FR"/>
          </a:p>
        </p:txBody>
      </p:sp>
      <p:sp>
        <p:nvSpPr>
          <p:cNvPr id="139266" name="Rectangle 2"/>
          <p:cNvSpPr>
            <a:spLocks noChangeArrowheads="1" noTextEdit="1"/>
          </p:cNvSpPr>
          <p:nvPr>
            <p:ph type="sldImg"/>
          </p:nvPr>
        </p:nvSpPr>
        <p:spPr>
          <a:ln/>
        </p:spPr>
      </p:sp>
      <p:sp>
        <p:nvSpPr>
          <p:cNvPr id="139267"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110070658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7E273309-8D6D-4DEB-927D-FD1AC2A2720F}" type="slidenum">
              <a:rPr lang="fr-FR" altLang="fr-FR"/>
              <a:pPr/>
              <a:t>66</a:t>
            </a:fld>
            <a:endParaRPr lang="fr-FR" altLang="fr-FR"/>
          </a:p>
        </p:txBody>
      </p:sp>
      <p:sp>
        <p:nvSpPr>
          <p:cNvPr id="142338" name="Rectangle 2"/>
          <p:cNvSpPr>
            <a:spLocks noChangeArrowheads="1" noTextEdit="1"/>
          </p:cNvSpPr>
          <p:nvPr>
            <p:ph type="sldImg"/>
          </p:nvPr>
        </p:nvSpPr>
        <p:spPr>
          <a:xfrm>
            <a:off x="592138" y="606425"/>
            <a:ext cx="5619750" cy="4214813"/>
          </a:xfrm>
          <a:ln/>
        </p:spPr>
      </p:sp>
      <p:sp>
        <p:nvSpPr>
          <p:cNvPr id="142339"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234907925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02150196-F658-4044-B465-2936C55C2D20}" type="slidenum">
              <a:rPr lang="fr-FR" altLang="fr-FR"/>
              <a:pPr/>
              <a:t>67</a:t>
            </a:fld>
            <a:endParaRPr lang="fr-FR" altLang="fr-FR"/>
          </a:p>
        </p:txBody>
      </p:sp>
      <p:sp>
        <p:nvSpPr>
          <p:cNvPr id="143362" name="Rectangle 2"/>
          <p:cNvSpPr>
            <a:spLocks noChangeArrowheads="1" noTextEdit="1"/>
          </p:cNvSpPr>
          <p:nvPr>
            <p:ph type="sldImg"/>
          </p:nvPr>
        </p:nvSpPr>
        <p:spPr>
          <a:ln/>
        </p:spPr>
      </p:sp>
      <p:sp>
        <p:nvSpPr>
          <p:cNvPr id="143363" name="Rectangle 3"/>
          <p:cNvSpPr>
            <a:spLocks noGrp="1" noChangeArrowheads="1"/>
          </p:cNvSpPr>
          <p:nvPr>
            <p:ph type="body" idx="1"/>
          </p:nvPr>
        </p:nvSpPr>
        <p:spPr>
          <a:xfrm>
            <a:off x="914400" y="4343400"/>
            <a:ext cx="5029200" cy="4114800"/>
          </a:xfrm>
          <a:prstGeom prst="rect">
            <a:avLst/>
          </a:prstGeom>
        </p:spPr>
        <p:txBody>
          <a:bodyPr/>
          <a:lstStyle/>
          <a:p>
            <a:r>
              <a:rPr lang="fr-FR" altLang="fr-FR"/>
              <a:t>The focus has now changed from the customer to the process of dining. </a:t>
            </a:r>
          </a:p>
        </p:txBody>
      </p:sp>
    </p:spTree>
    <p:extLst>
      <p:ext uri="{BB962C8B-B14F-4D97-AF65-F5344CB8AC3E}">
        <p14:creationId xmlns:p14="http://schemas.microsoft.com/office/powerpoint/2010/main" val="218560125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780A4547-29C1-4322-80D5-1AA61CB9CAF4}" type="slidenum">
              <a:rPr lang="fr-FR" altLang="fr-FR"/>
              <a:pPr/>
              <a:t>68</a:t>
            </a:fld>
            <a:endParaRPr lang="fr-FR" altLang="fr-FR"/>
          </a:p>
        </p:txBody>
      </p:sp>
      <p:sp>
        <p:nvSpPr>
          <p:cNvPr id="144386" name="Rectangle 2"/>
          <p:cNvSpPr>
            <a:spLocks noChangeArrowheads="1" noTextEdit="1"/>
          </p:cNvSpPr>
          <p:nvPr>
            <p:ph type="sldImg"/>
          </p:nvPr>
        </p:nvSpPr>
        <p:spPr>
          <a:ln/>
        </p:spPr>
      </p:sp>
      <p:sp>
        <p:nvSpPr>
          <p:cNvPr id="144387"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35562883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89342C51-AAF8-4BD5-856C-251D290A23B0}" type="slidenum">
              <a:rPr lang="fr-FR" altLang="fr-FR"/>
              <a:pPr/>
              <a:t>69</a:t>
            </a:fld>
            <a:endParaRPr lang="fr-FR" altLang="fr-FR"/>
          </a:p>
        </p:txBody>
      </p:sp>
      <p:sp>
        <p:nvSpPr>
          <p:cNvPr id="146434" name="Rectangle 2"/>
          <p:cNvSpPr>
            <a:spLocks noChangeArrowheads="1" noTextEdit="1"/>
          </p:cNvSpPr>
          <p:nvPr>
            <p:ph type="sldImg"/>
          </p:nvPr>
        </p:nvSpPr>
        <p:spPr>
          <a:xfrm>
            <a:off x="592138" y="606425"/>
            <a:ext cx="5619750" cy="4214813"/>
          </a:xfrm>
          <a:ln/>
        </p:spPr>
      </p:sp>
      <p:sp>
        <p:nvSpPr>
          <p:cNvPr id="146435"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315519780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8202CB7C-DF68-4626-A7CA-76E77DB1AE67}" type="slidenum">
              <a:rPr lang="fr-FR" altLang="fr-FR"/>
              <a:pPr/>
              <a:t>70</a:t>
            </a:fld>
            <a:endParaRPr lang="fr-FR" altLang="fr-FR"/>
          </a:p>
        </p:txBody>
      </p:sp>
      <p:sp>
        <p:nvSpPr>
          <p:cNvPr id="147458" name="Rectangle 2"/>
          <p:cNvSpPr>
            <a:spLocks noChangeArrowheads="1" noTextEdit="1"/>
          </p:cNvSpPr>
          <p:nvPr>
            <p:ph type="sldImg"/>
          </p:nvPr>
        </p:nvSpPr>
        <p:spPr>
          <a:ln/>
        </p:spPr>
      </p:sp>
      <p:sp>
        <p:nvSpPr>
          <p:cNvPr id="147459"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168419319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8996CB25-2CE8-4C8F-9391-D886477FF2CB}" type="slidenum">
              <a:rPr lang="fr-FR" altLang="fr-FR"/>
              <a:pPr/>
              <a:t>71</a:t>
            </a:fld>
            <a:endParaRPr lang="fr-FR" altLang="fr-FR"/>
          </a:p>
        </p:txBody>
      </p:sp>
      <p:sp>
        <p:nvSpPr>
          <p:cNvPr id="148482" name="Rectangle 2"/>
          <p:cNvSpPr>
            <a:spLocks noChangeArrowheads="1" noTextEdit="1"/>
          </p:cNvSpPr>
          <p:nvPr>
            <p:ph type="sldImg"/>
          </p:nvPr>
        </p:nvSpPr>
        <p:spPr>
          <a:xfrm>
            <a:off x="592138" y="606425"/>
            <a:ext cx="5619750" cy="4214813"/>
          </a:xfrm>
          <a:ln/>
        </p:spPr>
      </p:sp>
      <p:sp>
        <p:nvSpPr>
          <p:cNvPr id="148483"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152353514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149A93A7-862B-4058-AE6D-162D367CC4C3}" type="slidenum">
              <a:rPr lang="fr-FR" altLang="fr-FR"/>
              <a:pPr/>
              <a:t>72</a:t>
            </a:fld>
            <a:endParaRPr lang="fr-FR" altLang="fr-FR"/>
          </a:p>
        </p:txBody>
      </p:sp>
      <p:sp>
        <p:nvSpPr>
          <p:cNvPr id="149506" name="Rectangle 2"/>
          <p:cNvSpPr>
            <a:spLocks noChangeArrowheads="1" noTextEdit="1"/>
          </p:cNvSpPr>
          <p:nvPr>
            <p:ph type="sldImg"/>
          </p:nvPr>
        </p:nvSpPr>
        <p:spPr>
          <a:ln/>
        </p:spPr>
      </p:sp>
      <p:sp>
        <p:nvSpPr>
          <p:cNvPr id="149507"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252011549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B0F2725A-DA20-44FC-A9B1-0582645C2FC9}" type="slidenum">
              <a:rPr lang="fr-FR" altLang="fr-FR"/>
              <a:pPr/>
              <a:t>73</a:t>
            </a:fld>
            <a:endParaRPr lang="fr-FR" altLang="fr-FR"/>
          </a:p>
        </p:txBody>
      </p:sp>
      <p:sp>
        <p:nvSpPr>
          <p:cNvPr id="150530" name="Rectangle 2"/>
          <p:cNvSpPr>
            <a:spLocks noChangeArrowheads="1" noTextEdit="1"/>
          </p:cNvSpPr>
          <p:nvPr>
            <p:ph type="sldImg"/>
          </p:nvPr>
        </p:nvSpPr>
        <p:spPr>
          <a:ln/>
        </p:spPr>
      </p:sp>
      <p:sp>
        <p:nvSpPr>
          <p:cNvPr id="150531"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336076866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67B1D452-7476-4407-B1BB-BEFC81277577}" type="slidenum">
              <a:rPr lang="fr-FR" altLang="fr-FR"/>
              <a:pPr/>
              <a:t>74</a:t>
            </a:fld>
            <a:endParaRPr lang="fr-FR" altLang="fr-FR"/>
          </a:p>
        </p:txBody>
      </p:sp>
      <p:sp>
        <p:nvSpPr>
          <p:cNvPr id="151554" name="Rectangle 2"/>
          <p:cNvSpPr>
            <a:spLocks noChangeArrowheads="1" noTextEdit="1"/>
          </p:cNvSpPr>
          <p:nvPr>
            <p:ph type="sldImg"/>
          </p:nvPr>
        </p:nvSpPr>
        <p:spPr>
          <a:ln/>
        </p:spPr>
      </p:sp>
      <p:sp>
        <p:nvSpPr>
          <p:cNvPr id="151555"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305555516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C4CFD940-16DA-4915-A754-11347F99AF34}" type="slidenum">
              <a:rPr lang="fr-FR" altLang="fr-FR"/>
              <a:pPr/>
              <a:t>75</a:t>
            </a:fld>
            <a:endParaRPr lang="fr-FR" altLang="fr-FR"/>
          </a:p>
        </p:txBody>
      </p:sp>
      <p:sp>
        <p:nvSpPr>
          <p:cNvPr id="152578" name="Rectangle 2"/>
          <p:cNvSpPr>
            <a:spLocks noChangeArrowheads="1" noTextEdit="1"/>
          </p:cNvSpPr>
          <p:nvPr>
            <p:ph type="sldImg"/>
          </p:nvPr>
        </p:nvSpPr>
        <p:spPr>
          <a:ln/>
        </p:spPr>
      </p:sp>
      <p:sp>
        <p:nvSpPr>
          <p:cNvPr id="152579" name="Rectangle 3"/>
          <p:cNvSpPr>
            <a:spLocks noGrp="1" noChangeArrowheads="1"/>
          </p:cNvSpPr>
          <p:nvPr>
            <p:ph type="body" idx="1"/>
          </p:nvPr>
        </p:nvSpPr>
        <p:spPr>
          <a:xfrm>
            <a:off x="914400" y="4343400"/>
            <a:ext cx="5029200" cy="4114800"/>
          </a:xfrm>
          <a:prstGeom prst="rect">
            <a:avLst/>
          </a:prstGeom>
        </p:spPr>
        <p:txBody>
          <a:bodyPr/>
          <a:lstStyle/>
          <a:p>
            <a:r>
              <a:rPr lang="fr-FR" altLang="fr-FR"/>
              <a:t>Swimlanes are often used when doing Business Process Re-engineering to show the flow of work between the people involved. Traditional diagrams such as Line of Visibility Models are basically flowcharts with swimlanes on them. </a:t>
            </a:r>
          </a:p>
        </p:txBody>
      </p:sp>
    </p:spTree>
    <p:extLst>
      <p:ext uri="{BB962C8B-B14F-4D97-AF65-F5344CB8AC3E}">
        <p14:creationId xmlns:p14="http://schemas.microsoft.com/office/powerpoint/2010/main" val="416563233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E43DA57B-F7FD-4209-BA68-A254582FACDC}" type="slidenum">
              <a:rPr lang="fr-FR" altLang="fr-FR"/>
              <a:pPr/>
              <a:t>76</a:t>
            </a:fld>
            <a:endParaRPr lang="fr-FR" altLang="fr-FR"/>
          </a:p>
        </p:txBody>
      </p:sp>
      <p:sp>
        <p:nvSpPr>
          <p:cNvPr id="153602" name="Rectangle 2"/>
          <p:cNvSpPr>
            <a:spLocks noChangeArrowheads="1" noTextEdit="1"/>
          </p:cNvSpPr>
          <p:nvPr>
            <p:ph type="sldImg"/>
          </p:nvPr>
        </p:nvSpPr>
        <p:spPr>
          <a:ln/>
        </p:spPr>
      </p:sp>
      <p:sp>
        <p:nvSpPr>
          <p:cNvPr id="153603" name="Rectangle 3"/>
          <p:cNvSpPr>
            <a:spLocks noGrp="1" noChangeArrowheads="1"/>
          </p:cNvSpPr>
          <p:nvPr>
            <p:ph type="body" idx="1"/>
          </p:nvPr>
        </p:nvSpPr>
        <p:spPr>
          <a:xfrm>
            <a:off x="914400" y="4343400"/>
            <a:ext cx="5029200" cy="4114800"/>
          </a:xfrm>
          <a:prstGeom prst="rect">
            <a:avLst/>
          </a:prstGeom>
        </p:spPr>
        <p:txBody>
          <a:bodyPr/>
          <a:lstStyle/>
          <a:p>
            <a:r>
              <a:rPr lang="fr-FR" altLang="fr-FR"/>
              <a:t>Swimlanes can be horizontal or vertical and don’t need to be perfectly rectangular. </a:t>
            </a:r>
          </a:p>
        </p:txBody>
      </p:sp>
    </p:spTree>
    <p:extLst>
      <p:ext uri="{BB962C8B-B14F-4D97-AF65-F5344CB8AC3E}">
        <p14:creationId xmlns:p14="http://schemas.microsoft.com/office/powerpoint/2010/main" val="190114786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06D71582-5FEE-43F8-AF89-44E4A57F481F}" type="slidenum">
              <a:rPr lang="fr-FR" altLang="fr-FR"/>
              <a:pPr/>
              <a:t>77</a:t>
            </a:fld>
            <a:endParaRPr lang="fr-FR" altLang="fr-FR"/>
          </a:p>
        </p:txBody>
      </p:sp>
      <p:sp>
        <p:nvSpPr>
          <p:cNvPr id="154626" name="Rectangle 2"/>
          <p:cNvSpPr>
            <a:spLocks noChangeArrowheads="1" noTextEdit="1"/>
          </p:cNvSpPr>
          <p:nvPr>
            <p:ph type="sldImg"/>
          </p:nvPr>
        </p:nvSpPr>
        <p:spPr>
          <a:ln/>
        </p:spPr>
      </p:sp>
      <p:sp>
        <p:nvSpPr>
          <p:cNvPr id="154627"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3222176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userDrawn="1"/>
        </p:nvSpPr>
        <p:spPr bwMode="auto">
          <a:xfrm>
            <a:off x="0" y="6550223"/>
            <a:ext cx="9144000" cy="307777"/>
          </a:xfrm>
          <a:prstGeom prst="rect">
            <a:avLst/>
          </a:prstGeom>
          <a:solidFill>
            <a:schemeClr val="bg2">
              <a:lumMod val="85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fr-FR" sz="1400" b="0" i="0" u="none" strike="noStrike" cap="none" normalizeH="0" baseline="0" dirty="0" smtClean="0">
              <a:ln>
                <a:noFill/>
              </a:ln>
              <a:solidFill>
                <a:schemeClr val="tx2"/>
              </a:solidFill>
              <a:effectLst/>
              <a:latin typeface="Arial" charset="0"/>
            </a:endParaRPr>
          </a:p>
        </p:txBody>
      </p:sp>
      <p:sp>
        <p:nvSpPr>
          <p:cNvPr id="5" name="Rectangle 4"/>
          <p:cNvSpPr/>
          <p:nvPr userDrawn="1"/>
        </p:nvSpPr>
        <p:spPr bwMode="auto">
          <a:xfrm>
            <a:off x="0" y="0"/>
            <a:ext cx="360000" cy="6858000"/>
          </a:xfrm>
          <a:prstGeom prst="rect">
            <a:avLst/>
          </a:prstGeom>
          <a:solidFill>
            <a:schemeClr val="bg2">
              <a:lumMod val="85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fr-FR" sz="1400" b="0" i="0" u="none" strike="noStrike" cap="none" normalizeH="0" baseline="0" smtClean="0">
              <a:ln>
                <a:noFill/>
              </a:ln>
              <a:solidFill>
                <a:schemeClr val="tx1"/>
              </a:solidFill>
              <a:effectLst/>
              <a:latin typeface="Arial" charset="0"/>
            </a:endParaRPr>
          </a:p>
        </p:txBody>
      </p:sp>
      <p:sp>
        <p:nvSpPr>
          <p:cNvPr id="98312" name="Rectangle 8"/>
          <p:cNvSpPr>
            <a:spLocks noGrp="1" noChangeArrowheads="1"/>
          </p:cNvSpPr>
          <p:nvPr>
            <p:ph type="ctrTitle" sz="quarter"/>
          </p:nvPr>
        </p:nvSpPr>
        <p:spPr>
          <a:xfrm>
            <a:off x="285721" y="1363663"/>
            <a:ext cx="7572404" cy="1638300"/>
          </a:xfrm>
          <a:effectLst>
            <a:outerShdw dist="35921" dir="2700000" algn="ctr" rotWithShape="0">
              <a:schemeClr val="bg2">
                <a:alpha val="50000"/>
              </a:schemeClr>
            </a:outerShdw>
          </a:effectLst>
        </p:spPr>
        <p:txBody>
          <a:bodyPr anchor="t"/>
          <a:lstStyle>
            <a:lvl1pPr>
              <a:defRPr sz="3600"/>
            </a:lvl1pPr>
          </a:lstStyle>
          <a:p>
            <a:r>
              <a:rPr lang="en-US"/>
              <a:t>Click to edit chapter title style</a:t>
            </a:r>
          </a:p>
        </p:txBody>
      </p:sp>
      <p:sp>
        <p:nvSpPr>
          <p:cNvPr id="98313" name="Rectangle 9"/>
          <p:cNvSpPr>
            <a:spLocks noGrp="1" noChangeArrowheads="1"/>
          </p:cNvSpPr>
          <p:nvPr>
            <p:ph type="subTitle" sz="quarter" idx="1"/>
          </p:nvPr>
        </p:nvSpPr>
        <p:spPr bwMode="black">
          <a:xfrm>
            <a:off x="322263" y="398463"/>
            <a:ext cx="4267200" cy="381000"/>
          </a:xfrm>
          <a:effectLst>
            <a:outerShdw dist="35921" dir="2700000" algn="ctr" rotWithShape="0">
              <a:schemeClr val="bg2"/>
            </a:outerShdw>
          </a:effectLst>
        </p:spPr>
        <p:txBody>
          <a:bodyPr/>
          <a:lstStyle>
            <a:lvl1pPr marL="0" indent="0">
              <a:spcBef>
                <a:spcPct val="0"/>
              </a:spcBef>
              <a:buFont typeface="Arial" charset="0"/>
              <a:buNone/>
              <a:defRPr sz="2400">
                <a:solidFill>
                  <a:schemeClr val="tx2"/>
                </a:solidFill>
              </a:defRPr>
            </a:lvl1pPr>
          </a:lstStyle>
          <a:p>
            <a:r>
              <a:rPr lang="en-US"/>
              <a:t>Chapitre 1</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14282" y="1312863"/>
            <a:ext cx="8664606" cy="1277273"/>
          </a:xfrm>
        </p:spPr>
        <p:txBody>
          <a:bodyPr/>
          <a:lstStyle>
            <a:lvl4pPr>
              <a:defRPr/>
            </a:lvl4pPr>
            <a:lvl5pPr>
              <a:buNone/>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a:t>
            </a:r>
            <a:r>
              <a:rPr lang="fr-FR" dirty="0" smtClean="0"/>
              <a:t>niveau</a:t>
            </a:r>
            <a:endParaRPr lang="fr-FR" dirty="0"/>
          </a:p>
        </p:txBody>
      </p:sp>
      <p:sp>
        <p:nvSpPr>
          <p:cNvPr id="4" name="Titre 3"/>
          <p:cNvSpPr>
            <a:spLocks noGrp="1"/>
          </p:cNvSpPr>
          <p:nvPr>
            <p:ph type="title"/>
          </p:nvPr>
        </p:nvSpPr>
        <p:spPr/>
        <p:txBody>
          <a:bodyPr/>
          <a:lstStyle/>
          <a:p>
            <a:r>
              <a:rPr lang="fr-FR" smtClean="0"/>
              <a:t>Cliquez pour modifier le style du titre</a:t>
            </a:r>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Cliquez pour modifier les styles du texte du masque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279400" y="1312863"/>
            <a:ext cx="4222750" cy="12668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54550" y="1312863"/>
            <a:ext cx="4224338" cy="12668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704013" y="160338"/>
            <a:ext cx="2174875" cy="241935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79388" y="160338"/>
            <a:ext cx="6372225" cy="241935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10" name="Rectangle 9"/>
          <p:cNvSpPr/>
          <p:nvPr userDrawn="1"/>
        </p:nvSpPr>
        <p:spPr bwMode="auto">
          <a:xfrm>
            <a:off x="0" y="0"/>
            <a:ext cx="360000" cy="6858000"/>
          </a:xfrm>
          <a:prstGeom prst="rect">
            <a:avLst/>
          </a:prstGeom>
          <a:solidFill>
            <a:schemeClr val="bg2">
              <a:lumMod val="85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fr-FR" sz="1400" b="0" i="0" u="none" strike="noStrike" cap="none" normalizeH="0" baseline="0" dirty="0" smtClean="0">
              <a:ln>
                <a:noFill/>
              </a:ln>
              <a:solidFill>
                <a:schemeClr val="tx1"/>
              </a:solidFill>
              <a:effectLst/>
              <a:latin typeface="Arial" charset="0"/>
            </a:endParaRPr>
          </a:p>
        </p:txBody>
      </p:sp>
      <p:sp>
        <p:nvSpPr>
          <p:cNvPr id="8" name="Rectangle 7"/>
          <p:cNvSpPr/>
          <p:nvPr userDrawn="1"/>
        </p:nvSpPr>
        <p:spPr bwMode="auto">
          <a:xfrm>
            <a:off x="0" y="6550223"/>
            <a:ext cx="9144000" cy="307777"/>
          </a:xfrm>
          <a:prstGeom prst="rect">
            <a:avLst/>
          </a:prstGeom>
          <a:solidFill>
            <a:schemeClr val="bg2">
              <a:lumMod val="85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fr-FR" sz="1400" b="0" i="0" u="none" strike="noStrike" cap="none" normalizeH="0" baseline="0" dirty="0" smtClean="0">
              <a:ln>
                <a:noFill/>
              </a:ln>
              <a:solidFill>
                <a:schemeClr val="tx2"/>
              </a:solidFill>
              <a:effectLst/>
              <a:latin typeface="Arial" charset="0"/>
            </a:endParaRPr>
          </a:p>
        </p:txBody>
      </p:sp>
      <p:sp>
        <p:nvSpPr>
          <p:cNvPr id="97284" name="Text Box 4"/>
          <p:cNvSpPr txBox="1">
            <a:spLocks noChangeArrowheads="1"/>
          </p:cNvSpPr>
          <p:nvPr/>
        </p:nvSpPr>
        <p:spPr bwMode="auto">
          <a:xfrm>
            <a:off x="100013" y="6592888"/>
            <a:ext cx="7185025" cy="246221"/>
          </a:xfrm>
          <a:prstGeom prst="rect">
            <a:avLst/>
          </a:prstGeom>
          <a:noFill/>
          <a:ln w="9525">
            <a:noFill/>
            <a:miter lim="800000"/>
            <a:headEnd/>
            <a:tailEnd/>
          </a:ln>
          <a:effectLst/>
        </p:spPr>
        <p:txBody>
          <a:bodyPr>
            <a:spAutoFit/>
          </a:bodyPr>
          <a:lstStyle/>
          <a:p>
            <a:pPr algn="ctr">
              <a:spcBef>
                <a:spcPct val="50000"/>
              </a:spcBef>
            </a:pPr>
            <a:r>
              <a:rPr lang="en-US" sz="1000" dirty="0" smtClean="0">
                <a:solidFill>
                  <a:schemeClr val="tx2"/>
                </a:solidFill>
              </a:rPr>
              <a:t>Version 1.0</a:t>
            </a:r>
            <a:endParaRPr lang="en-US" sz="1000" dirty="0">
              <a:solidFill>
                <a:schemeClr val="tx2"/>
              </a:solidFill>
            </a:endParaRPr>
          </a:p>
        </p:txBody>
      </p:sp>
      <p:sp>
        <p:nvSpPr>
          <p:cNvPr id="97285" name="Rectangle 5"/>
          <p:cNvSpPr>
            <a:spLocks noGrp="1" noChangeArrowheads="1"/>
          </p:cNvSpPr>
          <p:nvPr>
            <p:ph type="title"/>
          </p:nvPr>
        </p:nvSpPr>
        <p:spPr bwMode="black">
          <a:xfrm>
            <a:off x="179388" y="160338"/>
            <a:ext cx="7793037" cy="725487"/>
          </a:xfrm>
          <a:prstGeom prst="rect">
            <a:avLst/>
          </a:prstGeom>
          <a:noFill/>
          <a:ln w="9525">
            <a:noFill/>
            <a:miter lim="800000"/>
            <a:headEnd/>
            <a:tailEnd/>
          </a:ln>
          <a:effectLst>
            <a:outerShdw dist="35921" dir="2700000" algn="ctr" rotWithShape="0">
              <a:schemeClr val="bg2"/>
            </a:outerShdw>
          </a:effectLst>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97286" name="Text Box 6"/>
          <p:cNvSpPr txBox="1">
            <a:spLocks noChangeArrowheads="1"/>
          </p:cNvSpPr>
          <p:nvPr/>
        </p:nvSpPr>
        <p:spPr bwMode="auto">
          <a:xfrm>
            <a:off x="6970713" y="6527800"/>
            <a:ext cx="1447800" cy="304800"/>
          </a:xfrm>
          <a:prstGeom prst="rect">
            <a:avLst/>
          </a:prstGeom>
          <a:noFill/>
          <a:ln w="9525">
            <a:noFill/>
            <a:miter lim="800000"/>
            <a:headEnd/>
            <a:tailEnd/>
          </a:ln>
          <a:effectLst/>
        </p:spPr>
        <p:txBody>
          <a:bodyPr>
            <a:spAutoFit/>
          </a:bodyPr>
          <a:lstStyle/>
          <a:p>
            <a:pPr algn="r">
              <a:spcBef>
                <a:spcPct val="50000"/>
              </a:spcBef>
            </a:pPr>
            <a:fld id="{B6CF8F43-D6BF-44C9-85E9-64DD9CECBDB3}" type="slidenum">
              <a:rPr lang="en-US" b="1" smtClean="0">
                <a:solidFill>
                  <a:schemeClr val="tx2"/>
                </a:solidFill>
              </a:rPr>
              <a:pPr algn="r">
                <a:spcBef>
                  <a:spcPct val="50000"/>
                </a:spcBef>
              </a:pPr>
              <a:t>‹N°›</a:t>
            </a:fld>
            <a:endParaRPr lang="en-US" b="1" dirty="0">
              <a:solidFill>
                <a:schemeClr val="tx2"/>
              </a:solidFill>
            </a:endParaRPr>
          </a:p>
        </p:txBody>
      </p:sp>
      <p:sp>
        <p:nvSpPr>
          <p:cNvPr id="97289" name="Rectangle 9"/>
          <p:cNvSpPr>
            <a:spLocks noGrp="1" noChangeArrowheads="1"/>
          </p:cNvSpPr>
          <p:nvPr>
            <p:ph type="body" idx="1"/>
          </p:nvPr>
        </p:nvSpPr>
        <p:spPr bwMode="auto">
          <a:xfrm>
            <a:off x="214282" y="1312863"/>
            <a:ext cx="8664606" cy="12668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cSld>
  <p:clrMap bg1="dk1" tx1="lt1" bg2="dk2" tx2="lt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txStyles>
    <p:title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charset="0"/>
        </a:defRPr>
      </a:lvl2pPr>
      <a:lvl3pPr algn="l" rtl="0" eaLnBrk="0" fontAlgn="base" hangingPunct="0">
        <a:spcBef>
          <a:spcPct val="0"/>
        </a:spcBef>
        <a:spcAft>
          <a:spcPct val="0"/>
        </a:spcAft>
        <a:defRPr sz="2400" b="1">
          <a:solidFill>
            <a:schemeClr val="tx2"/>
          </a:solidFill>
          <a:latin typeface="Arial" charset="0"/>
        </a:defRPr>
      </a:lvl3pPr>
      <a:lvl4pPr algn="l" rtl="0" eaLnBrk="0" fontAlgn="base" hangingPunct="0">
        <a:spcBef>
          <a:spcPct val="0"/>
        </a:spcBef>
        <a:spcAft>
          <a:spcPct val="0"/>
        </a:spcAft>
        <a:defRPr sz="2400" b="1">
          <a:solidFill>
            <a:schemeClr val="tx2"/>
          </a:solidFill>
          <a:latin typeface="Arial" charset="0"/>
        </a:defRPr>
      </a:lvl4pPr>
      <a:lvl5pPr algn="l" rtl="0" eaLnBrk="0" fontAlgn="base" hangingPunct="0">
        <a:spcBef>
          <a:spcPct val="0"/>
        </a:spcBef>
        <a:spcAft>
          <a:spcPct val="0"/>
        </a:spcAft>
        <a:defRPr sz="2400" b="1">
          <a:solidFill>
            <a:schemeClr val="tx2"/>
          </a:solidFill>
          <a:latin typeface="Arial" charset="0"/>
        </a:defRPr>
      </a:lvl5pPr>
      <a:lvl6pPr marL="457200" algn="l" rtl="0" eaLnBrk="0" fontAlgn="base" hangingPunct="0">
        <a:spcBef>
          <a:spcPct val="0"/>
        </a:spcBef>
        <a:spcAft>
          <a:spcPct val="0"/>
        </a:spcAft>
        <a:defRPr sz="2400" b="1">
          <a:solidFill>
            <a:schemeClr val="tx2"/>
          </a:solidFill>
          <a:latin typeface="Arial" charset="0"/>
        </a:defRPr>
      </a:lvl6pPr>
      <a:lvl7pPr marL="914400" algn="l" rtl="0" eaLnBrk="0" fontAlgn="base" hangingPunct="0">
        <a:spcBef>
          <a:spcPct val="0"/>
        </a:spcBef>
        <a:spcAft>
          <a:spcPct val="0"/>
        </a:spcAft>
        <a:defRPr sz="2400" b="1">
          <a:solidFill>
            <a:schemeClr val="tx2"/>
          </a:solidFill>
          <a:latin typeface="Arial" charset="0"/>
        </a:defRPr>
      </a:lvl7pPr>
      <a:lvl8pPr marL="1371600" algn="l" rtl="0" eaLnBrk="0" fontAlgn="base" hangingPunct="0">
        <a:spcBef>
          <a:spcPct val="0"/>
        </a:spcBef>
        <a:spcAft>
          <a:spcPct val="0"/>
        </a:spcAft>
        <a:defRPr sz="2400" b="1">
          <a:solidFill>
            <a:schemeClr val="tx2"/>
          </a:solidFill>
          <a:latin typeface="Arial" charset="0"/>
        </a:defRPr>
      </a:lvl8pPr>
      <a:lvl9pPr marL="1828800" algn="l" rtl="0" eaLnBrk="0" fontAlgn="base" hangingPunct="0">
        <a:spcBef>
          <a:spcPct val="0"/>
        </a:spcBef>
        <a:spcAft>
          <a:spcPct val="0"/>
        </a:spcAft>
        <a:defRPr sz="2400" b="1">
          <a:solidFill>
            <a:schemeClr val="tx2"/>
          </a:solidFill>
          <a:latin typeface="Arial" charset="0"/>
        </a:defRPr>
      </a:lvl9pPr>
    </p:titleStyle>
    <p:bodyStyle>
      <a:lvl1pPr marL="230188" indent="-230188" algn="l" rtl="0" eaLnBrk="0" fontAlgn="base" hangingPunct="0">
        <a:spcBef>
          <a:spcPts val="1400"/>
        </a:spcBef>
        <a:spcAft>
          <a:spcPct val="0"/>
        </a:spcAft>
        <a:buClr>
          <a:schemeClr val="accent2"/>
        </a:buClr>
        <a:buSzPct val="115000"/>
        <a:buFont typeface="Arial" charset="0"/>
        <a:buChar char="•"/>
        <a:defRPr b="1">
          <a:solidFill>
            <a:schemeClr val="tx2"/>
          </a:solidFill>
          <a:latin typeface="+mn-lt"/>
          <a:ea typeface="+mn-ea"/>
          <a:cs typeface="+mn-cs"/>
        </a:defRPr>
      </a:lvl1pPr>
      <a:lvl2pPr marL="685800" indent="-341313" algn="l" rtl="0" eaLnBrk="0" fontAlgn="base" hangingPunct="0">
        <a:spcBef>
          <a:spcPts val="200"/>
        </a:spcBef>
        <a:spcAft>
          <a:spcPct val="0"/>
        </a:spcAft>
        <a:buClr>
          <a:schemeClr val="accent2"/>
        </a:buClr>
        <a:buFont typeface="Arial" charset="0"/>
        <a:buChar char="—"/>
        <a:defRPr>
          <a:solidFill>
            <a:schemeClr val="tx2"/>
          </a:solidFill>
          <a:latin typeface="+mn-lt"/>
        </a:defRPr>
      </a:lvl2pPr>
      <a:lvl3pPr marL="1017588" indent="-217488" algn="l" rtl="0" eaLnBrk="0" fontAlgn="base" hangingPunct="0">
        <a:spcBef>
          <a:spcPts val="200"/>
        </a:spcBef>
        <a:spcAft>
          <a:spcPct val="0"/>
        </a:spcAft>
        <a:buClr>
          <a:schemeClr val="accent2"/>
        </a:buClr>
        <a:buFont typeface="Arial" charset="0"/>
        <a:buChar char="–"/>
        <a:defRPr>
          <a:solidFill>
            <a:schemeClr val="tx2"/>
          </a:solidFill>
          <a:latin typeface="+mn-lt"/>
        </a:defRPr>
      </a:lvl3pPr>
      <a:lvl4pPr marL="1363663" indent="-231775" algn="l" rtl="0" eaLnBrk="0" fontAlgn="base" hangingPunct="0">
        <a:spcBef>
          <a:spcPts val="200"/>
        </a:spcBef>
        <a:spcAft>
          <a:spcPct val="0"/>
        </a:spcAft>
        <a:buClr>
          <a:schemeClr val="accent2"/>
        </a:buClr>
        <a:buFont typeface="Arial" charset="0"/>
        <a:buChar char="–"/>
        <a:defRPr>
          <a:solidFill>
            <a:schemeClr val="tx2"/>
          </a:solidFill>
          <a:latin typeface="+mn-lt"/>
        </a:defRPr>
      </a:lvl4pPr>
      <a:lvl5pPr marL="2165350" indent="-228600" algn="l" rtl="0" eaLnBrk="0" fontAlgn="base" hangingPunct="0">
        <a:spcBef>
          <a:spcPct val="20000"/>
        </a:spcBef>
        <a:spcAft>
          <a:spcPct val="0"/>
        </a:spcAft>
        <a:buChar char="»"/>
        <a:defRPr>
          <a:solidFill>
            <a:schemeClr val="tx1"/>
          </a:solidFill>
          <a:latin typeface="+mn-lt"/>
        </a:defRPr>
      </a:lvl5pPr>
      <a:lvl6pPr marL="2622550" indent="-228600" algn="l" rtl="0" eaLnBrk="0" fontAlgn="base" hangingPunct="0">
        <a:spcBef>
          <a:spcPct val="20000"/>
        </a:spcBef>
        <a:spcAft>
          <a:spcPct val="0"/>
        </a:spcAft>
        <a:buChar char="»"/>
        <a:defRPr>
          <a:solidFill>
            <a:schemeClr val="tx1"/>
          </a:solidFill>
          <a:latin typeface="+mn-lt"/>
        </a:defRPr>
      </a:lvl6pPr>
      <a:lvl7pPr marL="3079750" indent="-228600" algn="l" rtl="0" eaLnBrk="0" fontAlgn="base" hangingPunct="0">
        <a:spcBef>
          <a:spcPct val="20000"/>
        </a:spcBef>
        <a:spcAft>
          <a:spcPct val="0"/>
        </a:spcAft>
        <a:buChar char="»"/>
        <a:defRPr>
          <a:solidFill>
            <a:schemeClr val="tx1"/>
          </a:solidFill>
          <a:latin typeface="+mn-lt"/>
        </a:defRPr>
      </a:lvl7pPr>
      <a:lvl8pPr marL="3536950" indent="-228600" algn="l" rtl="0" eaLnBrk="0" fontAlgn="base" hangingPunct="0">
        <a:spcBef>
          <a:spcPct val="20000"/>
        </a:spcBef>
        <a:spcAft>
          <a:spcPct val="0"/>
        </a:spcAft>
        <a:buChar char="»"/>
        <a:defRPr>
          <a:solidFill>
            <a:schemeClr val="tx1"/>
          </a:solidFill>
          <a:latin typeface="+mn-lt"/>
        </a:defRPr>
      </a:lvl8pPr>
      <a:lvl9pPr marL="3994150" indent="-228600" algn="l" rtl="0" eaLnBrk="0" fontAlgn="base" hangingPunct="0">
        <a:spcBef>
          <a:spcPct val="20000"/>
        </a:spcBef>
        <a:spcAft>
          <a:spcPct val="0"/>
        </a:spcAft>
        <a:buChar char="»"/>
        <a:defRPr>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txBox="1">
            <a:spLocks noChangeArrowheads="1"/>
          </p:cNvSpPr>
          <p:nvPr/>
        </p:nvSpPr>
        <p:spPr bwMode="black">
          <a:xfrm>
            <a:off x="461963" y="1516063"/>
            <a:ext cx="7548562" cy="1638300"/>
          </a:xfrm>
          <a:prstGeom prst="rect">
            <a:avLst/>
          </a:prstGeom>
          <a:noFill/>
          <a:ln w="9525">
            <a:noFill/>
            <a:miter lim="800000"/>
            <a:headEnd/>
            <a:tailEnd/>
          </a:ln>
          <a:effectLst>
            <a:outerShdw dist="35921" dir="2700000" algn="ctr" rotWithShape="0">
              <a:schemeClr val="bg2">
                <a:alpha val="50000"/>
              </a:schemeClr>
            </a:outerShdw>
          </a:effectLst>
        </p:spPr>
        <p:txBody>
          <a:bodyPr vert="horz" wrap="square" lIns="91440" tIns="45720" rIns="91440" bIns="45720" numCol="1" anchor="t" anchorCtr="0" compatLnSpc="1">
            <a:prstTxWarp prst="textNoShape">
              <a:avLst/>
            </a:prstTxWarp>
          </a:bodyPr>
          <a:lstStyle/>
          <a:p>
            <a:pPr lvl="0" algn="ctr">
              <a:defRPr/>
            </a:pPr>
            <a:r>
              <a:rPr lang="fr-FR" sz="3600" b="1" kern="0" dirty="0">
                <a:solidFill>
                  <a:schemeClr val="tx2"/>
                </a:solidFill>
                <a:latin typeface="+mj-lt"/>
                <a:ea typeface="+mj-ea"/>
                <a:cs typeface="+mj-cs"/>
              </a:rPr>
              <a:t>UML </a:t>
            </a:r>
            <a:r>
              <a:rPr lang="fr-FR" sz="3600" b="1" kern="0" dirty="0" smtClean="0">
                <a:solidFill>
                  <a:schemeClr val="tx2"/>
                </a:solidFill>
                <a:latin typeface="+mj-lt"/>
                <a:ea typeface="+mj-ea"/>
                <a:cs typeface="+mj-cs"/>
              </a:rPr>
              <a:t>2</a:t>
            </a:r>
          </a:p>
          <a:p>
            <a:pPr lvl="0" algn="ctr">
              <a:defRPr/>
            </a:pPr>
            <a:r>
              <a:rPr lang="fr-FR" sz="3600" b="1" kern="0" dirty="0">
                <a:solidFill>
                  <a:schemeClr val="tx2"/>
                </a:solidFill>
                <a:latin typeface="+mj-lt"/>
                <a:ea typeface="+mj-ea"/>
                <a:cs typeface="+mj-cs"/>
              </a:rPr>
              <a:t>Diagrammes UML de modélisation </a:t>
            </a:r>
            <a:r>
              <a:rPr lang="fr-FR" sz="3600" b="1" kern="0" dirty="0" smtClean="0">
                <a:solidFill>
                  <a:schemeClr val="tx2"/>
                </a:solidFill>
                <a:latin typeface="+mj-lt"/>
                <a:ea typeface="+mj-ea"/>
                <a:cs typeface="+mj-cs"/>
              </a:rPr>
              <a:t>dynamique</a:t>
            </a:r>
            <a:endParaRPr lang="fr-FR" sz="3600" b="1" kern="0" dirty="0" smtClean="0">
              <a:solidFill>
                <a:schemeClr val="tx2"/>
              </a:solidFill>
              <a:latin typeface="+mj-lt"/>
              <a:ea typeface="+mj-ea"/>
              <a:cs typeface="+mj-cs"/>
            </a:endParaRPr>
          </a:p>
          <a:p>
            <a:pPr lvl="0" algn="ctr">
              <a:defRPr/>
            </a:pPr>
            <a:endParaRPr lang="fr-FR" sz="3600" b="1" kern="0" dirty="0" smtClean="0">
              <a:solidFill>
                <a:schemeClr val="tx2"/>
              </a:solidFill>
              <a:latin typeface="+mj-lt"/>
              <a:ea typeface="+mj-ea"/>
              <a:cs typeface="+mj-cs"/>
            </a:endParaRPr>
          </a:p>
          <a:p>
            <a:pPr lvl="0" algn="ctr">
              <a:defRPr/>
            </a:pPr>
            <a:r>
              <a:rPr lang="fr-FR" sz="3600" dirty="0" smtClean="0">
                <a:solidFill>
                  <a:schemeClr val="tx2"/>
                </a:solidFill>
              </a:rPr>
              <a:t>Chapitre </a:t>
            </a:r>
            <a:r>
              <a:rPr lang="fr-FR" sz="3600" dirty="0" smtClean="0">
                <a:solidFill>
                  <a:schemeClr val="tx2"/>
                </a:solidFill>
              </a:rPr>
              <a:t>5</a:t>
            </a:r>
            <a:endParaRPr lang="fr-FR" sz="3600" dirty="0" smtClean="0">
              <a:solidFill>
                <a:schemeClr val="tx2"/>
              </a:solidFill>
            </a:endParaRPr>
          </a:p>
          <a:p>
            <a:pPr lvl="0" algn="ctr"/>
            <a:endParaRPr lang="fr-FR" dirty="0" smtClean="0">
              <a:solidFill>
                <a:schemeClr val="tx2"/>
              </a:solidFill>
            </a:endParaRPr>
          </a:p>
          <a:p>
            <a:pPr lvl="0" algn="ctr"/>
            <a:r>
              <a:rPr lang="fr-FR" dirty="0" smtClean="0">
                <a:solidFill>
                  <a:schemeClr val="tx2"/>
                </a:solidFill>
              </a:rPr>
              <a:t>v1.0</a:t>
            </a:r>
          </a:p>
          <a:p>
            <a:pPr lvl="0" algn="ctr"/>
            <a:endParaRPr kumimoji="0" lang="fr-FR" sz="3600" b="1" i="0" u="none" strike="noStrike" kern="0" cap="none" spc="0" normalizeH="0" baseline="0" noProof="0" dirty="0" smtClean="0">
              <a:ln>
                <a:noFill/>
              </a:ln>
              <a:solidFill>
                <a:schemeClr val="tx2"/>
              </a:solidFill>
              <a:effectLst/>
              <a:uLnTx/>
              <a:uFillTx/>
              <a:latin typeface="+mj-lt"/>
              <a:ea typeface="+mj-ea"/>
              <a:cs typeface="+mj-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sz="3600" b="1"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5"/>
          <p:cNvSpPr>
            <a:spLocks noGrp="1" noChangeArrowheads="1"/>
          </p:cNvSpPr>
          <p:nvPr>
            <p:ph type="title"/>
          </p:nvPr>
        </p:nvSpPr>
        <p:spPr>
          <a:xfrm>
            <a:off x="179388" y="160338"/>
            <a:ext cx="7793037" cy="725487"/>
          </a:xfrm>
        </p:spPr>
        <p:txBody>
          <a:bodyPr/>
          <a:lstStyle/>
          <a:p>
            <a:r>
              <a:rPr lang="fr-FR" dirty="0" smtClean="0"/>
              <a:t>Déroulement</a:t>
            </a:r>
            <a:endParaRPr lang="fr-FR" dirty="0"/>
          </a:p>
        </p:txBody>
      </p:sp>
      <p:sp>
        <p:nvSpPr>
          <p:cNvPr id="5126" name="Rectangle 6"/>
          <p:cNvSpPr>
            <a:spLocks noGrp="1" noChangeArrowheads="1"/>
          </p:cNvSpPr>
          <p:nvPr>
            <p:ph idx="1"/>
          </p:nvPr>
        </p:nvSpPr>
        <p:spPr>
          <a:xfrm>
            <a:off x="928662" y="1312863"/>
            <a:ext cx="7950226" cy="3144451"/>
          </a:xfrm>
        </p:spPr>
        <p:txBody>
          <a:bodyPr/>
          <a:lstStyle/>
          <a:p>
            <a:r>
              <a:rPr lang="fr-FR" sz="1400" dirty="0"/>
              <a:t>Evolution du système et interactions entre objets.</a:t>
            </a:r>
          </a:p>
          <a:p>
            <a:r>
              <a:rPr lang="fr-FR" sz="1400" dirty="0"/>
              <a:t>Diagramme de séquence : interactions entre objets au cours du temps. Messages synchrone et asynchrone.</a:t>
            </a:r>
          </a:p>
          <a:p>
            <a:r>
              <a:rPr lang="fr-FR" sz="1400" dirty="0"/>
              <a:t>Diagramme global d'interactions.</a:t>
            </a:r>
          </a:p>
          <a:p>
            <a:r>
              <a:rPr lang="fr-FR" sz="1400" dirty="0"/>
              <a:t>Diagramme de communication : rôle des objets, interactions, concurrence de traitements...</a:t>
            </a:r>
          </a:p>
          <a:p>
            <a:r>
              <a:rPr lang="fr-FR" sz="1400" dirty="0"/>
              <a:t>Diagramme d'état transition : états possibles d'un objet et événements déclenchant les transitions.</a:t>
            </a:r>
          </a:p>
          <a:p>
            <a:r>
              <a:rPr lang="fr-FR" sz="1400" dirty="0"/>
              <a:t>Diagramme d'activité : flux des activités pour réaliser une opération, objets en charge de ces activités</a:t>
            </a:r>
            <a:endParaRPr lang="fr-FR" sz="14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fr-FR" altLang="fr-FR"/>
              <a:t>Diagramme de séquences : Exemple simple</a:t>
            </a:r>
          </a:p>
        </p:txBody>
      </p:sp>
      <p:pic>
        <p:nvPicPr>
          <p:cNvPr id="6149" name="Picture 5" descr="4-03"/>
          <p:cNvPicPr>
            <a:picLocks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658938" y="2078038"/>
            <a:ext cx="5794375" cy="26400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513147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fr-FR" altLang="fr-FR"/>
              <a:t>Diagramme de communications : Exemple simple</a:t>
            </a:r>
          </a:p>
        </p:txBody>
      </p:sp>
      <p:pic>
        <p:nvPicPr>
          <p:cNvPr id="8197" name="Picture 5" descr="4-04"/>
          <p:cNvPicPr>
            <a:picLocks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900238" y="1558925"/>
            <a:ext cx="5051425" cy="41259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7048118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fr-FR" altLang="fr-FR"/>
              <a:t>Qu’est-ce qu’un diagramme d’interaction ?</a:t>
            </a:r>
          </a:p>
        </p:txBody>
      </p:sp>
      <p:sp>
        <p:nvSpPr>
          <p:cNvPr id="11267" name="Rectangle 3"/>
          <p:cNvSpPr>
            <a:spLocks noGrp="1" noChangeArrowheads="1"/>
          </p:cNvSpPr>
          <p:nvPr>
            <p:ph type="body" idx="1"/>
          </p:nvPr>
        </p:nvSpPr>
        <p:spPr>
          <a:xfrm>
            <a:off x="314325" y="3748088"/>
            <a:ext cx="8599488" cy="666750"/>
          </a:xfrm>
        </p:spPr>
        <p:txBody>
          <a:bodyPr/>
          <a:lstStyle/>
          <a:p>
            <a:r>
              <a:rPr lang="fr-FR" altLang="fr-FR"/>
              <a:t>Les diagrammes de communication et de séquence sont </a:t>
            </a:r>
            <a:r>
              <a:rPr lang="fr-FR" altLang="fr-FR" i="1">
                <a:latin typeface="Century Schoolbook" pitchFamily="18" charset="0"/>
              </a:rPr>
              <a:t>isomorphiques</a:t>
            </a:r>
            <a:endParaRPr lang="fr-FR" altLang="fr-FR" i="1"/>
          </a:p>
          <a:p>
            <a:pPr lvl="1"/>
            <a:r>
              <a:rPr lang="fr-FR" altLang="fr-FR"/>
              <a:t>Ils contiennent les mêmes informations sous deux formes différentes</a:t>
            </a:r>
          </a:p>
        </p:txBody>
      </p:sp>
      <p:sp>
        <p:nvSpPr>
          <p:cNvPr id="11268" name="Text Box 4"/>
          <p:cNvSpPr txBox="1">
            <a:spLocks noChangeArrowheads="1"/>
          </p:cNvSpPr>
          <p:nvPr/>
        </p:nvSpPr>
        <p:spPr bwMode="gray">
          <a:xfrm>
            <a:off x="622300" y="1625600"/>
            <a:ext cx="7948613" cy="1579563"/>
          </a:xfrm>
          <a:prstGeom prst="rect">
            <a:avLst/>
          </a:prstGeom>
          <a:solidFill>
            <a:srgbClr val="FFFFCC"/>
          </a:solidFill>
          <a:ln w="12700">
            <a:solidFill>
              <a:schemeClr val="tx1"/>
            </a:solidFill>
            <a:miter lim="800000"/>
            <a:headEnd/>
            <a:tailEnd/>
          </a:ln>
          <a:effectLst>
            <a:outerShdw dist="35921" dir="2700000" algn="ctr" rotWithShape="0">
              <a:schemeClr val="tx1"/>
            </a:outerShdw>
          </a:effectLst>
        </p:spPr>
        <p:txBody>
          <a:bodyPr/>
          <a:lstStyle/>
          <a:p>
            <a:pPr algn="ctr"/>
            <a:r>
              <a:rPr lang="fr-FR" altLang="fr-FR" sz="1800" b="1" i="1" dirty="0">
                <a:solidFill>
                  <a:schemeClr val="tx2"/>
                </a:solidFill>
                <a:latin typeface="Century Schoolbook" pitchFamily="18" charset="0"/>
              </a:rPr>
              <a:t>“Un terme générique qui s'applique à différents types de diagrammes qui décrivent les interactions entre objets. Ces diagrammes comprennent le diagramme de communication [précédemment appelé diagramme de collaboration], les diagrammes de séquence, et le diagramme global d'interaction.”</a:t>
            </a:r>
            <a:r>
              <a:rPr lang="fr-FR" altLang="fr-FR" sz="1800" b="1" i="1" baseline="30000" dirty="0">
                <a:solidFill>
                  <a:schemeClr val="tx2"/>
                </a:solidFill>
                <a:latin typeface="Century Schoolbook" pitchFamily="18" charset="0"/>
              </a:rPr>
              <a:t>*</a:t>
            </a:r>
            <a:endParaRPr lang="fr-FR" altLang="fr-FR" sz="1200" dirty="0">
              <a:solidFill>
                <a:schemeClr val="tx2"/>
              </a:solidFill>
            </a:endParaRPr>
          </a:p>
        </p:txBody>
      </p:sp>
    </p:spTree>
    <p:extLst>
      <p:ext uri="{BB962C8B-B14F-4D97-AF65-F5344CB8AC3E}">
        <p14:creationId xmlns:p14="http://schemas.microsoft.com/office/powerpoint/2010/main" val="3286890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fr-FR" altLang="fr-FR"/>
              <a:t>Diagrammes de séquence et de communication</a:t>
            </a:r>
          </a:p>
        </p:txBody>
      </p:sp>
      <p:sp>
        <p:nvSpPr>
          <p:cNvPr id="15363" name="Rectangle 3"/>
          <p:cNvSpPr>
            <a:spLocks noGrp="1" noChangeArrowheads="1"/>
          </p:cNvSpPr>
          <p:nvPr>
            <p:ph type="body" idx="1"/>
          </p:nvPr>
        </p:nvSpPr>
        <p:spPr>
          <a:xfrm>
            <a:off x="304800" y="2362200"/>
            <a:ext cx="8599488" cy="641350"/>
          </a:xfrm>
        </p:spPr>
        <p:txBody>
          <a:bodyPr/>
          <a:lstStyle/>
          <a:p>
            <a:r>
              <a:rPr lang="fr-FR" altLang="fr-FR"/>
              <a:t>Le </a:t>
            </a:r>
            <a:r>
              <a:rPr lang="fr-FR" altLang="fr-FR" i="1">
                <a:latin typeface="Century Schoolbook" pitchFamily="18" charset="0"/>
              </a:rPr>
              <a:t>diagramme de séquence</a:t>
            </a:r>
            <a:r>
              <a:rPr lang="fr-FR" altLang="fr-FR"/>
              <a:t> met l’accent sur l’ordonnancement des événements dans le temps</a:t>
            </a:r>
          </a:p>
        </p:txBody>
      </p:sp>
      <p:sp>
        <p:nvSpPr>
          <p:cNvPr id="15364" name="Text Box 4"/>
          <p:cNvSpPr txBox="1">
            <a:spLocks noChangeArrowheads="1"/>
          </p:cNvSpPr>
          <p:nvPr/>
        </p:nvSpPr>
        <p:spPr bwMode="blackWhite">
          <a:xfrm>
            <a:off x="685800" y="1524000"/>
            <a:ext cx="7924800" cy="731838"/>
          </a:xfrm>
          <a:prstGeom prst="rect">
            <a:avLst/>
          </a:prstGeom>
          <a:solidFill>
            <a:srgbClr val="FFFFCC"/>
          </a:solidFill>
          <a:ln w="12700">
            <a:solidFill>
              <a:schemeClr val="tx1"/>
            </a:solidFill>
            <a:miter lim="800000"/>
            <a:headEnd/>
            <a:tailEnd/>
          </a:ln>
          <a:effectLst>
            <a:outerShdw dist="35921" dir="2700000" algn="ctr" rotWithShape="0">
              <a:schemeClr val="tx1"/>
            </a:outerShdw>
          </a:effectLst>
        </p:spPr>
        <p:txBody>
          <a:bodyPr/>
          <a:lstStyle/>
          <a:p>
            <a:pPr algn="ctr"/>
            <a:r>
              <a:rPr lang="fr-FR" altLang="fr-FR" sz="1800" b="1" i="1">
                <a:solidFill>
                  <a:schemeClr val="tx2"/>
                </a:solidFill>
                <a:latin typeface="Century Schoolbook" pitchFamily="18" charset="0"/>
              </a:rPr>
              <a:t>“Un diagramme de séquence … représente les interactions entre objets ordonnancées temporellement.”</a:t>
            </a:r>
            <a:r>
              <a:rPr lang="fr-FR" altLang="fr-FR" sz="1800" b="1" i="1" baseline="30000">
                <a:solidFill>
                  <a:schemeClr val="tx2"/>
                </a:solidFill>
                <a:latin typeface="Century Schoolbook" pitchFamily="18" charset="0"/>
              </a:rPr>
              <a:t>*</a:t>
            </a:r>
          </a:p>
          <a:p>
            <a:endParaRPr lang="fr-FR" altLang="fr-FR" sz="1200">
              <a:solidFill>
                <a:schemeClr val="tx2"/>
              </a:solidFill>
            </a:endParaRPr>
          </a:p>
        </p:txBody>
      </p:sp>
      <p:sp>
        <p:nvSpPr>
          <p:cNvPr id="15366" name="Rectangle 6"/>
          <p:cNvSpPr>
            <a:spLocks noChangeArrowheads="1"/>
          </p:cNvSpPr>
          <p:nvPr/>
        </p:nvSpPr>
        <p:spPr bwMode="auto">
          <a:xfrm>
            <a:off x="304800" y="4743450"/>
            <a:ext cx="85994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30188" indent="-230188">
              <a:defRPr sz="2400">
                <a:solidFill>
                  <a:schemeClr val="tx1"/>
                </a:solidFill>
                <a:latin typeface="Times New Roman" panose="02020603050405020304" pitchFamily="18" charset="0"/>
              </a:defRPr>
            </a:lvl1pPr>
            <a:lvl2pPr marL="685800" indent="-341313">
              <a:defRPr sz="2400">
                <a:solidFill>
                  <a:schemeClr val="tx1"/>
                </a:solidFill>
                <a:latin typeface="Times New Roman" panose="02020603050405020304" pitchFamily="18" charset="0"/>
              </a:defRPr>
            </a:lvl2pPr>
            <a:lvl3pPr marL="1017588" indent="-217488">
              <a:defRPr sz="2400">
                <a:solidFill>
                  <a:schemeClr val="tx1"/>
                </a:solidFill>
                <a:latin typeface="Times New Roman" panose="02020603050405020304" pitchFamily="18" charset="0"/>
              </a:defRPr>
            </a:lvl3pPr>
            <a:lvl4pPr marL="1363663" indent="-231775">
              <a:defRPr sz="2400">
                <a:solidFill>
                  <a:schemeClr val="tx1"/>
                </a:solidFill>
                <a:latin typeface="Times New Roman" panose="02020603050405020304" pitchFamily="18" charset="0"/>
              </a:defRPr>
            </a:lvl4pPr>
            <a:lvl5pPr marL="2165350" indent="-228600">
              <a:defRPr sz="2400">
                <a:solidFill>
                  <a:schemeClr val="tx1"/>
                </a:solidFill>
                <a:latin typeface="Times New Roman" panose="02020603050405020304" pitchFamily="18" charset="0"/>
              </a:defRPr>
            </a:lvl5pPr>
            <a:lvl6pPr marL="2622550" indent="-228600" fontAlgn="base">
              <a:spcBef>
                <a:spcPct val="0"/>
              </a:spcBef>
              <a:spcAft>
                <a:spcPct val="0"/>
              </a:spcAft>
              <a:defRPr sz="2400">
                <a:solidFill>
                  <a:schemeClr val="tx1"/>
                </a:solidFill>
                <a:latin typeface="Times New Roman" panose="02020603050405020304" pitchFamily="18" charset="0"/>
              </a:defRPr>
            </a:lvl6pPr>
            <a:lvl7pPr marL="3079750" indent="-228600" fontAlgn="base">
              <a:spcBef>
                <a:spcPct val="0"/>
              </a:spcBef>
              <a:spcAft>
                <a:spcPct val="0"/>
              </a:spcAft>
              <a:defRPr sz="2400">
                <a:solidFill>
                  <a:schemeClr val="tx1"/>
                </a:solidFill>
                <a:latin typeface="Times New Roman" panose="02020603050405020304" pitchFamily="18" charset="0"/>
              </a:defRPr>
            </a:lvl7pPr>
            <a:lvl8pPr marL="3536950" indent="-228600" fontAlgn="base">
              <a:spcBef>
                <a:spcPct val="0"/>
              </a:spcBef>
              <a:spcAft>
                <a:spcPct val="0"/>
              </a:spcAft>
              <a:defRPr sz="2400">
                <a:solidFill>
                  <a:schemeClr val="tx1"/>
                </a:solidFill>
                <a:latin typeface="Times New Roman" panose="02020603050405020304" pitchFamily="18" charset="0"/>
              </a:defRPr>
            </a:lvl8pPr>
            <a:lvl9pPr marL="3994150" indent="-228600" fontAlgn="base">
              <a:spcBef>
                <a:spcPct val="0"/>
              </a:spcBef>
              <a:spcAft>
                <a:spcPct val="0"/>
              </a:spcAft>
              <a:defRPr sz="2400">
                <a:solidFill>
                  <a:schemeClr val="tx1"/>
                </a:solidFill>
                <a:latin typeface="Times New Roman" panose="02020603050405020304" pitchFamily="18" charset="0"/>
              </a:defRPr>
            </a:lvl9pPr>
          </a:lstStyle>
          <a:p>
            <a:pPr>
              <a:spcBef>
                <a:spcPts val="1400"/>
              </a:spcBef>
              <a:buClr>
                <a:schemeClr val="accent2"/>
              </a:buClr>
              <a:buSzPct val="115000"/>
              <a:buFont typeface="Arial" panose="020B0604020202020204" pitchFamily="34" charset="0"/>
              <a:buChar char="•"/>
            </a:pPr>
            <a:r>
              <a:rPr lang="fr-FR" altLang="fr-FR" sz="1800" b="1">
                <a:solidFill>
                  <a:schemeClr val="tx2"/>
                </a:solidFill>
                <a:latin typeface="Arial" panose="020B0604020202020204" pitchFamily="34" charset="0"/>
              </a:rPr>
              <a:t>Le </a:t>
            </a:r>
            <a:r>
              <a:rPr lang="fr-FR" altLang="fr-FR" sz="1800" b="1" i="1">
                <a:solidFill>
                  <a:schemeClr val="tx2"/>
                </a:solidFill>
                <a:latin typeface="Century Schoolbook" pitchFamily="18" charset="0"/>
              </a:rPr>
              <a:t>diagramme de communication</a:t>
            </a:r>
            <a:r>
              <a:rPr lang="fr-FR" altLang="fr-FR" sz="1800" b="1">
                <a:solidFill>
                  <a:schemeClr val="tx2"/>
                </a:solidFill>
                <a:latin typeface="Century Schoolbook" pitchFamily="18" charset="0"/>
              </a:rPr>
              <a:t> </a:t>
            </a:r>
            <a:r>
              <a:rPr lang="fr-FR" altLang="fr-FR" sz="1800" b="1">
                <a:solidFill>
                  <a:schemeClr val="tx2"/>
                </a:solidFill>
                <a:latin typeface="Arial" panose="020B0604020202020204" pitchFamily="34" charset="0"/>
              </a:rPr>
              <a:t>met l’accent sur</a:t>
            </a:r>
            <a:r>
              <a:rPr lang="fr-FR" altLang="fr-FR" sz="1800" b="1">
                <a:solidFill>
                  <a:schemeClr val="tx2"/>
                </a:solidFill>
                <a:latin typeface="Century Schoolbook" pitchFamily="18" charset="0"/>
              </a:rPr>
              <a:t> </a:t>
            </a:r>
            <a:r>
              <a:rPr lang="fr-FR" altLang="fr-FR" sz="1800" b="1">
                <a:solidFill>
                  <a:schemeClr val="tx2"/>
                </a:solidFill>
                <a:latin typeface="Arial" panose="020B0604020202020204" pitchFamily="34" charset="0"/>
              </a:rPr>
              <a:t>les</a:t>
            </a:r>
            <a:r>
              <a:rPr lang="fr-FR" altLang="fr-FR" sz="1800" b="1">
                <a:solidFill>
                  <a:schemeClr val="tx2"/>
                </a:solidFill>
                <a:latin typeface="Century Schoolbook" pitchFamily="18" charset="0"/>
              </a:rPr>
              <a:t> </a:t>
            </a:r>
            <a:r>
              <a:rPr lang="fr-FR" altLang="fr-FR" sz="1800" b="1">
                <a:solidFill>
                  <a:schemeClr val="tx2"/>
                </a:solidFill>
                <a:latin typeface="Arial" panose="020B0604020202020204" pitchFamily="34" charset="0"/>
              </a:rPr>
              <a:t>relations</a:t>
            </a:r>
            <a:r>
              <a:rPr lang="fr-FR" altLang="fr-FR" sz="1800" b="1">
                <a:solidFill>
                  <a:schemeClr val="tx2"/>
                </a:solidFill>
                <a:latin typeface="Century Schoolbook" pitchFamily="18" charset="0"/>
              </a:rPr>
              <a:t> </a:t>
            </a:r>
            <a:r>
              <a:rPr lang="fr-FR" altLang="fr-FR" sz="1800" b="1">
                <a:solidFill>
                  <a:schemeClr val="tx2"/>
                </a:solidFill>
                <a:latin typeface="Arial" panose="020B0604020202020204" pitchFamily="34" charset="0"/>
              </a:rPr>
              <a:t>entre</a:t>
            </a:r>
            <a:r>
              <a:rPr lang="fr-FR" altLang="fr-FR" sz="1800" b="1">
                <a:solidFill>
                  <a:schemeClr val="tx2"/>
                </a:solidFill>
                <a:latin typeface="Century Schoolbook" pitchFamily="18" charset="0"/>
              </a:rPr>
              <a:t> </a:t>
            </a:r>
            <a:r>
              <a:rPr lang="fr-FR" altLang="fr-FR" sz="1800" b="1">
                <a:solidFill>
                  <a:schemeClr val="tx2"/>
                </a:solidFill>
                <a:latin typeface="Arial" panose="020B0604020202020204" pitchFamily="34" charset="0"/>
              </a:rPr>
              <a:t>les</a:t>
            </a:r>
            <a:r>
              <a:rPr lang="fr-FR" altLang="fr-FR" sz="1800" b="1">
                <a:solidFill>
                  <a:schemeClr val="tx2"/>
                </a:solidFill>
                <a:latin typeface="Century Schoolbook" pitchFamily="18" charset="0"/>
              </a:rPr>
              <a:t> </a:t>
            </a:r>
            <a:r>
              <a:rPr lang="fr-FR" altLang="fr-FR" sz="1800" b="1">
                <a:solidFill>
                  <a:schemeClr val="tx2"/>
                </a:solidFill>
                <a:latin typeface="Arial" panose="020B0604020202020204" pitchFamily="34" charset="0"/>
              </a:rPr>
              <a:t>objets</a:t>
            </a:r>
            <a:endParaRPr lang="en-US" altLang="fr-FR" sz="1800" b="1">
              <a:solidFill>
                <a:schemeClr val="tx2"/>
              </a:solidFill>
              <a:latin typeface="Arial" panose="020B0604020202020204" pitchFamily="34" charset="0"/>
            </a:endParaRPr>
          </a:p>
        </p:txBody>
      </p:sp>
      <p:sp>
        <p:nvSpPr>
          <p:cNvPr id="15367" name="Text Box 7"/>
          <p:cNvSpPr txBox="1">
            <a:spLocks noChangeArrowheads="1"/>
          </p:cNvSpPr>
          <p:nvPr/>
        </p:nvSpPr>
        <p:spPr bwMode="blackWhite">
          <a:xfrm>
            <a:off x="685800" y="3352800"/>
            <a:ext cx="7924800" cy="1219200"/>
          </a:xfrm>
          <a:prstGeom prst="rect">
            <a:avLst/>
          </a:prstGeom>
          <a:solidFill>
            <a:srgbClr val="FFFFCC"/>
          </a:solidFill>
          <a:ln w="12700">
            <a:solidFill>
              <a:schemeClr val="tx1"/>
            </a:solidFill>
            <a:miter lim="800000"/>
            <a:headEnd/>
            <a:tailEnd/>
          </a:ln>
          <a:effectLst>
            <a:outerShdw dist="35921" dir="2700000" algn="ctr" rotWithShape="0">
              <a:schemeClr val="tx1"/>
            </a:outerShdw>
          </a:effectLst>
        </p:spPr>
        <p:txBody>
          <a:bodyPr/>
          <a:lstStyle/>
          <a:p>
            <a:pPr algn="ctr"/>
            <a:r>
              <a:rPr lang="fr-FR" altLang="fr-FR" sz="1800" b="1" i="1">
                <a:solidFill>
                  <a:schemeClr val="tx2"/>
                </a:solidFill>
                <a:latin typeface="Century Schoolbook" pitchFamily="18" charset="0"/>
              </a:rPr>
              <a:t>“Un diagramme de collaboration [communication] … représente des interactions … Contrairement à un diagramme de séquence, un diagramme de collaboration [communication] montre explicitement les relations entre … objets.”</a:t>
            </a:r>
            <a:r>
              <a:rPr lang="fr-FR" altLang="fr-FR" sz="1800" b="1" i="1" baseline="30000">
                <a:solidFill>
                  <a:schemeClr val="tx2"/>
                </a:solidFill>
                <a:latin typeface="Century Schoolbook" pitchFamily="18" charset="0"/>
              </a:rPr>
              <a:t>*</a:t>
            </a:r>
            <a:endParaRPr lang="fr-FR" altLang="fr-FR" sz="1800" b="1" i="1">
              <a:solidFill>
                <a:schemeClr val="tx2"/>
              </a:solidFill>
            </a:endParaRPr>
          </a:p>
          <a:p>
            <a:endParaRPr lang="fr-FR" altLang="fr-FR" sz="1200">
              <a:solidFill>
                <a:schemeClr val="tx2"/>
              </a:solidFill>
            </a:endParaRPr>
          </a:p>
        </p:txBody>
      </p:sp>
    </p:spTree>
    <p:extLst>
      <p:ext uri="{BB962C8B-B14F-4D97-AF65-F5344CB8AC3E}">
        <p14:creationId xmlns:p14="http://schemas.microsoft.com/office/powerpoint/2010/main" val="2582029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fr-FR" altLang="fr-FR"/>
              <a:t>Objets et temps</a:t>
            </a:r>
          </a:p>
        </p:txBody>
      </p:sp>
      <p:sp>
        <p:nvSpPr>
          <p:cNvPr id="24579" name="Rectangle 3"/>
          <p:cNvSpPr>
            <a:spLocks noGrp="1" noChangeArrowheads="1"/>
          </p:cNvSpPr>
          <p:nvPr>
            <p:ph type="body" idx="1"/>
          </p:nvPr>
        </p:nvSpPr>
        <p:spPr>
          <a:xfrm>
            <a:off x="279400" y="1312863"/>
            <a:ext cx="8599488" cy="3895725"/>
          </a:xfrm>
        </p:spPr>
        <p:txBody>
          <a:bodyPr/>
          <a:lstStyle/>
          <a:p>
            <a:r>
              <a:rPr lang="fr-FR" altLang="fr-FR"/>
              <a:t>Un diagramme de séquence contient des objets</a:t>
            </a:r>
          </a:p>
          <a:p>
            <a:pPr lvl="1"/>
            <a:r>
              <a:rPr lang="fr-FR" altLang="fr-FR"/>
              <a:t>Des instances d’acteurs peuvent également être représentées (un acteur est un type de classe)</a:t>
            </a:r>
          </a:p>
          <a:p>
            <a:r>
              <a:rPr lang="fr-FR" altLang="fr-FR"/>
              <a:t>Les objets sont représentés horizontalement le long du diagramme</a:t>
            </a:r>
          </a:p>
          <a:p>
            <a:pPr lvl="1"/>
            <a:r>
              <a:rPr lang="fr-FR" altLang="fr-FR"/>
              <a:t>La </a:t>
            </a:r>
            <a:r>
              <a:rPr lang="fr-FR" altLang="fr-FR" i="1">
                <a:latin typeface="Century Schoolbook" pitchFamily="18" charset="0"/>
              </a:rPr>
              <a:t>ligne de vie</a:t>
            </a:r>
            <a:r>
              <a:rPr lang="fr-FR" altLang="fr-FR"/>
              <a:t> de l’objet est représentée par une ligne pointillée verticale</a:t>
            </a:r>
          </a:p>
          <a:p>
            <a:pPr lvl="1"/>
            <a:r>
              <a:rPr lang="fr-FR" altLang="fr-FR"/>
              <a:t>L’ordre horizontal n’a pas d’importance ni de signification</a:t>
            </a:r>
          </a:p>
          <a:p>
            <a:r>
              <a:rPr lang="fr-FR" altLang="fr-FR"/>
              <a:t>L’axe vertical du diagramme représente le temps</a:t>
            </a:r>
          </a:p>
          <a:p>
            <a:pPr lvl="1"/>
            <a:r>
              <a:rPr lang="fr-FR" altLang="fr-FR"/>
              <a:t>Le temps s’écoule du haut vers le bas</a:t>
            </a:r>
          </a:p>
          <a:p>
            <a:pPr lvl="1"/>
            <a:r>
              <a:rPr lang="fr-FR" altLang="fr-FR"/>
              <a:t>Habituellement seul l’ordre vertical est significatif, la distance verticale entre les messages n'a pas d'importance</a:t>
            </a:r>
          </a:p>
          <a:p>
            <a:pPr lvl="2"/>
            <a:r>
              <a:rPr lang="fr-FR" altLang="fr-FR"/>
              <a:t>Quand on décrit des séquences temps-réel, </a:t>
            </a:r>
            <a:br>
              <a:rPr lang="fr-FR" altLang="fr-FR"/>
            </a:br>
            <a:r>
              <a:rPr lang="fr-FR" altLang="fr-FR"/>
              <a:t>l’axe des temps peut être gradué</a:t>
            </a:r>
          </a:p>
        </p:txBody>
      </p:sp>
    </p:spTree>
    <p:extLst>
      <p:ext uri="{BB962C8B-B14F-4D97-AF65-F5344CB8AC3E}">
        <p14:creationId xmlns:p14="http://schemas.microsoft.com/office/powerpoint/2010/main" val="3804532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fr-FR" altLang="fr-FR"/>
              <a:t>Objets et temps : Exemple</a:t>
            </a:r>
          </a:p>
        </p:txBody>
      </p:sp>
      <p:pic>
        <p:nvPicPr>
          <p:cNvPr id="26629" name="Picture 5" descr="4-10"/>
          <p:cNvPicPr>
            <a:picLocks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754188" y="1708150"/>
            <a:ext cx="5818187" cy="3294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2103594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fr-FR" altLang="fr-FR"/>
              <a:t>Messages et stimulus</a:t>
            </a:r>
          </a:p>
        </p:txBody>
      </p:sp>
      <p:sp>
        <p:nvSpPr>
          <p:cNvPr id="28675" name="Rectangle 3"/>
          <p:cNvSpPr>
            <a:spLocks noGrp="1" noChangeArrowheads="1"/>
          </p:cNvSpPr>
          <p:nvPr>
            <p:ph type="body" idx="1"/>
          </p:nvPr>
        </p:nvSpPr>
        <p:spPr>
          <a:xfrm>
            <a:off x="279400" y="1312863"/>
            <a:ext cx="8599488" cy="3168650"/>
          </a:xfrm>
        </p:spPr>
        <p:txBody>
          <a:bodyPr/>
          <a:lstStyle/>
          <a:p>
            <a:r>
              <a:rPr lang="fr-FR" altLang="fr-FR"/>
              <a:t>Un diagramme de séquence montre les stimulus échangés entre instances</a:t>
            </a:r>
          </a:p>
          <a:p>
            <a:pPr lvl="1"/>
            <a:r>
              <a:rPr lang="fr-FR" altLang="fr-FR"/>
              <a:t>Un </a:t>
            </a:r>
            <a:r>
              <a:rPr lang="fr-FR" altLang="fr-FR" i="1">
                <a:latin typeface="Century Schoolbook" pitchFamily="18" charset="0"/>
              </a:rPr>
              <a:t>stimulus</a:t>
            </a:r>
            <a:r>
              <a:rPr lang="fr-FR" altLang="fr-FR"/>
              <a:t> est une instance de </a:t>
            </a:r>
            <a:r>
              <a:rPr lang="fr-FR" altLang="fr-FR" i="1">
                <a:latin typeface="Century Schoolbook" pitchFamily="18" charset="0"/>
              </a:rPr>
              <a:t>message</a:t>
            </a:r>
            <a:endParaRPr lang="fr-FR" altLang="fr-FR"/>
          </a:p>
          <a:p>
            <a:pPr lvl="1"/>
            <a:r>
              <a:rPr lang="fr-FR" altLang="fr-FR"/>
              <a:t>Les stimulus sont représentés par des flèches entre les lignes de vie des objets</a:t>
            </a:r>
          </a:p>
          <a:p>
            <a:pPr lvl="1"/>
            <a:r>
              <a:rPr lang="fr-FR" altLang="fr-FR"/>
              <a:t>La flèche est étiquetée avec le nom du message et ses paramètres</a:t>
            </a:r>
          </a:p>
          <a:p>
            <a:pPr lvl="1"/>
            <a:r>
              <a:rPr lang="fr-FR" altLang="fr-FR"/>
              <a:t>L’arrivée d’un stimulus sur un objet est appelée un </a:t>
            </a:r>
            <a:r>
              <a:rPr lang="fr-FR" altLang="fr-FR" i="1">
                <a:latin typeface="Century Schoolbook" pitchFamily="18" charset="0"/>
              </a:rPr>
              <a:t>événement</a:t>
            </a:r>
          </a:p>
          <a:p>
            <a:r>
              <a:rPr lang="fr-FR" altLang="fr-FR"/>
              <a:t>La période sur la ligne de vie, durant laquelle un objet est actif est représentée par un rectangle appelé une </a:t>
            </a:r>
            <a:r>
              <a:rPr lang="fr-FR" altLang="fr-FR" i="1">
                <a:latin typeface="Century Schoolbook" pitchFamily="18" charset="0"/>
              </a:rPr>
              <a:t>activation</a:t>
            </a:r>
            <a:endParaRPr lang="fr-FR" altLang="fr-FR" i="1"/>
          </a:p>
          <a:p>
            <a:pPr lvl="1"/>
            <a:r>
              <a:rPr lang="fr-FR" altLang="fr-FR"/>
              <a:t>Un </a:t>
            </a:r>
            <a:r>
              <a:rPr lang="fr-FR" altLang="fr-FR" i="1">
                <a:latin typeface="Century Schoolbook" pitchFamily="18" charset="0"/>
              </a:rPr>
              <a:t>objet passif</a:t>
            </a:r>
            <a:r>
              <a:rPr lang="fr-FR" altLang="fr-FR"/>
              <a:t> est actif uniquement durant le traitement d’un événement</a:t>
            </a:r>
          </a:p>
          <a:p>
            <a:pPr lvl="1"/>
            <a:r>
              <a:rPr lang="fr-FR" altLang="fr-FR"/>
              <a:t>Un </a:t>
            </a:r>
            <a:r>
              <a:rPr lang="fr-FR" altLang="fr-FR" i="1">
                <a:latin typeface="Century Schoolbook" pitchFamily="18" charset="0"/>
              </a:rPr>
              <a:t>objet actif</a:t>
            </a:r>
            <a:r>
              <a:rPr lang="fr-FR" altLang="fr-FR"/>
              <a:t> est actif pour toute sa durée de vie</a:t>
            </a:r>
          </a:p>
        </p:txBody>
      </p:sp>
    </p:spTree>
    <p:extLst>
      <p:ext uri="{BB962C8B-B14F-4D97-AF65-F5344CB8AC3E}">
        <p14:creationId xmlns:p14="http://schemas.microsoft.com/office/powerpoint/2010/main" val="11175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fr-FR" altLang="fr-FR"/>
              <a:t>Stimulus : Exemple</a:t>
            </a:r>
          </a:p>
        </p:txBody>
      </p:sp>
      <p:pic>
        <p:nvPicPr>
          <p:cNvPr id="30725" name="Picture 5" descr="4-12"/>
          <p:cNvPicPr>
            <a:picLocks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117725" y="1582738"/>
            <a:ext cx="5235575" cy="43116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638463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fr-FR" altLang="fr-FR"/>
              <a:t>Étiquettes de description</a:t>
            </a:r>
          </a:p>
        </p:txBody>
      </p:sp>
      <p:sp>
        <p:nvSpPr>
          <p:cNvPr id="32771" name="Rectangle 3"/>
          <p:cNvSpPr>
            <a:spLocks noGrp="1" noChangeArrowheads="1"/>
          </p:cNvSpPr>
          <p:nvPr>
            <p:ph type="body" idx="1"/>
          </p:nvPr>
        </p:nvSpPr>
        <p:spPr>
          <a:xfrm>
            <a:off x="279400" y="1312863"/>
            <a:ext cx="8599488" cy="2568575"/>
          </a:xfrm>
        </p:spPr>
        <p:txBody>
          <a:bodyPr/>
          <a:lstStyle/>
          <a:p>
            <a:r>
              <a:rPr lang="fr-FR" altLang="fr-FR"/>
              <a:t>Des étiquettes de description peuvent être placées dans la marge du diagramme</a:t>
            </a:r>
          </a:p>
          <a:p>
            <a:pPr lvl="1"/>
            <a:r>
              <a:rPr lang="fr-FR" altLang="fr-FR"/>
              <a:t>Utile quand le diagramme décrit une interaction de cas d’utilisation</a:t>
            </a:r>
          </a:p>
          <a:p>
            <a:pPr lvl="2"/>
            <a:r>
              <a:rPr lang="fr-FR" altLang="fr-FR"/>
              <a:t>Reprend la description contenue dans le modèle de cas d’utilisation</a:t>
            </a:r>
          </a:p>
          <a:p>
            <a:pPr lvl="1"/>
            <a:r>
              <a:rPr lang="fr-FR" altLang="fr-FR"/>
              <a:t>Une chronologie et d’autres étiquettes sont </a:t>
            </a:r>
            <a:br>
              <a:rPr lang="fr-FR" altLang="fr-FR"/>
            </a:br>
            <a:r>
              <a:rPr lang="fr-FR" altLang="fr-FR"/>
              <a:t>utilisées pour les diagrammes temps-réel</a:t>
            </a:r>
          </a:p>
          <a:p>
            <a:r>
              <a:rPr lang="fr-FR" altLang="fr-FR"/>
              <a:t>Des notes UML peuvent également être attachées</a:t>
            </a:r>
          </a:p>
          <a:p>
            <a:pPr lvl="1"/>
            <a:r>
              <a:rPr lang="fr-FR" altLang="fr-FR"/>
              <a:t>Comme sur tous les diagrammes</a:t>
            </a:r>
          </a:p>
        </p:txBody>
      </p:sp>
    </p:spTree>
    <p:extLst>
      <p:ext uri="{BB962C8B-B14F-4D97-AF65-F5344CB8AC3E}">
        <p14:creationId xmlns:p14="http://schemas.microsoft.com/office/powerpoint/2010/main" val="984343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fr-FR" altLang="fr-FR"/>
              <a:t>Étiquettes de description : Exemple</a:t>
            </a:r>
          </a:p>
        </p:txBody>
      </p:sp>
      <p:pic>
        <p:nvPicPr>
          <p:cNvPr id="34824" name="Picture 8" descr="4-14"/>
          <p:cNvPicPr>
            <a:picLocks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366713" y="1477963"/>
            <a:ext cx="8183562" cy="47672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510062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fr-FR" altLang="fr-FR"/>
              <a:t>Flux procédural </a:t>
            </a:r>
          </a:p>
        </p:txBody>
      </p:sp>
      <p:sp>
        <p:nvSpPr>
          <p:cNvPr id="37891" name="Rectangle 3"/>
          <p:cNvSpPr>
            <a:spLocks noGrp="1" noChangeArrowheads="1"/>
          </p:cNvSpPr>
          <p:nvPr>
            <p:ph type="body" idx="1"/>
          </p:nvPr>
        </p:nvSpPr>
        <p:spPr>
          <a:xfrm>
            <a:off x="279400" y="1312863"/>
            <a:ext cx="8599488" cy="3824287"/>
          </a:xfrm>
        </p:spPr>
        <p:txBody>
          <a:bodyPr/>
          <a:lstStyle/>
          <a:p>
            <a:r>
              <a:rPr lang="fr-FR" altLang="fr-FR"/>
              <a:t>Un flux de messages est d’un des trois types suivants :</a:t>
            </a:r>
          </a:p>
          <a:p>
            <a:pPr lvl="1"/>
            <a:r>
              <a:rPr lang="fr-FR" altLang="fr-FR"/>
              <a:t>Asynchrone</a:t>
            </a:r>
          </a:p>
          <a:p>
            <a:pPr lvl="1"/>
            <a:r>
              <a:rPr lang="fr-FR" altLang="fr-FR"/>
              <a:t>Procédural</a:t>
            </a:r>
          </a:p>
          <a:p>
            <a:pPr lvl="1"/>
            <a:r>
              <a:rPr lang="fr-FR" altLang="fr-FR"/>
              <a:t>Retour de flot procédural</a:t>
            </a:r>
          </a:p>
          <a:p>
            <a:r>
              <a:rPr lang="fr-FR" altLang="fr-FR"/>
              <a:t>Le</a:t>
            </a:r>
            <a:r>
              <a:rPr lang="fr-FR" altLang="fr-FR">
                <a:latin typeface="Century Schoolbook" pitchFamily="18" charset="0"/>
              </a:rPr>
              <a:t> </a:t>
            </a:r>
            <a:r>
              <a:rPr lang="fr-FR" altLang="fr-FR" i="1">
                <a:latin typeface="Century Schoolbook" pitchFamily="18" charset="0"/>
              </a:rPr>
              <a:t>flux procédural</a:t>
            </a:r>
            <a:r>
              <a:rPr lang="fr-FR" altLang="fr-FR"/>
              <a:t> est représenté par une </a:t>
            </a:r>
            <a:r>
              <a:rPr lang="fr-FR" altLang="fr-FR" i="1">
                <a:latin typeface="Century Schoolbook" pitchFamily="18" charset="0"/>
              </a:rPr>
              <a:t>flèche pleine</a:t>
            </a:r>
            <a:endParaRPr lang="fr-FR" altLang="fr-FR" i="1"/>
          </a:p>
          <a:p>
            <a:r>
              <a:rPr lang="fr-FR" altLang="fr-FR"/>
              <a:t>Un message procédural invoque une opération sur l’objet cible</a:t>
            </a:r>
          </a:p>
          <a:p>
            <a:pPr lvl="1"/>
            <a:r>
              <a:rPr lang="fr-FR" altLang="fr-FR"/>
              <a:t>Un objet ne peut envoyer qu’un message procédural à la fois</a:t>
            </a:r>
          </a:p>
          <a:p>
            <a:pPr lvl="2"/>
            <a:r>
              <a:rPr lang="fr-FR" altLang="fr-FR"/>
              <a:t>L’activité est transférée à l’objet cible</a:t>
            </a:r>
          </a:p>
          <a:p>
            <a:pPr lvl="2"/>
            <a:r>
              <a:rPr lang="fr-FR" altLang="fr-FR"/>
              <a:t>L’expéditeur est bloqué jusqu’à ce qu’il reçoive un retour</a:t>
            </a:r>
          </a:p>
          <a:p>
            <a:r>
              <a:rPr lang="fr-FR" altLang="fr-FR"/>
              <a:t>Un retour de flux procédural est représenté par une </a:t>
            </a:r>
            <a:r>
              <a:rPr lang="fr-FR" altLang="fr-FR" i="1">
                <a:latin typeface="Century Schoolbook" pitchFamily="18" charset="0"/>
              </a:rPr>
              <a:t>flèche pointillée</a:t>
            </a:r>
            <a:endParaRPr lang="fr-FR" altLang="fr-FR" i="1"/>
          </a:p>
          <a:p>
            <a:pPr lvl="1"/>
            <a:r>
              <a:rPr lang="fr-FR" altLang="fr-FR"/>
              <a:t>Le retour peut être omis du diagramme, mais reste implicite</a:t>
            </a:r>
          </a:p>
        </p:txBody>
      </p:sp>
      <p:sp>
        <p:nvSpPr>
          <p:cNvPr id="37892" name="Line 4"/>
          <p:cNvSpPr>
            <a:spLocks noChangeShapeType="1"/>
          </p:cNvSpPr>
          <p:nvPr/>
        </p:nvSpPr>
        <p:spPr bwMode="auto">
          <a:xfrm>
            <a:off x="6934200" y="2895600"/>
            <a:ext cx="609600" cy="0"/>
          </a:xfrm>
          <a:prstGeom prst="line">
            <a:avLst/>
          </a:prstGeom>
          <a:noFill/>
          <a:ln w="127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fr-FR"/>
          </a:p>
        </p:txBody>
      </p:sp>
      <p:sp>
        <p:nvSpPr>
          <p:cNvPr id="37893" name="Line 5"/>
          <p:cNvSpPr>
            <a:spLocks noChangeShapeType="1"/>
          </p:cNvSpPr>
          <p:nvPr/>
        </p:nvSpPr>
        <p:spPr bwMode="auto">
          <a:xfrm>
            <a:off x="8229600" y="4648200"/>
            <a:ext cx="533400" cy="0"/>
          </a:xfrm>
          <a:prstGeom prst="line">
            <a:avLst/>
          </a:prstGeom>
          <a:noFill/>
          <a:ln w="12700">
            <a:solidFill>
              <a:schemeClr val="tx1"/>
            </a:solidFill>
            <a:prstDash val="dash"/>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fr-FR"/>
          </a:p>
        </p:txBody>
      </p:sp>
    </p:spTree>
    <p:extLst>
      <p:ext uri="{BB962C8B-B14F-4D97-AF65-F5344CB8AC3E}">
        <p14:creationId xmlns:p14="http://schemas.microsoft.com/office/powerpoint/2010/main" val="1544562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fr-FR" altLang="fr-FR"/>
              <a:t>Flux asynchrone </a:t>
            </a:r>
          </a:p>
        </p:txBody>
      </p:sp>
      <p:sp>
        <p:nvSpPr>
          <p:cNvPr id="39939" name="Rectangle 3"/>
          <p:cNvSpPr>
            <a:spLocks noGrp="1" noChangeArrowheads="1"/>
          </p:cNvSpPr>
          <p:nvPr>
            <p:ph type="body" idx="1"/>
          </p:nvPr>
        </p:nvSpPr>
        <p:spPr>
          <a:xfrm>
            <a:off x="279400" y="1312863"/>
            <a:ext cx="8599488" cy="2744341"/>
          </a:xfrm>
        </p:spPr>
        <p:txBody>
          <a:bodyPr/>
          <a:lstStyle/>
          <a:p>
            <a:r>
              <a:rPr lang="fr-FR" altLang="fr-FR" dirty="0"/>
              <a:t>Un</a:t>
            </a:r>
            <a:r>
              <a:rPr lang="fr-FR" altLang="fr-FR" dirty="0">
                <a:latin typeface="Century Schoolbook" pitchFamily="18" charset="0"/>
              </a:rPr>
              <a:t> </a:t>
            </a:r>
            <a:r>
              <a:rPr lang="fr-FR" altLang="fr-FR" i="1" dirty="0">
                <a:latin typeface="Century Schoolbook" pitchFamily="18" charset="0"/>
              </a:rPr>
              <a:t>flux asynchrone</a:t>
            </a:r>
            <a:r>
              <a:rPr lang="fr-FR" altLang="fr-FR" dirty="0"/>
              <a:t> est représenté par une </a:t>
            </a:r>
            <a:r>
              <a:rPr lang="fr-FR" altLang="fr-FR" i="1" dirty="0">
                <a:latin typeface="Century Schoolbook" pitchFamily="18" charset="0"/>
              </a:rPr>
              <a:t>flèche simple</a:t>
            </a:r>
          </a:p>
          <a:p>
            <a:pPr lvl="1"/>
            <a:r>
              <a:rPr lang="fr-FR" altLang="fr-FR" dirty="0"/>
              <a:t>Un message asynchrone est aussi appelé </a:t>
            </a:r>
            <a:r>
              <a:rPr lang="fr-FR" altLang="fr-FR" i="1" dirty="0">
                <a:latin typeface="Century Schoolbook" pitchFamily="18" charset="0"/>
              </a:rPr>
              <a:t>signal</a:t>
            </a:r>
          </a:p>
          <a:p>
            <a:pPr>
              <a:buFont typeface="Arial" panose="020B0604020202020204" pitchFamily="34" charset="0"/>
              <a:buNone/>
            </a:pPr>
            <a:r>
              <a:rPr lang="fr-FR" altLang="fr-FR" dirty="0"/>
              <a:t>	</a:t>
            </a:r>
            <a:r>
              <a:rPr lang="fr-FR" altLang="fr-FR" dirty="0" smtClean="0"/>
              <a:t>Après </a:t>
            </a:r>
            <a:r>
              <a:rPr lang="fr-FR" altLang="fr-FR" dirty="0"/>
              <a:t>l’envoi d’un signal, un objet peut continuer son propre traitement</a:t>
            </a:r>
          </a:p>
          <a:p>
            <a:pPr lvl="1"/>
            <a:r>
              <a:rPr lang="fr-FR" altLang="fr-FR" dirty="0"/>
              <a:t>Ceci implique la mise en parallèle des traitements</a:t>
            </a:r>
          </a:p>
          <a:p>
            <a:r>
              <a:rPr lang="fr-FR" altLang="fr-FR" dirty="0"/>
              <a:t>Un objet peut envoyer de nombreux signaux simultanément, mais ne peut accepter qu’un signal à la fois</a:t>
            </a:r>
          </a:p>
          <a:p>
            <a:pPr lvl="1"/>
            <a:r>
              <a:rPr lang="fr-FR" altLang="fr-FR" dirty="0"/>
              <a:t>Le comportement lors de l’arrivée simultanée d’événements n’est pas spécifié</a:t>
            </a:r>
          </a:p>
        </p:txBody>
      </p:sp>
      <p:sp>
        <p:nvSpPr>
          <p:cNvPr id="39942" name="Line 6"/>
          <p:cNvSpPr>
            <a:spLocks noChangeShapeType="1"/>
          </p:cNvSpPr>
          <p:nvPr/>
        </p:nvSpPr>
        <p:spPr bwMode="auto">
          <a:xfrm>
            <a:off x="7162800" y="1524000"/>
            <a:ext cx="533400" cy="0"/>
          </a:xfrm>
          <a:prstGeom prst="line">
            <a:avLst/>
          </a:prstGeom>
          <a:noFill/>
          <a:ln w="1270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fr-FR"/>
          </a:p>
        </p:txBody>
      </p:sp>
    </p:spTree>
    <p:extLst>
      <p:ext uri="{BB962C8B-B14F-4D97-AF65-F5344CB8AC3E}">
        <p14:creationId xmlns:p14="http://schemas.microsoft.com/office/powerpoint/2010/main" val="14552598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fr-FR" altLang="fr-FR"/>
              <a:t>Flux procéduraux et asynchrones</a:t>
            </a:r>
          </a:p>
        </p:txBody>
      </p:sp>
      <p:pic>
        <p:nvPicPr>
          <p:cNvPr id="41990" name="Picture 6" descr="4-18"/>
          <p:cNvPicPr>
            <a:picLocks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916113" y="1571625"/>
            <a:ext cx="5178425" cy="42513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8856667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fr-FR" altLang="fr-FR"/>
              <a:t>Création d’objets</a:t>
            </a:r>
          </a:p>
        </p:txBody>
      </p:sp>
      <p:sp>
        <p:nvSpPr>
          <p:cNvPr id="44035" name="Rectangle 3"/>
          <p:cNvSpPr>
            <a:spLocks noGrp="1" noChangeArrowheads="1"/>
          </p:cNvSpPr>
          <p:nvPr>
            <p:ph type="body" idx="1"/>
          </p:nvPr>
        </p:nvSpPr>
        <p:spPr>
          <a:xfrm>
            <a:off x="279400" y="1312863"/>
            <a:ext cx="8599488" cy="2293937"/>
          </a:xfrm>
        </p:spPr>
        <p:txBody>
          <a:bodyPr/>
          <a:lstStyle/>
          <a:p>
            <a:r>
              <a:rPr lang="fr-FR" altLang="fr-FR"/>
              <a:t>Les objets peuvent être créés au cours de la séquence modélisée</a:t>
            </a:r>
          </a:p>
          <a:p>
            <a:pPr lvl="1"/>
            <a:r>
              <a:rPr lang="fr-FR" altLang="fr-FR"/>
              <a:t>L’objet est placé au bout de la flèche représentant le message qui le crée</a:t>
            </a:r>
          </a:p>
          <a:p>
            <a:pPr lvl="1"/>
            <a:r>
              <a:rPr lang="fr-FR" altLang="fr-FR"/>
              <a:t>Les objets sont créés par des opérations de portée classe</a:t>
            </a:r>
          </a:p>
          <a:p>
            <a:pPr lvl="2"/>
            <a:r>
              <a:rPr lang="fr-FR" altLang="fr-FR"/>
              <a:t>Équivalentes aux constructeurs en Java ou C++</a:t>
            </a:r>
          </a:p>
          <a:p>
            <a:r>
              <a:rPr lang="fr-FR" altLang="fr-FR"/>
              <a:t>Les objets qui existent avant le début de la séquence sont représentés dans la partie haute du diagramme</a:t>
            </a:r>
          </a:p>
          <a:p>
            <a:pPr lvl="1"/>
            <a:r>
              <a:rPr lang="fr-FR" altLang="fr-FR"/>
              <a:t>Comme dans les diagrammes que nous avons vus jusqu'à présent</a:t>
            </a:r>
          </a:p>
        </p:txBody>
      </p:sp>
    </p:spTree>
    <p:extLst>
      <p:ext uri="{BB962C8B-B14F-4D97-AF65-F5344CB8AC3E}">
        <p14:creationId xmlns:p14="http://schemas.microsoft.com/office/powerpoint/2010/main" val="42229532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fr-FR" altLang="fr-FR"/>
              <a:t>Création d’objets : Exemple</a:t>
            </a:r>
          </a:p>
        </p:txBody>
      </p:sp>
      <p:pic>
        <p:nvPicPr>
          <p:cNvPr id="46086" name="Picture 6" descr="4-20"/>
          <p:cNvPicPr>
            <a:picLocks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947738" y="1374775"/>
            <a:ext cx="7326312" cy="47767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9250811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fr-FR" altLang="fr-FR"/>
              <a:t>Destruction d’objets</a:t>
            </a:r>
          </a:p>
        </p:txBody>
      </p:sp>
      <p:sp>
        <p:nvSpPr>
          <p:cNvPr id="47107" name="Rectangle 3"/>
          <p:cNvSpPr>
            <a:spLocks noGrp="1" noChangeArrowheads="1"/>
          </p:cNvSpPr>
          <p:nvPr>
            <p:ph type="body" idx="1"/>
          </p:nvPr>
        </p:nvSpPr>
        <p:spPr>
          <a:xfrm>
            <a:off x="279400" y="1312863"/>
            <a:ext cx="8599488" cy="966787"/>
          </a:xfrm>
        </p:spPr>
        <p:txBody>
          <a:bodyPr/>
          <a:lstStyle/>
          <a:p>
            <a:r>
              <a:rPr lang="fr-FR" altLang="fr-FR"/>
              <a:t>Les objets peuvent être détruits au cours de la séquence modélisée</a:t>
            </a:r>
          </a:p>
          <a:p>
            <a:pPr lvl="1"/>
            <a:r>
              <a:rPr lang="fr-FR" altLang="fr-FR"/>
              <a:t>Une croix est placée à la fin de l’activation dans laquelle l’objet est détruit</a:t>
            </a:r>
          </a:p>
          <a:p>
            <a:pPr lvl="1"/>
            <a:r>
              <a:rPr lang="fr-FR" altLang="fr-FR"/>
              <a:t>La ligne de vie et l’activation se terminent à cet endroit</a:t>
            </a:r>
          </a:p>
        </p:txBody>
      </p:sp>
    </p:spTree>
    <p:extLst>
      <p:ext uri="{BB962C8B-B14F-4D97-AF65-F5344CB8AC3E}">
        <p14:creationId xmlns:p14="http://schemas.microsoft.com/office/powerpoint/2010/main" val="6446930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fr-FR" altLang="fr-FR"/>
              <a:t>Destruction d’objets : Exemple</a:t>
            </a:r>
          </a:p>
        </p:txBody>
      </p:sp>
      <p:pic>
        <p:nvPicPr>
          <p:cNvPr id="49166" name="Picture 14" descr="4-22"/>
          <p:cNvPicPr>
            <a:picLocks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271588" y="1917700"/>
            <a:ext cx="6823075" cy="36560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9371464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p:txBody>
          <a:bodyPr/>
          <a:lstStyle/>
          <a:p>
            <a:r>
              <a:rPr lang="fr-FR" altLang="fr-FR"/>
              <a:t>Messages perdus et trouvés</a:t>
            </a:r>
            <a:endParaRPr lang="en-US" altLang="fr-FR"/>
          </a:p>
        </p:txBody>
      </p:sp>
      <p:sp>
        <p:nvSpPr>
          <p:cNvPr id="210947" name="Rectangle 3"/>
          <p:cNvSpPr>
            <a:spLocks noGrp="1" noChangeArrowheads="1"/>
          </p:cNvSpPr>
          <p:nvPr>
            <p:ph type="body" idx="1"/>
          </p:nvPr>
        </p:nvSpPr>
        <p:spPr>
          <a:xfrm>
            <a:off x="279400" y="1312863"/>
            <a:ext cx="8599488" cy="1968500"/>
          </a:xfrm>
        </p:spPr>
        <p:txBody>
          <a:bodyPr/>
          <a:lstStyle/>
          <a:p>
            <a:r>
              <a:rPr lang="fr-FR" altLang="fr-FR"/>
              <a:t>Un </a:t>
            </a:r>
            <a:r>
              <a:rPr lang="fr-FR" altLang="fr-FR" i="1">
                <a:latin typeface="Century Schoolbook" pitchFamily="18" charset="0"/>
              </a:rPr>
              <a:t>message perdu</a:t>
            </a:r>
            <a:r>
              <a:rPr lang="fr-FR" altLang="fr-FR"/>
              <a:t> est un message dont la classe destinataire est inconnue ou n’est pas importante</a:t>
            </a:r>
          </a:p>
          <a:p>
            <a:pPr lvl="1"/>
            <a:r>
              <a:rPr lang="fr-FR" altLang="fr-FR"/>
              <a:t>Le message arrive sur un </a:t>
            </a:r>
            <a:r>
              <a:rPr lang="fr-FR" altLang="fr-FR" i="1">
                <a:latin typeface="Century Schoolbook" pitchFamily="18" charset="0"/>
              </a:rPr>
              <a:t>point</a:t>
            </a:r>
            <a:r>
              <a:rPr lang="fr-FR" altLang="fr-FR"/>
              <a:t> (</a:t>
            </a:r>
            <a:r>
              <a:rPr lang="fr-FR" altLang="fr-FR">
                <a:latin typeface="Times New Roman" panose="02020603050405020304" pitchFamily="18" charset="0"/>
              </a:rPr>
              <a:t>end point</a:t>
            </a:r>
            <a:r>
              <a:rPr lang="fr-FR" altLang="fr-FR"/>
              <a:t>) plutôt que sur une ligne de vie</a:t>
            </a:r>
          </a:p>
          <a:p>
            <a:r>
              <a:rPr lang="fr-FR" altLang="fr-FR"/>
              <a:t>Un </a:t>
            </a:r>
            <a:r>
              <a:rPr lang="fr-FR" altLang="fr-FR" i="1">
                <a:latin typeface="Century Schoolbook" pitchFamily="18" charset="0"/>
              </a:rPr>
              <a:t>message trouvé</a:t>
            </a:r>
            <a:r>
              <a:rPr lang="fr-FR" altLang="fr-FR"/>
              <a:t> est un message dont la classe expéditrice est inconnue ou n’est pas importante</a:t>
            </a:r>
          </a:p>
          <a:p>
            <a:pPr lvl="1"/>
            <a:r>
              <a:rPr lang="fr-FR" altLang="fr-FR"/>
              <a:t>Le message est issu d’un </a:t>
            </a:r>
            <a:r>
              <a:rPr lang="fr-FR" altLang="fr-FR" i="1">
                <a:latin typeface="Century Schoolbook" pitchFamily="18" charset="0"/>
              </a:rPr>
              <a:t>point</a:t>
            </a:r>
            <a:r>
              <a:rPr lang="fr-FR" altLang="fr-FR"/>
              <a:t> (</a:t>
            </a:r>
            <a:r>
              <a:rPr lang="fr-FR" altLang="fr-FR">
                <a:latin typeface="Times New Roman" panose="02020603050405020304" pitchFamily="18" charset="0"/>
              </a:rPr>
              <a:t>end point</a:t>
            </a:r>
            <a:r>
              <a:rPr lang="fr-FR" altLang="fr-FR"/>
              <a:t>) plutôt que d’une ligne de vie</a:t>
            </a:r>
            <a:endParaRPr lang="en-US" altLang="fr-FR"/>
          </a:p>
        </p:txBody>
      </p:sp>
    </p:spTree>
    <p:extLst>
      <p:ext uri="{BB962C8B-B14F-4D97-AF65-F5344CB8AC3E}">
        <p14:creationId xmlns:p14="http://schemas.microsoft.com/office/powerpoint/2010/main" val="33412673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p:txBody>
          <a:bodyPr/>
          <a:lstStyle/>
          <a:p>
            <a:r>
              <a:rPr lang="fr-FR" altLang="fr-FR"/>
              <a:t>Messages perdus et trouvés : Exemple</a:t>
            </a:r>
            <a:endParaRPr lang="en-US" altLang="fr-FR"/>
          </a:p>
        </p:txBody>
      </p:sp>
      <p:pic>
        <p:nvPicPr>
          <p:cNvPr id="211975" name="Picture 7" descr="4-24"/>
          <p:cNvPicPr>
            <a:picLocks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41463" y="1449388"/>
            <a:ext cx="6057900" cy="4581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1596557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fr-FR" altLang="fr-FR"/>
              <a:t>Concurrence</a:t>
            </a:r>
          </a:p>
        </p:txBody>
      </p:sp>
      <p:sp>
        <p:nvSpPr>
          <p:cNvPr id="53251" name="Rectangle 3"/>
          <p:cNvSpPr>
            <a:spLocks noGrp="1" noChangeArrowheads="1"/>
          </p:cNvSpPr>
          <p:nvPr>
            <p:ph type="body" idx="1"/>
          </p:nvPr>
        </p:nvSpPr>
        <p:spPr>
          <a:xfrm>
            <a:off x="279400" y="1312863"/>
            <a:ext cx="8599488" cy="2843212"/>
          </a:xfrm>
        </p:spPr>
        <p:txBody>
          <a:bodyPr/>
          <a:lstStyle/>
          <a:p>
            <a:r>
              <a:rPr lang="fr-FR" altLang="fr-FR"/>
              <a:t>UML utilise le terme </a:t>
            </a:r>
            <a:r>
              <a:rPr lang="fr-FR" altLang="fr-FR" b="0" i="1">
                <a:latin typeface="Century Schoolbook" pitchFamily="18" charset="0"/>
              </a:rPr>
              <a:t>concurrence</a:t>
            </a:r>
            <a:r>
              <a:rPr lang="fr-FR" altLang="fr-FR"/>
              <a:t> pour décrire différentes situations dans lesquelles plus d’une chose peut advenir</a:t>
            </a:r>
          </a:p>
          <a:p>
            <a:pPr lvl="1"/>
            <a:r>
              <a:rPr lang="fr-FR" altLang="fr-FR"/>
              <a:t>La récursion</a:t>
            </a:r>
          </a:p>
          <a:p>
            <a:pPr lvl="1"/>
            <a:r>
              <a:rPr lang="fr-FR" altLang="fr-FR"/>
              <a:t>Le branchement et la convergence</a:t>
            </a:r>
          </a:p>
          <a:p>
            <a:pPr lvl="1"/>
            <a:r>
              <a:rPr lang="fr-FR" altLang="fr-FR"/>
              <a:t>Le branchement conditionnel</a:t>
            </a:r>
          </a:p>
          <a:p>
            <a:pPr lvl="1"/>
            <a:r>
              <a:rPr lang="fr-FR" altLang="fr-FR"/>
              <a:t>L’itération</a:t>
            </a:r>
          </a:p>
          <a:p>
            <a:r>
              <a:rPr lang="fr-FR" altLang="fr-FR"/>
              <a:t>Seul le cas du branchement et de la convergence correspond à une situation durant laquelle plusieurs choses se passent, réellement, au même moment (simultanéité)</a:t>
            </a:r>
          </a:p>
        </p:txBody>
      </p:sp>
    </p:spTree>
    <p:extLst>
      <p:ext uri="{BB962C8B-B14F-4D97-AF65-F5344CB8AC3E}">
        <p14:creationId xmlns:p14="http://schemas.microsoft.com/office/powerpoint/2010/main" val="25725191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fr-FR" altLang="fr-FR"/>
              <a:t>Récursion</a:t>
            </a:r>
          </a:p>
        </p:txBody>
      </p:sp>
      <p:sp>
        <p:nvSpPr>
          <p:cNvPr id="55299" name="Rectangle 3"/>
          <p:cNvSpPr>
            <a:spLocks noGrp="1" noChangeArrowheads="1"/>
          </p:cNvSpPr>
          <p:nvPr>
            <p:ph type="body" idx="1"/>
          </p:nvPr>
        </p:nvSpPr>
        <p:spPr>
          <a:xfrm>
            <a:off x="279400" y="1312863"/>
            <a:ext cx="8599488" cy="2120900"/>
          </a:xfrm>
        </p:spPr>
        <p:txBody>
          <a:bodyPr/>
          <a:lstStyle/>
          <a:p>
            <a:r>
              <a:rPr lang="fr-FR" altLang="fr-FR"/>
              <a:t>Un objet peut s’envoyer un message procédural à lui-même</a:t>
            </a:r>
          </a:p>
          <a:p>
            <a:pPr lvl="1"/>
            <a:r>
              <a:rPr lang="fr-FR" altLang="fr-FR"/>
              <a:t>Ceci s’appelle la </a:t>
            </a:r>
            <a:r>
              <a:rPr lang="fr-FR" altLang="fr-FR" i="1">
                <a:latin typeface="Century Schoolbook" pitchFamily="18" charset="0"/>
              </a:rPr>
              <a:t>récursion</a:t>
            </a:r>
            <a:endParaRPr lang="fr-FR" altLang="fr-FR"/>
          </a:p>
          <a:p>
            <a:r>
              <a:rPr lang="fr-FR" altLang="fr-FR"/>
              <a:t>La récursion est représentée en surimposant une activation décalée</a:t>
            </a:r>
          </a:p>
          <a:p>
            <a:r>
              <a:rPr lang="fr-FR" altLang="fr-FR"/>
              <a:t>Par exemple, supposons que dans la classe caissier, l’opération publique </a:t>
            </a:r>
            <a:r>
              <a:rPr lang="fr-FR" altLang="fr-FR">
                <a:latin typeface="Courier New" panose="02070309020205020404" pitchFamily="49" charset="0"/>
              </a:rPr>
              <a:t>clore()</a:t>
            </a:r>
            <a:r>
              <a:rPr lang="fr-FR" altLang="fr-FR"/>
              <a:t> appelle l’opération privée </a:t>
            </a:r>
            <a:r>
              <a:rPr lang="fr-FR" altLang="fr-FR">
                <a:latin typeface="Courier New" panose="02070309020205020404" pitchFamily="49" charset="0"/>
              </a:rPr>
              <a:t>verifierCloture()</a:t>
            </a:r>
            <a:r>
              <a:rPr lang="fr-FR" altLang="fr-FR"/>
              <a:t> pour effectuer une partie du traitement</a:t>
            </a:r>
          </a:p>
        </p:txBody>
      </p:sp>
      <p:pic>
        <p:nvPicPr>
          <p:cNvPr id="55300" name="Picture 4" descr="Caissier_Class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4038600"/>
            <a:ext cx="3200400" cy="1647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12828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fr-FR" altLang="fr-FR"/>
              <a:t>Récursion : Exemple</a:t>
            </a:r>
          </a:p>
        </p:txBody>
      </p:sp>
      <p:pic>
        <p:nvPicPr>
          <p:cNvPr id="57352" name="Picture 8" descr="4-28"/>
          <p:cNvPicPr>
            <a:picLocks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893763" y="1300163"/>
            <a:ext cx="7165975" cy="49466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1066386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fr-FR" altLang="fr-FR"/>
              <a:t>Branchement et convergence</a:t>
            </a:r>
          </a:p>
        </p:txBody>
      </p:sp>
      <p:sp>
        <p:nvSpPr>
          <p:cNvPr id="59395" name="Rectangle 3"/>
          <p:cNvSpPr>
            <a:spLocks noGrp="1" noChangeArrowheads="1"/>
          </p:cNvSpPr>
          <p:nvPr>
            <p:ph type="body" idx="1"/>
          </p:nvPr>
        </p:nvSpPr>
        <p:spPr>
          <a:xfrm>
            <a:off x="279400" y="1312863"/>
            <a:ext cx="8599488" cy="4195762"/>
          </a:xfrm>
        </p:spPr>
        <p:txBody>
          <a:bodyPr/>
          <a:lstStyle/>
          <a:p>
            <a:r>
              <a:rPr lang="fr-FR" altLang="fr-FR"/>
              <a:t>Le</a:t>
            </a:r>
            <a:r>
              <a:rPr lang="fr-FR" altLang="fr-FR">
                <a:latin typeface="Century Schoolbook" pitchFamily="18" charset="0"/>
              </a:rPr>
              <a:t> </a:t>
            </a:r>
            <a:r>
              <a:rPr lang="fr-FR" altLang="fr-FR" i="1">
                <a:latin typeface="Century Schoolbook" pitchFamily="18" charset="0"/>
              </a:rPr>
              <a:t>branchement</a:t>
            </a:r>
            <a:r>
              <a:rPr lang="fr-FR" altLang="fr-FR"/>
              <a:t> est représenté en utilisant un </a:t>
            </a:r>
            <a:r>
              <a:rPr lang="fr-FR" altLang="fr-FR" i="1">
                <a:latin typeface="Century Schoolbook" pitchFamily="18" charset="0"/>
              </a:rPr>
              <a:t>cadre d’interaction</a:t>
            </a:r>
            <a:r>
              <a:rPr lang="fr-FR" altLang="fr-FR"/>
              <a:t> (</a:t>
            </a:r>
            <a:r>
              <a:rPr lang="fr-FR" altLang="fr-FR">
                <a:latin typeface="Times New Roman" panose="02020603050405020304" pitchFamily="18" charset="0"/>
              </a:rPr>
              <a:t>interaction frame</a:t>
            </a:r>
            <a:r>
              <a:rPr lang="fr-FR" altLang="fr-FR"/>
              <a:t>) </a:t>
            </a:r>
          </a:p>
          <a:p>
            <a:pPr lvl="1"/>
            <a:r>
              <a:rPr lang="fr-FR" altLang="fr-FR"/>
              <a:t>Le mot-clé </a:t>
            </a:r>
            <a:r>
              <a:rPr lang="fr-FR" altLang="fr-FR">
                <a:latin typeface="Courier New" panose="02070309020205020404" pitchFamily="49" charset="0"/>
              </a:rPr>
              <a:t>par</a:t>
            </a:r>
            <a:r>
              <a:rPr lang="fr-FR" altLang="fr-FR"/>
              <a:t> indique que les </a:t>
            </a:r>
            <a:r>
              <a:rPr lang="fr-FR" altLang="fr-FR" i="1">
                <a:latin typeface="Century Schoolbook" pitchFamily="18" charset="0"/>
              </a:rPr>
              <a:t>fragments</a:t>
            </a:r>
            <a:r>
              <a:rPr lang="fr-FR" altLang="fr-FR"/>
              <a:t> dans ce cadre s’exécutent en parallèle</a:t>
            </a:r>
          </a:p>
          <a:p>
            <a:pPr lvl="1"/>
            <a:r>
              <a:rPr lang="fr-FR" altLang="fr-FR"/>
              <a:t>Chaque fragment est placé dans une </a:t>
            </a:r>
            <a:r>
              <a:rPr lang="fr-FR" altLang="fr-FR" i="1">
                <a:latin typeface="Century Schoolbook" pitchFamily="18" charset="0"/>
              </a:rPr>
              <a:t>région</a:t>
            </a:r>
            <a:r>
              <a:rPr lang="fr-FR" altLang="fr-FR"/>
              <a:t> du cadre</a:t>
            </a:r>
          </a:p>
          <a:p>
            <a:r>
              <a:rPr lang="fr-FR" altLang="fr-FR"/>
              <a:t>Ce cas peut arriver dans différentes circonstances</a:t>
            </a:r>
          </a:p>
          <a:p>
            <a:pPr lvl="1"/>
            <a:r>
              <a:rPr lang="fr-FR" altLang="fr-FR"/>
              <a:t>Un objet passif reçoit des messages procéduraux concurrents depuis plus d’un objet actif</a:t>
            </a:r>
          </a:p>
          <a:p>
            <a:pPr lvl="1"/>
            <a:r>
              <a:rPr lang="fr-FR" altLang="fr-FR"/>
              <a:t>Un objet actif reçoit des messages asynchrones concurrents</a:t>
            </a:r>
          </a:p>
          <a:p>
            <a:pPr lvl="1"/>
            <a:r>
              <a:rPr lang="fr-FR" altLang="fr-FR"/>
              <a:t>Un objet actif s’envoie lui-même un message asynchrone</a:t>
            </a:r>
          </a:p>
          <a:p>
            <a:pPr lvl="2"/>
            <a:r>
              <a:rPr lang="fr-FR" altLang="fr-FR"/>
              <a:t>Comme indiqué dans le diagramme suivant</a:t>
            </a:r>
          </a:p>
          <a:p>
            <a:r>
              <a:rPr lang="fr-FR" altLang="fr-FR"/>
              <a:t>Les branches parallèles peuvent éventuellement </a:t>
            </a:r>
            <a:r>
              <a:rPr lang="fr-FR" altLang="fr-FR" i="1">
                <a:latin typeface="Century Schoolbook" pitchFamily="18" charset="0"/>
              </a:rPr>
              <a:t>converger</a:t>
            </a:r>
            <a:endParaRPr lang="fr-FR" altLang="fr-FR" i="1"/>
          </a:p>
          <a:p>
            <a:pPr lvl="1"/>
            <a:r>
              <a:rPr lang="fr-FR" altLang="fr-FR"/>
              <a:t>Indiqué par la fin du cadre d’interaction</a:t>
            </a:r>
          </a:p>
        </p:txBody>
      </p:sp>
    </p:spTree>
    <p:extLst>
      <p:ext uri="{BB962C8B-B14F-4D97-AF65-F5344CB8AC3E}">
        <p14:creationId xmlns:p14="http://schemas.microsoft.com/office/powerpoint/2010/main" val="9365812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fr-FR" altLang="fr-FR"/>
              <a:t>Branchement et convergence : Exemple</a:t>
            </a:r>
          </a:p>
        </p:txBody>
      </p:sp>
      <p:pic>
        <p:nvPicPr>
          <p:cNvPr id="61452" name="Picture 12" descr="4-30"/>
          <p:cNvPicPr>
            <a:picLocks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73075" y="1185863"/>
            <a:ext cx="7394575" cy="5245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3800207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fr-FR" altLang="fr-FR"/>
              <a:t>Branchement conditionnel</a:t>
            </a:r>
          </a:p>
        </p:txBody>
      </p:sp>
      <p:sp>
        <p:nvSpPr>
          <p:cNvPr id="63491" name="Rectangle 3"/>
          <p:cNvSpPr>
            <a:spLocks noGrp="1" noChangeArrowheads="1"/>
          </p:cNvSpPr>
          <p:nvPr>
            <p:ph type="body" idx="1"/>
          </p:nvPr>
        </p:nvSpPr>
        <p:spPr>
          <a:xfrm>
            <a:off x="279400" y="1198563"/>
            <a:ext cx="8599488" cy="5192712"/>
          </a:xfrm>
        </p:spPr>
        <p:txBody>
          <a:bodyPr/>
          <a:lstStyle/>
          <a:p>
            <a:r>
              <a:rPr lang="fr-FR" altLang="fr-FR"/>
              <a:t>Les diagrammes de séquences peuvent montrer différentes séquences alternatives</a:t>
            </a:r>
          </a:p>
          <a:p>
            <a:pPr lvl="1"/>
            <a:r>
              <a:rPr lang="fr-FR" altLang="fr-FR"/>
              <a:t>Néanmoins, si un tel diagramme est trop complexe, il faut le découper en plusieurs diagrammes, chacun montrant une séquence différente</a:t>
            </a:r>
          </a:p>
          <a:p>
            <a:r>
              <a:rPr lang="fr-FR" altLang="fr-FR"/>
              <a:t>Les cadres d'interaction portant le mot-clé </a:t>
            </a:r>
            <a:r>
              <a:rPr lang="fr-FR" altLang="fr-FR" b="0">
                <a:latin typeface="Courier New" panose="02070309020205020404" pitchFamily="49" charset="0"/>
              </a:rPr>
              <a:t>alt</a:t>
            </a:r>
            <a:r>
              <a:rPr lang="fr-FR" altLang="fr-FR"/>
              <a:t> sont utilisés pour décrire les </a:t>
            </a:r>
            <a:r>
              <a:rPr lang="fr-FR" altLang="fr-FR" i="1">
                <a:latin typeface="Century Schoolbook" pitchFamily="18" charset="0"/>
              </a:rPr>
              <a:t>branchements conditionnels</a:t>
            </a:r>
            <a:endParaRPr lang="fr-FR" altLang="fr-FR"/>
          </a:p>
          <a:p>
            <a:pPr lvl="1"/>
            <a:r>
              <a:rPr lang="fr-FR" altLang="fr-FR"/>
              <a:t>Le cadre peut contenir plusieurs régions portant une </a:t>
            </a:r>
            <a:r>
              <a:rPr lang="fr-FR" altLang="fr-FR" i="1">
                <a:latin typeface="Century Schoolbook" pitchFamily="18" charset="0"/>
              </a:rPr>
              <a:t>condition de garde</a:t>
            </a:r>
            <a:r>
              <a:rPr lang="fr-FR" altLang="fr-FR"/>
              <a:t> </a:t>
            </a:r>
          </a:p>
          <a:p>
            <a:pPr lvl="2"/>
            <a:r>
              <a:rPr lang="fr-FR" altLang="fr-FR"/>
              <a:t>Modélise des « if </a:t>
            </a:r>
            <a:r>
              <a:rPr lang="fr-FR" altLang="fr-FR" i="1"/>
              <a:t>condition</a:t>
            </a:r>
            <a:r>
              <a:rPr lang="fr-FR" altLang="fr-FR"/>
              <a:t> then … else if </a:t>
            </a:r>
            <a:r>
              <a:rPr lang="fr-FR" altLang="fr-FR" i="1"/>
              <a:t>condition</a:t>
            </a:r>
            <a:r>
              <a:rPr lang="fr-FR" altLang="fr-FR"/>
              <a:t> then … else … »</a:t>
            </a:r>
          </a:p>
          <a:p>
            <a:pPr lvl="1"/>
            <a:r>
              <a:rPr lang="fr-FR" altLang="fr-FR"/>
              <a:t>S'il n'y a qu'une région, on peut utiliser le mot-clé</a:t>
            </a:r>
            <a:r>
              <a:rPr lang="fr-FR" altLang="fr-FR" i="1">
                <a:latin typeface="Century Schoolbook" pitchFamily="18" charset="0"/>
              </a:rPr>
              <a:t> </a:t>
            </a:r>
            <a:r>
              <a:rPr lang="fr-FR" altLang="fr-FR">
                <a:latin typeface="Courier New" panose="02070309020205020404" pitchFamily="49" charset="0"/>
              </a:rPr>
              <a:t>opt</a:t>
            </a:r>
          </a:p>
          <a:p>
            <a:pPr lvl="2"/>
            <a:r>
              <a:rPr lang="fr-FR" altLang="fr-FR"/>
              <a:t>Modélise des</a:t>
            </a:r>
            <a:r>
              <a:rPr lang="fr-FR" altLang="fr-FR">
                <a:latin typeface="Courier New" panose="02070309020205020404" pitchFamily="49" charset="0"/>
              </a:rPr>
              <a:t> </a:t>
            </a:r>
            <a:r>
              <a:rPr lang="fr-FR" altLang="fr-FR"/>
              <a:t>« if </a:t>
            </a:r>
            <a:r>
              <a:rPr lang="fr-FR" altLang="fr-FR" i="1"/>
              <a:t>condition</a:t>
            </a:r>
            <a:r>
              <a:rPr lang="fr-FR" altLang="fr-FR"/>
              <a:t> then ... »</a:t>
            </a:r>
          </a:p>
          <a:p>
            <a:r>
              <a:rPr lang="fr-FR" altLang="fr-FR"/>
              <a:t>Les cadres d'interaction peuvent être emboîtés les uns dans les autres</a:t>
            </a:r>
          </a:p>
          <a:p>
            <a:r>
              <a:rPr lang="fr-FR" altLang="fr-FR"/>
              <a:t>Avant UML 2.0, un branchement conditionnel était représenté par plus d’un message provenant du même point</a:t>
            </a:r>
          </a:p>
          <a:p>
            <a:pPr lvl="1"/>
            <a:r>
              <a:rPr lang="fr-FR" altLang="fr-FR"/>
              <a:t>Des conditions de garde</a:t>
            </a:r>
            <a:r>
              <a:rPr lang="fr-FR" altLang="fr-FR" i="1">
                <a:latin typeface="Century Schoolbook" pitchFamily="18" charset="0"/>
              </a:rPr>
              <a:t> </a:t>
            </a:r>
            <a:r>
              <a:rPr lang="fr-FR" altLang="fr-FR"/>
              <a:t>mutuellement</a:t>
            </a:r>
            <a:r>
              <a:rPr lang="fr-FR" altLang="fr-FR" i="1">
                <a:latin typeface="Century Schoolbook" pitchFamily="18" charset="0"/>
              </a:rPr>
              <a:t> </a:t>
            </a:r>
            <a:r>
              <a:rPr lang="fr-FR" altLang="fr-FR"/>
              <a:t>exclusives indiquaient l’alternative</a:t>
            </a:r>
          </a:p>
          <a:p>
            <a:pPr lvl="2"/>
            <a:r>
              <a:rPr lang="fr-FR" altLang="fr-FR" sz="1600">
                <a:latin typeface="Courier New" panose="02070309020205020404" pitchFamily="49" charset="0"/>
              </a:rPr>
              <a:t>[</a:t>
            </a:r>
            <a:r>
              <a:rPr lang="fr-FR" altLang="fr-FR" sz="1600" i="1">
                <a:latin typeface="Courier New" panose="02070309020205020404" pitchFamily="49" charset="0"/>
              </a:rPr>
              <a:t>condition-garde</a:t>
            </a:r>
            <a:r>
              <a:rPr lang="fr-FR" altLang="fr-FR" sz="1600">
                <a:latin typeface="Courier New" panose="02070309020205020404" pitchFamily="49" charset="0"/>
              </a:rPr>
              <a:t>] </a:t>
            </a:r>
            <a:r>
              <a:rPr lang="fr-FR" altLang="fr-FR" sz="1600" i="1">
                <a:latin typeface="Courier New" panose="02070309020205020404" pitchFamily="49" charset="0"/>
              </a:rPr>
              <a:t>valeur-retour</a:t>
            </a:r>
            <a:r>
              <a:rPr lang="fr-FR" altLang="fr-FR" sz="1600">
                <a:latin typeface="Courier New" panose="02070309020205020404" pitchFamily="49" charset="0"/>
              </a:rPr>
              <a:t>:= </a:t>
            </a:r>
            <a:r>
              <a:rPr lang="fr-FR" altLang="fr-FR" sz="1600" i="1">
                <a:latin typeface="Courier New" panose="02070309020205020404" pitchFamily="49" charset="0"/>
              </a:rPr>
              <a:t>nom-message </a:t>
            </a:r>
            <a:r>
              <a:rPr lang="fr-FR" altLang="fr-FR" sz="1600">
                <a:latin typeface="Courier New" panose="02070309020205020404" pitchFamily="49" charset="0"/>
              </a:rPr>
              <a:t>(</a:t>
            </a:r>
            <a:r>
              <a:rPr lang="fr-FR" altLang="fr-FR" sz="1600" i="1">
                <a:latin typeface="Courier New" panose="02070309020205020404" pitchFamily="49" charset="0"/>
              </a:rPr>
              <a:t>paramètres</a:t>
            </a:r>
            <a:r>
              <a:rPr lang="fr-FR" altLang="fr-FR" sz="1600">
                <a:latin typeface="Courier New" panose="02070309020205020404" pitchFamily="49" charset="0"/>
              </a:rPr>
              <a:t>)</a:t>
            </a:r>
          </a:p>
          <a:p>
            <a:pPr lvl="1"/>
            <a:r>
              <a:rPr lang="fr-FR" altLang="fr-FR"/>
              <a:t>Souvent difficile à lire et à comprendre</a:t>
            </a:r>
          </a:p>
        </p:txBody>
      </p:sp>
    </p:spTree>
    <p:extLst>
      <p:ext uri="{BB962C8B-B14F-4D97-AF65-F5344CB8AC3E}">
        <p14:creationId xmlns:p14="http://schemas.microsoft.com/office/powerpoint/2010/main" val="2281147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r>
              <a:rPr lang="fr-FR" altLang="fr-FR"/>
              <a:t>Branchement conditionnel : Exemple</a:t>
            </a:r>
          </a:p>
        </p:txBody>
      </p:sp>
      <p:pic>
        <p:nvPicPr>
          <p:cNvPr id="65555" name="Picture 19" descr="4-32"/>
          <p:cNvPicPr>
            <a:picLocks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395288" y="1312863"/>
            <a:ext cx="8453437" cy="4910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0567418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fr-FR" altLang="fr-FR"/>
              <a:t>L’itération</a:t>
            </a:r>
          </a:p>
        </p:txBody>
      </p:sp>
      <p:sp>
        <p:nvSpPr>
          <p:cNvPr id="67587" name="Rectangle 3"/>
          <p:cNvSpPr>
            <a:spLocks noGrp="1" noChangeArrowheads="1"/>
          </p:cNvSpPr>
          <p:nvPr>
            <p:ph type="body" idx="1"/>
          </p:nvPr>
        </p:nvSpPr>
        <p:spPr>
          <a:xfrm>
            <a:off x="279400" y="1312863"/>
            <a:ext cx="8599488" cy="2517775"/>
          </a:xfrm>
        </p:spPr>
        <p:txBody>
          <a:bodyPr/>
          <a:lstStyle/>
          <a:p>
            <a:r>
              <a:rPr lang="fr-FR" altLang="fr-FR"/>
              <a:t>Les boucles ou </a:t>
            </a:r>
            <a:r>
              <a:rPr lang="fr-FR" altLang="fr-FR" b="0" i="1">
                <a:latin typeface="Century Schoolbook" pitchFamily="18" charset="0"/>
              </a:rPr>
              <a:t>itérations</a:t>
            </a:r>
            <a:r>
              <a:rPr lang="fr-FR" altLang="fr-FR"/>
              <a:t> sont notées avec un cadre d'interaction portant le mot-clé </a:t>
            </a:r>
            <a:r>
              <a:rPr lang="fr-FR" altLang="fr-FR" b="0">
                <a:latin typeface="Courier New" panose="02070309020205020404" pitchFamily="49" charset="0"/>
              </a:rPr>
              <a:t>loop</a:t>
            </a:r>
            <a:endParaRPr lang="fr-FR" altLang="fr-FR" b="0"/>
          </a:p>
          <a:p>
            <a:pPr lvl="1"/>
            <a:r>
              <a:rPr lang="fr-FR" altLang="fr-FR" b="1"/>
              <a:t>Une condition de garde indique jusqu’à quand la boucle sera exécutée (</a:t>
            </a:r>
            <a:r>
              <a:rPr lang="fr-FR" altLang="fr-FR" b="1" i="1">
                <a:latin typeface="Century Schoolbook" pitchFamily="18" charset="0"/>
              </a:rPr>
              <a:t>condition de  continuation</a:t>
            </a:r>
            <a:r>
              <a:rPr lang="fr-FR" altLang="fr-FR" b="1"/>
              <a:t>)</a:t>
            </a:r>
          </a:p>
          <a:p>
            <a:pPr lvl="2"/>
            <a:r>
              <a:rPr lang="fr-FR" altLang="fr-FR" b="1"/>
              <a:t>La condition peut être placée soit en haut du cadre, soit en bas selon le moment où le test est fait</a:t>
            </a:r>
          </a:p>
          <a:p>
            <a:r>
              <a:rPr lang="fr-FR" altLang="fr-FR"/>
              <a:t>Exemple : détruire un compte peut conduire à l’effacement de toutes les transactions qui lui sont associées</a:t>
            </a:r>
          </a:p>
        </p:txBody>
      </p:sp>
    </p:spTree>
    <p:extLst>
      <p:ext uri="{BB962C8B-B14F-4D97-AF65-F5344CB8AC3E}">
        <p14:creationId xmlns:p14="http://schemas.microsoft.com/office/powerpoint/2010/main" val="6617351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fr-FR" altLang="fr-FR"/>
              <a:t>L’itération : Exemple</a:t>
            </a:r>
          </a:p>
        </p:txBody>
      </p:sp>
      <p:pic>
        <p:nvPicPr>
          <p:cNvPr id="69649" name="Picture 17" descr="4-34"/>
          <p:cNvPicPr>
            <a:picLocks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23863" y="1376363"/>
            <a:ext cx="8355012" cy="4810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7525247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fr-FR" altLang="fr-FR"/>
              <a:t>Buts et utilisations</a:t>
            </a:r>
          </a:p>
        </p:txBody>
      </p:sp>
      <p:sp>
        <p:nvSpPr>
          <p:cNvPr id="73731" name="Rectangle 3"/>
          <p:cNvSpPr>
            <a:spLocks noGrp="1" noChangeArrowheads="1"/>
          </p:cNvSpPr>
          <p:nvPr>
            <p:ph type="body" idx="1"/>
          </p:nvPr>
        </p:nvSpPr>
        <p:spPr>
          <a:xfrm>
            <a:off x="279400" y="1312863"/>
            <a:ext cx="8599488" cy="3544887"/>
          </a:xfrm>
        </p:spPr>
        <p:txBody>
          <a:bodyPr/>
          <a:lstStyle/>
          <a:p>
            <a:r>
              <a:rPr lang="fr-FR" altLang="fr-FR"/>
              <a:t>Les diagrammes de séquence sont utilisés pour représenter des interactions entre objets, en mettant l’accent sur l’ordonnancement des flux de messages</a:t>
            </a:r>
          </a:p>
          <a:p>
            <a:r>
              <a:rPr lang="fr-FR" altLang="fr-FR"/>
              <a:t>Utilisables à la fois en analyse et conception</a:t>
            </a:r>
          </a:p>
          <a:p>
            <a:pPr lvl="1"/>
            <a:r>
              <a:rPr lang="fr-FR" altLang="fr-FR"/>
              <a:t>Utiles pour décrire les processus métier dans lesquels des messages s’échangent entre collaborateurs</a:t>
            </a:r>
          </a:p>
          <a:p>
            <a:pPr lvl="1"/>
            <a:r>
              <a:rPr lang="fr-FR" altLang="fr-FR"/>
              <a:t>Utilisés pour clarifier les interactions complexes entre des objets de programmation</a:t>
            </a:r>
          </a:p>
          <a:p>
            <a:r>
              <a:rPr lang="fr-FR" altLang="fr-FR"/>
              <a:t>Utilisables pour identifier les classes réalisant un cas d’utilisation</a:t>
            </a:r>
          </a:p>
          <a:p>
            <a:pPr lvl="1"/>
            <a:r>
              <a:rPr lang="fr-FR" altLang="fr-FR"/>
              <a:t>Fournissent un pont entre les cas d’utilisation et les diagrammes de conception</a:t>
            </a:r>
          </a:p>
        </p:txBody>
      </p:sp>
    </p:spTree>
    <p:extLst>
      <p:ext uri="{BB962C8B-B14F-4D97-AF65-F5344CB8AC3E}">
        <p14:creationId xmlns:p14="http://schemas.microsoft.com/office/powerpoint/2010/main" val="7378645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r>
              <a:rPr lang="fr-FR" altLang="fr-FR"/>
              <a:t>Objets et interactions</a:t>
            </a:r>
          </a:p>
        </p:txBody>
      </p:sp>
      <p:sp>
        <p:nvSpPr>
          <p:cNvPr id="80899" name="Rectangle 3"/>
          <p:cNvSpPr>
            <a:spLocks noGrp="1" noChangeArrowheads="1"/>
          </p:cNvSpPr>
          <p:nvPr>
            <p:ph type="body" idx="1"/>
          </p:nvPr>
        </p:nvSpPr>
        <p:spPr>
          <a:xfrm>
            <a:off x="279400" y="1312863"/>
            <a:ext cx="8599488" cy="3844925"/>
          </a:xfrm>
        </p:spPr>
        <p:txBody>
          <a:bodyPr/>
          <a:lstStyle/>
          <a:p>
            <a:r>
              <a:rPr lang="fr-FR" altLang="fr-FR"/>
              <a:t>Un diagramme de communication présente un arrangement d’objets et de liens qui interagissent pour mettre en œuvre un comportement</a:t>
            </a:r>
          </a:p>
          <a:p>
            <a:pPr lvl="1"/>
            <a:r>
              <a:rPr lang="fr-FR" altLang="fr-FR"/>
              <a:t>Sa partie statique est un ensemble d’objets et de liens</a:t>
            </a:r>
          </a:p>
          <a:p>
            <a:r>
              <a:rPr lang="fr-FR" altLang="fr-FR"/>
              <a:t>Une </a:t>
            </a:r>
            <a:r>
              <a:rPr lang="fr-FR" altLang="fr-FR" i="1">
                <a:latin typeface="Century Schoolbook" pitchFamily="18" charset="0"/>
              </a:rPr>
              <a:t>interaction</a:t>
            </a:r>
            <a:r>
              <a:rPr lang="fr-FR" altLang="fr-FR"/>
              <a:t> est une spécification des messages envoyés entre objets pour réaliser le comportement</a:t>
            </a:r>
          </a:p>
          <a:p>
            <a:pPr lvl="1"/>
            <a:r>
              <a:rPr lang="fr-FR" altLang="fr-FR"/>
              <a:t>Les interactions représentent l’aspect dynamique</a:t>
            </a:r>
          </a:p>
          <a:p>
            <a:r>
              <a:rPr lang="fr-FR" altLang="fr-FR"/>
              <a:t>Un diagramme de communication décrit un ensemble d'objets et éventuellement une de ses interactions</a:t>
            </a:r>
          </a:p>
          <a:p>
            <a:pPr lvl="1"/>
            <a:r>
              <a:rPr lang="fr-FR" altLang="fr-FR"/>
              <a:t>Plusieurs diagrammes de communication peuvent être produits pour les différentes interactions d’un même ensemble d'objets</a:t>
            </a:r>
          </a:p>
          <a:p>
            <a:pPr lvl="1"/>
            <a:r>
              <a:rPr lang="fr-FR" altLang="fr-FR"/>
              <a:t>Un diagramme de communication qui ne montre aucune interaction est tout simplement un diagramme d’objets</a:t>
            </a:r>
          </a:p>
        </p:txBody>
      </p:sp>
    </p:spTree>
    <p:extLst>
      <p:ext uri="{BB962C8B-B14F-4D97-AF65-F5344CB8AC3E}">
        <p14:creationId xmlns:p14="http://schemas.microsoft.com/office/powerpoint/2010/main" val="23498729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fr-FR" altLang="fr-FR"/>
              <a:t>Diagramme de communication : Exemple montrant uniquement la partie statique </a:t>
            </a:r>
          </a:p>
        </p:txBody>
      </p:sp>
      <p:pic>
        <p:nvPicPr>
          <p:cNvPr id="82952" name="Picture 8" descr="4-40"/>
          <p:cNvPicPr>
            <a:picLocks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939800" y="1808163"/>
            <a:ext cx="7704138" cy="37830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21688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fr-FR" altLang="fr-FR"/>
              <a:t>Messages </a:t>
            </a:r>
          </a:p>
        </p:txBody>
      </p:sp>
      <p:sp>
        <p:nvSpPr>
          <p:cNvPr id="86019" name="Rectangle 3"/>
          <p:cNvSpPr>
            <a:spLocks noGrp="1" noChangeArrowheads="1"/>
          </p:cNvSpPr>
          <p:nvPr>
            <p:ph type="body" idx="1"/>
          </p:nvPr>
        </p:nvSpPr>
        <p:spPr>
          <a:xfrm>
            <a:off x="279400" y="1312863"/>
            <a:ext cx="8599488" cy="3697287"/>
          </a:xfrm>
        </p:spPr>
        <p:txBody>
          <a:bodyPr/>
          <a:lstStyle/>
          <a:p>
            <a:r>
              <a:rPr lang="fr-FR" altLang="fr-FR"/>
              <a:t>Sur les diagrammes de communication, les messages sont représentés par des flèches étiquetées le long des liens</a:t>
            </a:r>
          </a:p>
          <a:p>
            <a:r>
              <a:rPr lang="fr-FR" altLang="fr-FR"/>
              <a:t>Les conventions pour l’étiquetage des messages et la représentation des flèches sont identiques à celles des diagrammes de séquences</a:t>
            </a:r>
          </a:p>
          <a:p>
            <a:r>
              <a:rPr lang="fr-FR" altLang="fr-FR"/>
              <a:t>L’ordonnancement est indiqué par la numérotation des messages</a:t>
            </a:r>
          </a:p>
          <a:p>
            <a:pPr lvl="1"/>
            <a:r>
              <a:rPr lang="fr-FR" altLang="fr-FR"/>
              <a:t>L’emboîtement de séquences est indiqué par une numérotation hiérarchique séparée par des points (ex. : 1.1, 2.3.1)</a:t>
            </a:r>
          </a:p>
          <a:p>
            <a:r>
              <a:rPr lang="fr-FR" altLang="fr-FR"/>
              <a:t>Les conditions de garde sont indiquées comme elles l'étaient sur les diagrammes de séquences</a:t>
            </a:r>
          </a:p>
          <a:p>
            <a:pPr lvl="1"/>
            <a:r>
              <a:rPr lang="fr-FR" altLang="fr-FR"/>
              <a:t>Une condition d’itération est représentée par une condition de garde précédée par un astérisque</a:t>
            </a:r>
          </a:p>
        </p:txBody>
      </p:sp>
    </p:spTree>
    <p:extLst>
      <p:ext uri="{BB962C8B-B14F-4D97-AF65-F5344CB8AC3E}">
        <p14:creationId xmlns:p14="http://schemas.microsoft.com/office/powerpoint/2010/main" val="17227289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fr-FR" altLang="fr-FR"/>
              <a:t>Diagramme de communication : Exemple montrant des interactions</a:t>
            </a:r>
          </a:p>
        </p:txBody>
      </p:sp>
      <p:pic>
        <p:nvPicPr>
          <p:cNvPr id="88074" name="Picture 10" descr="4-43"/>
          <p:cNvPicPr>
            <a:picLocks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96850" y="1998663"/>
            <a:ext cx="8778875" cy="33147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0414022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fr-FR" altLang="fr-FR"/>
              <a:t>Création et destruction</a:t>
            </a:r>
          </a:p>
        </p:txBody>
      </p:sp>
      <p:sp>
        <p:nvSpPr>
          <p:cNvPr id="90115" name="Rectangle 3"/>
          <p:cNvSpPr>
            <a:spLocks noGrp="1" noChangeArrowheads="1"/>
          </p:cNvSpPr>
          <p:nvPr>
            <p:ph type="body" idx="1"/>
          </p:nvPr>
        </p:nvSpPr>
        <p:spPr>
          <a:xfrm>
            <a:off x="279400" y="1312863"/>
            <a:ext cx="8599488" cy="2113399"/>
          </a:xfrm>
        </p:spPr>
        <p:txBody>
          <a:bodyPr/>
          <a:lstStyle/>
          <a:p>
            <a:r>
              <a:rPr lang="fr-FR" altLang="fr-FR" dirty="0"/>
              <a:t>Un objet ou un lien qui est créé pendant l’interaction peut être étiqueté {new}</a:t>
            </a:r>
          </a:p>
          <a:p>
            <a:r>
              <a:rPr lang="fr-FR" altLang="fr-FR" dirty="0"/>
              <a:t>Un objet ou un lien qui est détruit pendant l’interaction peut être étiqueté {</a:t>
            </a:r>
            <a:r>
              <a:rPr lang="fr-FR" altLang="fr-FR" dirty="0" err="1"/>
              <a:t>destroyed</a:t>
            </a:r>
            <a:r>
              <a:rPr lang="fr-FR" altLang="fr-FR" dirty="0"/>
              <a:t>}</a:t>
            </a:r>
          </a:p>
          <a:p>
            <a:r>
              <a:rPr lang="fr-FR" altLang="fr-FR" dirty="0"/>
              <a:t>Un objet ou un lien qui est créé puis détruit pendant l’interaction peut être étiqueté {new </a:t>
            </a:r>
            <a:r>
              <a:rPr lang="fr-FR" altLang="fr-FR" dirty="0" err="1"/>
              <a:t>destroyed</a:t>
            </a:r>
            <a:r>
              <a:rPr lang="fr-FR" altLang="fr-FR" dirty="0"/>
              <a:t>} ou {</a:t>
            </a:r>
            <a:r>
              <a:rPr lang="fr-FR" altLang="fr-FR" dirty="0" err="1" smtClean="0"/>
              <a:t>transient</a:t>
            </a:r>
            <a:endParaRPr lang="fr-FR" altLang="fr-FR" dirty="0"/>
          </a:p>
        </p:txBody>
      </p:sp>
    </p:spTree>
    <p:extLst>
      <p:ext uri="{BB962C8B-B14F-4D97-AF65-F5344CB8AC3E}">
        <p14:creationId xmlns:p14="http://schemas.microsoft.com/office/powerpoint/2010/main" val="2741989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88900" y="152400"/>
            <a:ext cx="9055100" cy="725488"/>
          </a:xfrm>
        </p:spPr>
        <p:txBody>
          <a:bodyPr/>
          <a:lstStyle/>
          <a:p>
            <a:r>
              <a:rPr lang="fr-FR" altLang="fr-FR"/>
              <a:t>Diagramme de communication ou de séquence ?</a:t>
            </a:r>
          </a:p>
        </p:txBody>
      </p:sp>
      <p:sp>
        <p:nvSpPr>
          <p:cNvPr id="94211" name="Rectangle 3"/>
          <p:cNvSpPr>
            <a:spLocks noGrp="1" noChangeArrowheads="1"/>
          </p:cNvSpPr>
          <p:nvPr>
            <p:ph type="body" idx="1"/>
          </p:nvPr>
        </p:nvSpPr>
        <p:spPr>
          <a:xfrm>
            <a:off x="279400" y="1312863"/>
            <a:ext cx="8599488" cy="3224212"/>
          </a:xfrm>
        </p:spPr>
        <p:txBody>
          <a:bodyPr/>
          <a:lstStyle/>
          <a:p>
            <a:r>
              <a:rPr lang="fr-FR" altLang="fr-FR"/>
              <a:t>Les diagrammes de communication et de séquence sont isomorphiques</a:t>
            </a:r>
          </a:p>
          <a:p>
            <a:pPr lvl="1"/>
            <a:r>
              <a:rPr lang="fr-FR" altLang="fr-FR"/>
              <a:t>Ils présentent les mêmes informations sous des formes différentes </a:t>
            </a:r>
          </a:p>
          <a:p>
            <a:r>
              <a:rPr lang="fr-FR" altLang="fr-FR"/>
              <a:t>Les deux types de diagrammes présentent les éléments d’une interaction</a:t>
            </a:r>
          </a:p>
          <a:p>
            <a:pPr lvl="1"/>
            <a:r>
              <a:rPr lang="fr-FR" altLang="fr-FR"/>
              <a:t>Des objets et/ou des rôles</a:t>
            </a:r>
          </a:p>
          <a:p>
            <a:pPr lvl="1"/>
            <a:r>
              <a:rPr lang="fr-FR" altLang="fr-FR"/>
              <a:t>Des stimulus et/ou des messages</a:t>
            </a:r>
          </a:p>
          <a:p>
            <a:r>
              <a:rPr lang="fr-FR" altLang="fr-FR"/>
              <a:t>Un diagramme de séquence possède un axe temporel explicite</a:t>
            </a:r>
          </a:p>
          <a:p>
            <a:pPr lvl="1"/>
            <a:r>
              <a:rPr lang="fr-FR" altLang="fr-FR"/>
              <a:t>Un diagramme de communications utilise une numérotation des messages</a:t>
            </a:r>
          </a:p>
          <a:p>
            <a:r>
              <a:rPr lang="fr-FR" altLang="fr-FR"/>
              <a:t>Un diagramme de communication montre des liens </a:t>
            </a:r>
          </a:p>
          <a:p>
            <a:pPr lvl="1"/>
            <a:r>
              <a:rPr lang="fr-FR" altLang="fr-FR"/>
              <a:t>Ceux-ci ne sont pas explicites sur un diagramme de séquence</a:t>
            </a:r>
          </a:p>
        </p:txBody>
      </p:sp>
    </p:spTree>
    <p:extLst>
      <p:ext uri="{BB962C8B-B14F-4D97-AF65-F5344CB8AC3E}">
        <p14:creationId xmlns:p14="http://schemas.microsoft.com/office/powerpoint/2010/main" val="18607822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r>
              <a:rPr lang="fr-FR" altLang="fr-FR"/>
              <a:t>Identifier une collaboration</a:t>
            </a:r>
          </a:p>
        </p:txBody>
      </p:sp>
      <p:sp>
        <p:nvSpPr>
          <p:cNvPr id="101379" name="Rectangle 3"/>
          <p:cNvSpPr>
            <a:spLocks noGrp="1" noChangeArrowheads="1"/>
          </p:cNvSpPr>
          <p:nvPr>
            <p:ph type="body" idx="1"/>
          </p:nvPr>
        </p:nvSpPr>
        <p:spPr>
          <a:xfrm>
            <a:off x="279400" y="1312863"/>
            <a:ext cx="8599488" cy="3570287"/>
          </a:xfrm>
        </p:spPr>
        <p:txBody>
          <a:bodyPr/>
          <a:lstStyle/>
          <a:p>
            <a:r>
              <a:rPr lang="fr-FR" altLang="fr-FR"/>
              <a:t>Une </a:t>
            </a:r>
            <a:r>
              <a:rPr lang="fr-FR" altLang="fr-FR" i="1">
                <a:latin typeface="Century Schoolbook" pitchFamily="18" charset="0"/>
              </a:rPr>
              <a:t>collaboration</a:t>
            </a:r>
            <a:r>
              <a:rPr lang="fr-FR" altLang="fr-FR"/>
              <a:t> est un arrangement d’objets et de liens qui interagissent pour mettre en œuvre un comportement</a:t>
            </a:r>
          </a:p>
          <a:p>
            <a:r>
              <a:rPr lang="fr-FR" altLang="fr-FR"/>
              <a:t>Une collaboration est décrite par un ou plusieurs diagrammes de communication</a:t>
            </a:r>
          </a:p>
          <a:p>
            <a:pPr lvl="1"/>
            <a:r>
              <a:rPr lang="fr-FR" altLang="fr-FR"/>
              <a:t>Avec éventuellement d’autres diagrammes, par exemple :</a:t>
            </a:r>
          </a:p>
          <a:p>
            <a:pPr lvl="2"/>
            <a:r>
              <a:rPr lang="fr-FR" altLang="fr-FR"/>
              <a:t>Des diagrammes de séquence et de classes </a:t>
            </a:r>
          </a:p>
          <a:p>
            <a:pPr lvl="2"/>
            <a:r>
              <a:rPr lang="fr-FR" altLang="fr-FR"/>
              <a:t>Des diagrammes d’états et d’activité</a:t>
            </a:r>
          </a:p>
          <a:p>
            <a:r>
              <a:rPr lang="fr-FR" altLang="fr-FR"/>
              <a:t>Le </a:t>
            </a:r>
            <a:r>
              <a:rPr lang="fr-FR" altLang="fr-FR" i="1">
                <a:latin typeface="Century Schoolbook" pitchFamily="18" charset="0"/>
              </a:rPr>
              <a:t>symbole de collaboration</a:t>
            </a:r>
            <a:r>
              <a:rPr lang="fr-FR" altLang="fr-FR">
                <a:latin typeface="Century Schoolbook" pitchFamily="18" charset="0"/>
              </a:rPr>
              <a:t> </a:t>
            </a:r>
            <a:r>
              <a:rPr lang="fr-FR" altLang="fr-FR"/>
              <a:t>peut être utilisé pour faire apparaître une collaboration sur les autres diagrammes</a:t>
            </a:r>
          </a:p>
          <a:p>
            <a:pPr lvl="1"/>
            <a:r>
              <a:rPr lang="fr-FR" altLang="fr-FR" noProof="1"/>
              <a:t>Une ellipse </a:t>
            </a:r>
            <a:r>
              <a:rPr lang="fr-FR" altLang="fr-FR"/>
              <a:t>en </a:t>
            </a:r>
            <a:r>
              <a:rPr lang="fr-FR" altLang="fr-FR" noProof="1"/>
              <a:t>pointillé</a:t>
            </a:r>
            <a:r>
              <a:rPr lang="fr-FR" altLang="fr-FR"/>
              <a:t>s</a:t>
            </a:r>
            <a:r>
              <a:rPr lang="fr-FR" altLang="fr-FR" noProof="1"/>
              <a:t> contenant</a:t>
            </a:r>
            <a:r>
              <a:rPr lang="fr-FR" altLang="fr-FR"/>
              <a:t> le </a:t>
            </a:r>
            <a:br>
              <a:rPr lang="fr-FR" altLang="fr-FR"/>
            </a:br>
            <a:r>
              <a:rPr lang="fr-FR" altLang="fr-FR"/>
              <a:t>nom de la collaboration</a:t>
            </a:r>
          </a:p>
        </p:txBody>
      </p:sp>
      <p:sp>
        <p:nvSpPr>
          <p:cNvPr id="101380" name="Oval 4"/>
          <p:cNvSpPr>
            <a:spLocks noChangeArrowheads="1"/>
          </p:cNvSpPr>
          <p:nvPr/>
        </p:nvSpPr>
        <p:spPr bwMode="blackWhite">
          <a:xfrm>
            <a:off x="5849938" y="4325938"/>
            <a:ext cx="1455737" cy="704850"/>
          </a:xfrm>
          <a:prstGeom prst="ellipse">
            <a:avLst/>
          </a:prstGeom>
          <a:solidFill>
            <a:srgbClr val="FFFFFF"/>
          </a:solidFill>
          <a:ln w="9525">
            <a:solidFill>
              <a:schemeClr val="tx1"/>
            </a:solidFill>
            <a:prstDash val="lgDash"/>
            <a:round/>
            <a:headEnd/>
            <a:tailEnd/>
          </a:ln>
        </p:spPr>
        <p:txBody>
          <a:bodyPr/>
          <a:lstStyle/>
          <a:p>
            <a:endParaRPr lang="fr-FR"/>
          </a:p>
        </p:txBody>
      </p:sp>
      <p:sp>
        <p:nvSpPr>
          <p:cNvPr id="101381" name="Text Box 5"/>
          <p:cNvSpPr txBox="1">
            <a:spLocks noChangeArrowheads="1"/>
          </p:cNvSpPr>
          <p:nvPr/>
        </p:nvSpPr>
        <p:spPr bwMode="auto">
          <a:xfrm>
            <a:off x="5943600" y="4419600"/>
            <a:ext cx="126841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
                <a:miter lim="800000"/>
                <a:headEnd/>
                <a:tailEnd/>
              </a14:hiddenLine>
            </a:ext>
          </a:extLst>
        </p:spPr>
        <p:txBody>
          <a:bodyPr/>
          <a:lstStyle/>
          <a:p>
            <a:pPr algn="ctr"/>
            <a:r>
              <a:rPr lang="fr-FR" altLang="fr-FR" sz="1600" b="1" dirty="0">
                <a:solidFill>
                  <a:schemeClr val="tx2"/>
                </a:solidFill>
              </a:rPr>
              <a:t>Retrait de fonds</a:t>
            </a:r>
          </a:p>
        </p:txBody>
      </p:sp>
    </p:spTree>
    <p:extLst>
      <p:ext uri="{BB962C8B-B14F-4D97-AF65-F5344CB8AC3E}">
        <p14:creationId xmlns:p14="http://schemas.microsoft.com/office/powerpoint/2010/main" val="41794253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r>
              <a:rPr lang="fr-FR" altLang="fr-FR"/>
              <a:t>Réalisation de cas d’utilisation</a:t>
            </a:r>
          </a:p>
        </p:txBody>
      </p:sp>
      <p:sp>
        <p:nvSpPr>
          <p:cNvPr id="103427" name="Rectangle 3"/>
          <p:cNvSpPr>
            <a:spLocks noGrp="1" noChangeArrowheads="1"/>
          </p:cNvSpPr>
          <p:nvPr>
            <p:ph type="body" idx="1"/>
          </p:nvPr>
        </p:nvSpPr>
        <p:spPr>
          <a:xfrm>
            <a:off x="279400" y="1312863"/>
            <a:ext cx="8599488" cy="1968500"/>
          </a:xfrm>
        </p:spPr>
        <p:txBody>
          <a:bodyPr/>
          <a:lstStyle/>
          <a:p>
            <a:r>
              <a:rPr lang="fr-FR" altLang="fr-FR"/>
              <a:t>Une collaboration peut décrire comment le système répondra aux besoins décrits par un cas d’utilisation</a:t>
            </a:r>
          </a:p>
          <a:p>
            <a:pPr lvl="1"/>
            <a:r>
              <a:rPr lang="fr-FR" altLang="fr-FR"/>
              <a:t>Appelé </a:t>
            </a:r>
            <a:r>
              <a:rPr lang="fr-FR" altLang="fr-FR" i="1">
                <a:latin typeface="Century Schoolbook" pitchFamily="18" charset="0"/>
              </a:rPr>
              <a:t>réalisation de cas d’utilisation</a:t>
            </a:r>
            <a:endParaRPr lang="fr-FR" altLang="fr-FR"/>
          </a:p>
          <a:p>
            <a:r>
              <a:rPr lang="fr-FR" altLang="fr-FR"/>
              <a:t>La </a:t>
            </a:r>
            <a:r>
              <a:rPr lang="fr-FR" altLang="fr-FR" i="1">
                <a:latin typeface="Century Schoolbook" pitchFamily="18" charset="0"/>
              </a:rPr>
              <a:t>réalisation</a:t>
            </a:r>
            <a:r>
              <a:rPr lang="fr-FR" altLang="fr-FR"/>
              <a:t> est une relation dans laquelle un élément remplit un contrat spécifié par un autre élément</a:t>
            </a:r>
          </a:p>
          <a:p>
            <a:pPr lvl="1"/>
            <a:r>
              <a:rPr lang="fr-FR" altLang="fr-FR" noProof="1"/>
              <a:t>Ici la </a:t>
            </a:r>
            <a:r>
              <a:rPr lang="fr-FR" altLang="fr-FR"/>
              <a:t>collaboration remplit un contrat spécifié par le cas d’utilisation</a:t>
            </a:r>
          </a:p>
        </p:txBody>
      </p:sp>
      <p:sp>
        <p:nvSpPr>
          <p:cNvPr id="103428" name="Oval 4"/>
          <p:cNvSpPr>
            <a:spLocks noChangeArrowheads="1"/>
          </p:cNvSpPr>
          <p:nvPr/>
        </p:nvSpPr>
        <p:spPr bwMode="auto">
          <a:xfrm>
            <a:off x="1330325" y="3654425"/>
            <a:ext cx="1455738" cy="704850"/>
          </a:xfrm>
          <a:prstGeom prst="ellipse">
            <a:avLst/>
          </a:prstGeom>
          <a:solidFill>
            <a:srgbClr val="FFFFFF"/>
          </a:solidFill>
          <a:ln w="9525">
            <a:solidFill>
              <a:schemeClr val="tx1"/>
            </a:solidFill>
            <a:round/>
            <a:headEnd/>
            <a:tailEnd/>
          </a:ln>
        </p:spPr>
        <p:txBody>
          <a:bodyPr/>
          <a:lstStyle/>
          <a:p>
            <a:endParaRPr lang="fr-FR">
              <a:solidFill>
                <a:schemeClr val="tx2"/>
              </a:solidFill>
            </a:endParaRPr>
          </a:p>
        </p:txBody>
      </p:sp>
      <p:sp>
        <p:nvSpPr>
          <p:cNvPr id="103429" name="Text Box 5"/>
          <p:cNvSpPr txBox="1">
            <a:spLocks noChangeArrowheads="1"/>
          </p:cNvSpPr>
          <p:nvPr/>
        </p:nvSpPr>
        <p:spPr bwMode="auto">
          <a:xfrm>
            <a:off x="1423988" y="3702050"/>
            <a:ext cx="1268412"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
                <a:miter lim="800000"/>
                <a:headEnd/>
                <a:tailEnd/>
              </a14:hiddenLine>
            </a:ext>
          </a:extLst>
        </p:spPr>
        <p:txBody>
          <a:bodyPr/>
          <a:lstStyle/>
          <a:p>
            <a:pPr algn="ctr"/>
            <a:r>
              <a:rPr lang="fr-FR" altLang="fr-FR" sz="1600" b="1">
                <a:solidFill>
                  <a:schemeClr val="tx2"/>
                </a:solidFill>
              </a:rPr>
              <a:t>Arriver sur les lieux</a:t>
            </a:r>
          </a:p>
        </p:txBody>
      </p:sp>
      <p:sp>
        <p:nvSpPr>
          <p:cNvPr id="103430" name="Text Box 6"/>
          <p:cNvSpPr txBox="1">
            <a:spLocks noChangeArrowheads="1"/>
          </p:cNvSpPr>
          <p:nvPr/>
        </p:nvSpPr>
        <p:spPr bwMode="auto">
          <a:xfrm>
            <a:off x="5699125" y="3937000"/>
            <a:ext cx="2114550"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fr-FR" i="1">
                <a:solidFill>
                  <a:schemeClr val="tx2"/>
                </a:solidFill>
                <a:latin typeface="Lucida Sans" pitchFamily="34" charset="0"/>
              </a:rPr>
              <a:t>Cas d’utilisation</a:t>
            </a:r>
          </a:p>
          <a:p>
            <a:endParaRPr lang="fr-FR" altLang="fr-FR" i="1">
              <a:solidFill>
                <a:schemeClr val="tx2"/>
              </a:solidFill>
              <a:latin typeface="Lucida Sans" pitchFamily="34" charset="0"/>
            </a:endParaRPr>
          </a:p>
          <a:p>
            <a:endParaRPr lang="fr-FR" altLang="fr-FR" i="1">
              <a:solidFill>
                <a:schemeClr val="tx2"/>
              </a:solidFill>
              <a:latin typeface="Lucida Sans" pitchFamily="34" charset="0"/>
            </a:endParaRPr>
          </a:p>
          <a:p>
            <a:r>
              <a:rPr lang="fr-FR" altLang="fr-FR" i="1">
                <a:solidFill>
                  <a:schemeClr val="tx2"/>
                </a:solidFill>
                <a:latin typeface="Lucida Sans" pitchFamily="34" charset="0"/>
              </a:rPr>
              <a:t>Relation de réalisation</a:t>
            </a:r>
          </a:p>
          <a:p>
            <a:endParaRPr lang="fr-FR" altLang="fr-FR" i="1">
              <a:solidFill>
                <a:schemeClr val="tx2"/>
              </a:solidFill>
              <a:latin typeface="Lucida Sans" pitchFamily="34" charset="0"/>
            </a:endParaRPr>
          </a:p>
          <a:p>
            <a:endParaRPr lang="fr-FR" altLang="fr-FR" i="1">
              <a:solidFill>
                <a:schemeClr val="tx2"/>
              </a:solidFill>
              <a:latin typeface="Lucida Sans" pitchFamily="34" charset="0"/>
            </a:endParaRPr>
          </a:p>
          <a:p>
            <a:r>
              <a:rPr lang="fr-FR" altLang="fr-FR" i="1">
                <a:solidFill>
                  <a:schemeClr val="tx2"/>
                </a:solidFill>
                <a:latin typeface="Lucida Sans" pitchFamily="34" charset="0"/>
              </a:rPr>
              <a:t>Collaboration</a:t>
            </a:r>
          </a:p>
        </p:txBody>
      </p:sp>
      <p:sp>
        <p:nvSpPr>
          <p:cNvPr id="103431" name="Line 7"/>
          <p:cNvSpPr>
            <a:spLocks noChangeShapeType="1"/>
          </p:cNvSpPr>
          <p:nvPr/>
        </p:nvSpPr>
        <p:spPr bwMode="auto">
          <a:xfrm flipH="1" flipV="1">
            <a:off x="2819400" y="3962400"/>
            <a:ext cx="2895600" cy="15240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103432" name="Line 8"/>
          <p:cNvSpPr>
            <a:spLocks noChangeShapeType="1"/>
          </p:cNvSpPr>
          <p:nvPr/>
        </p:nvSpPr>
        <p:spPr bwMode="auto">
          <a:xfrm flipH="1">
            <a:off x="3048000" y="4724400"/>
            <a:ext cx="2667000" cy="15240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103433" name="Line 9"/>
          <p:cNvSpPr>
            <a:spLocks noChangeShapeType="1"/>
          </p:cNvSpPr>
          <p:nvPr/>
        </p:nvSpPr>
        <p:spPr bwMode="auto">
          <a:xfrm flipH="1">
            <a:off x="4114800" y="5384800"/>
            <a:ext cx="1584325" cy="17780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103434" name="Line 10"/>
          <p:cNvSpPr>
            <a:spLocks noChangeShapeType="1"/>
          </p:cNvSpPr>
          <p:nvPr/>
        </p:nvSpPr>
        <p:spPr bwMode="auto">
          <a:xfrm rot="-2215369">
            <a:off x="2970213" y="4456113"/>
            <a:ext cx="1587" cy="1081087"/>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103435" name="AutoShape 11"/>
          <p:cNvSpPr>
            <a:spLocks noChangeArrowheads="1"/>
          </p:cNvSpPr>
          <p:nvPr/>
        </p:nvSpPr>
        <p:spPr bwMode="auto">
          <a:xfrm rot="-2215369">
            <a:off x="2405063" y="4270375"/>
            <a:ext cx="282575" cy="328613"/>
          </a:xfrm>
          <a:prstGeom prst="triangle">
            <a:avLst>
              <a:gd name="adj" fmla="val 50000"/>
            </a:avLst>
          </a:prstGeom>
          <a:solidFill>
            <a:srgbClr val="FFFFFF"/>
          </a:solidFill>
          <a:ln w="9525">
            <a:solidFill>
              <a:schemeClr val="tx1"/>
            </a:solidFill>
            <a:miter lim="800000"/>
            <a:headEnd/>
            <a:tailEnd/>
          </a:ln>
        </p:spPr>
        <p:txBody>
          <a:bodyPr/>
          <a:lstStyle/>
          <a:p>
            <a:endParaRPr lang="fr-FR">
              <a:solidFill>
                <a:schemeClr val="tx2"/>
              </a:solidFill>
            </a:endParaRPr>
          </a:p>
        </p:txBody>
      </p:sp>
      <p:sp>
        <p:nvSpPr>
          <p:cNvPr id="103436" name="Oval 12"/>
          <p:cNvSpPr>
            <a:spLocks noChangeArrowheads="1"/>
          </p:cNvSpPr>
          <p:nvPr/>
        </p:nvSpPr>
        <p:spPr bwMode="auto">
          <a:xfrm>
            <a:off x="2551113" y="5299075"/>
            <a:ext cx="1457325" cy="704850"/>
          </a:xfrm>
          <a:prstGeom prst="ellipse">
            <a:avLst/>
          </a:prstGeom>
          <a:solidFill>
            <a:srgbClr val="FFFFFF"/>
          </a:solidFill>
          <a:ln w="9525">
            <a:solidFill>
              <a:schemeClr val="tx1"/>
            </a:solidFill>
            <a:prstDash val="lgDash"/>
            <a:round/>
            <a:headEnd/>
            <a:tailEnd/>
          </a:ln>
        </p:spPr>
        <p:txBody>
          <a:bodyPr/>
          <a:lstStyle/>
          <a:p>
            <a:endParaRPr lang="fr-FR">
              <a:solidFill>
                <a:schemeClr val="tx2"/>
              </a:solidFill>
            </a:endParaRPr>
          </a:p>
        </p:txBody>
      </p:sp>
      <p:sp>
        <p:nvSpPr>
          <p:cNvPr id="103437" name="Text Box 13"/>
          <p:cNvSpPr txBox="1">
            <a:spLocks noChangeArrowheads="1"/>
          </p:cNvSpPr>
          <p:nvPr/>
        </p:nvSpPr>
        <p:spPr bwMode="auto">
          <a:xfrm>
            <a:off x="2644775" y="5392738"/>
            <a:ext cx="12700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
                <a:miter lim="800000"/>
                <a:headEnd/>
                <a:tailEnd/>
              </a14:hiddenLine>
            </a:ext>
          </a:extLst>
        </p:spPr>
        <p:txBody>
          <a:bodyPr/>
          <a:lstStyle/>
          <a:p>
            <a:pPr algn="ctr"/>
            <a:r>
              <a:rPr lang="fr-FR" altLang="fr-FR" sz="1600" b="1">
                <a:solidFill>
                  <a:schemeClr val="tx2"/>
                </a:solidFill>
              </a:rPr>
              <a:t>Arriver sur les lieux</a:t>
            </a:r>
          </a:p>
        </p:txBody>
      </p:sp>
    </p:spTree>
    <p:extLst>
      <p:ext uri="{BB962C8B-B14F-4D97-AF65-F5344CB8AC3E}">
        <p14:creationId xmlns:p14="http://schemas.microsoft.com/office/powerpoint/2010/main" val="30843970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r>
              <a:rPr lang="fr-FR" altLang="fr-FR"/>
              <a:t>Patrons, mécanismes et patrons d’architecture</a:t>
            </a:r>
          </a:p>
        </p:txBody>
      </p:sp>
      <p:sp>
        <p:nvSpPr>
          <p:cNvPr id="105475" name="Rectangle 3"/>
          <p:cNvSpPr>
            <a:spLocks noGrp="1" noChangeArrowheads="1"/>
          </p:cNvSpPr>
          <p:nvPr>
            <p:ph type="body" idx="1"/>
          </p:nvPr>
        </p:nvSpPr>
        <p:spPr>
          <a:xfrm>
            <a:off x="279400" y="1312863"/>
            <a:ext cx="8599488" cy="3298339"/>
          </a:xfrm>
        </p:spPr>
        <p:txBody>
          <a:bodyPr/>
          <a:lstStyle/>
          <a:p>
            <a:r>
              <a:rPr lang="fr-FR" altLang="fr-FR" dirty="0"/>
              <a:t>Une collaboration peut aussi être utilisée pour décrire un arrangement de classes ou d’objets conçu pour résoudre un problème courant</a:t>
            </a:r>
          </a:p>
          <a:p>
            <a:pPr lvl="1"/>
            <a:r>
              <a:rPr lang="fr-FR" altLang="fr-FR" dirty="0"/>
              <a:t>Appelé </a:t>
            </a:r>
            <a:r>
              <a:rPr lang="fr-FR" altLang="fr-FR" i="1" dirty="0">
                <a:latin typeface="Century Schoolbook" pitchFamily="18" charset="0"/>
              </a:rPr>
              <a:t>patron </a:t>
            </a:r>
            <a:r>
              <a:rPr lang="fr-FR" altLang="fr-FR" dirty="0"/>
              <a:t>(</a:t>
            </a:r>
            <a:r>
              <a:rPr lang="fr-FR" altLang="fr-FR" i="1" dirty="0">
                <a:latin typeface="Century Schoolbook" pitchFamily="18" charset="0"/>
              </a:rPr>
              <a:t>pattern</a:t>
            </a:r>
            <a:r>
              <a:rPr lang="fr-FR" altLang="fr-FR" dirty="0"/>
              <a:t>)</a:t>
            </a:r>
          </a:p>
          <a:p>
            <a:r>
              <a:rPr lang="fr-FR" altLang="fr-FR" dirty="0"/>
              <a:t>Un patron utilisé pour résoudre un problème de conception est appelé un </a:t>
            </a:r>
            <a:r>
              <a:rPr lang="fr-FR" altLang="fr-FR" i="1" dirty="0">
                <a:latin typeface="Century Schoolbook" pitchFamily="18" charset="0"/>
              </a:rPr>
              <a:t>patron de conception</a:t>
            </a:r>
            <a:r>
              <a:rPr lang="fr-FR" altLang="fr-FR" dirty="0">
                <a:latin typeface="Century Schoolbook" pitchFamily="18" charset="0"/>
              </a:rPr>
              <a:t> </a:t>
            </a:r>
            <a:r>
              <a:rPr lang="fr-FR" altLang="fr-FR" dirty="0"/>
              <a:t>(</a:t>
            </a:r>
            <a:r>
              <a:rPr lang="fr-FR" altLang="fr-FR" i="1" dirty="0">
                <a:latin typeface="Century Schoolbook" pitchFamily="18" charset="0"/>
              </a:rPr>
              <a:t>design pattern</a:t>
            </a:r>
            <a:r>
              <a:rPr lang="fr-FR" altLang="fr-FR" dirty="0"/>
              <a:t>)</a:t>
            </a:r>
          </a:p>
          <a:p>
            <a:pPr lvl="1"/>
            <a:r>
              <a:rPr lang="fr-FR" altLang="fr-FR" dirty="0"/>
              <a:t>UML utilise également le terme </a:t>
            </a:r>
            <a:r>
              <a:rPr lang="fr-FR" altLang="fr-FR" i="1" dirty="0">
                <a:latin typeface="Century Schoolbook" pitchFamily="18" charset="0"/>
              </a:rPr>
              <a:t>mécanisme </a:t>
            </a:r>
            <a:r>
              <a:rPr lang="fr-FR" altLang="fr-FR" dirty="0"/>
              <a:t>(</a:t>
            </a:r>
            <a:r>
              <a:rPr lang="fr-FR" altLang="fr-FR" dirty="0" err="1">
                <a:latin typeface="Times New Roman" panose="02020603050405020304" pitchFamily="18" charset="0"/>
              </a:rPr>
              <a:t>mechanism</a:t>
            </a:r>
            <a:r>
              <a:rPr lang="fr-FR" altLang="fr-FR" dirty="0"/>
              <a:t>)</a:t>
            </a:r>
          </a:p>
          <a:p>
            <a:r>
              <a:rPr lang="fr-FR" altLang="fr-FR" dirty="0"/>
              <a:t>Un patron utilisé pour résoudre un problème architectural est appelé un </a:t>
            </a:r>
            <a:r>
              <a:rPr lang="fr-FR" altLang="fr-FR" i="1" dirty="0">
                <a:latin typeface="Century Schoolbook" pitchFamily="18" charset="0"/>
              </a:rPr>
              <a:t>patron d’architecture</a:t>
            </a:r>
            <a:r>
              <a:rPr lang="fr-FR" altLang="fr-FR" dirty="0"/>
              <a:t> (</a:t>
            </a:r>
            <a:r>
              <a:rPr lang="fr-FR" altLang="fr-FR" dirty="0" err="1">
                <a:latin typeface="Times New Roman" panose="02020603050405020304" pitchFamily="18" charset="0"/>
              </a:rPr>
              <a:t>framework</a:t>
            </a:r>
            <a:r>
              <a:rPr lang="fr-FR" altLang="fr-FR" dirty="0"/>
              <a:t>)</a:t>
            </a:r>
          </a:p>
          <a:p>
            <a:pPr lvl="1"/>
            <a:r>
              <a:rPr lang="fr-FR" altLang="fr-FR" dirty="0"/>
              <a:t>Un patron d’architecture comprend habituellement de nombreux patrons groupés dans un </a:t>
            </a:r>
            <a:r>
              <a:rPr lang="fr-FR" altLang="fr-FR" dirty="0" smtClean="0"/>
              <a:t>paquetage</a:t>
            </a:r>
            <a:endParaRPr lang="fr-FR" altLang="fr-FR" dirty="0"/>
          </a:p>
        </p:txBody>
      </p:sp>
    </p:spTree>
    <p:extLst>
      <p:ext uri="{BB962C8B-B14F-4D97-AF65-F5344CB8AC3E}">
        <p14:creationId xmlns:p14="http://schemas.microsoft.com/office/powerpoint/2010/main" val="4918004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a:xfrm>
            <a:off x="179388" y="160338"/>
            <a:ext cx="8583612" cy="725487"/>
          </a:xfrm>
        </p:spPr>
        <p:txBody>
          <a:bodyPr/>
          <a:lstStyle/>
          <a:p>
            <a:r>
              <a:rPr lang="fr-FR" altLang="fr-FR"/>
              <a:t>Le patron de l’Observateur : Un patron de conception</a:t>
            </a:r>
          </a:p>
        </p:txBody>
      </p:sp>
      <p:sp>
        <p:nvSpPr>
          <p:cNvPr id="107523" name="Rectangle 3"/>
          <p:cNvSpPr>
            <a:spLocks noGrp="1" noChangeArrowheads="1"/>
          </p:cNvSpPr>
          <p:nvPr>
            <p:ph type="body" idx="1"/>
          </p:nvPr>
        </p:nvSpPr>
        <p:spPr>
          <a:xfrm>
            <a:off x="279400" y="1312863"/>
            <a:ext cx="8599488" cy="3092450"/>
          </a:xfrm>
        </p:spPr>
        <p:txBody>
          <a:bodyPr/>
          <a:lstStyle/>
          <a:p>
            <a:r>
              <a:rPr lang="fr-FR" altLang="fr-FR"/>
              <a:t>Le patron de l’Observateur (</a:t>
            </a:r>
            <a:r>
              <a:rPr lang="fr-FR" altLang="fr-FR">
                <a:latin typeface="Times New Roman" panose="02020603050405020304" pitchFamily="18" charset="0"/>
              </a:rPr>
              <a:t>Observer</a:t>
            </a:r>
            <a:r>
              <a:rPr lang="fr-FR" altLang="fr-FR"/>
              <a:t>) est habituellement utilisé pour permettre à un objet de notifier à de nombreux objets dépendants, que son état a changé</a:t>
            </a:r>
          </a:p>
          <a:p>
            <a:pPr lvl="1"/>
            <a:r>
              <a:rPr lang="fr-FR" altLang="fr-FR"/>
              <a:t>Le patron permet un couplage faible entre le sujet et ses observateurs</a:t>
            </a:r>
          </a:p>
          <a:p>
            <a:pPr lvl="1"/>
            <a:r>
              <a:rPr lang="fr-FR" altLang="fr-FR"/>
              <a:t>Un </a:t>
            </a:r>
            <a:r>
              <a:rPr lang="fr-FR" altLang="fr-FR" i="1">
                <a:latin typeface="Century Schoolbook" pitchFamily="18" charset="0"/>
              </a:rPr>
              <a:t>sujet concret </a:t>
            </a:r>
            <a:r>
              <a:rPr lang="fr-FR" altLang="fr-FR"/>
              <a:t>peut envoyer une notification aux </a:t>
            </a:r>
            <a:r>
              <a:rPr lang="fr-FR" altLang="fr-FR" i="1">
                <a:latin typeface="Century Schoolbook" pitchFamily="18" charset="0"/>
              </a:rPr>
              <a:t>observateurs concrets </a:t>
            </a:r>
            <a:r>
              <a:rPr lang="fr-FR" altLang="fr-FR"/>
              <a:t>sans connaissance spécifique sur leur classe respective</a:t>
            </a:r>
          </a:p>
          <a:p>
            <a:r>
              <a:rPr lang="fr-FR" altLang="fr-FR"/>
              <a:t>Le patron de l’Observateur est généralement utilisé lors de la programmation d’IHM</a:t>
            </a:r>
          </a:p>
          <a:p>
            <a:pPr lvl="1"/>
            <a:r>
              <a:rPr lang="fr-FR" altLang="fr-FR"/>
              <a:t>Par exemple, un changement dans un document entraîne la mise à jour de nombreuses fenêtres</a:t>
            </a:r>
          </a:p>
        </p:txBody>
      </p:sp>
      <p:sp>
        <p:nvSpPr>
          <p:cNvPr id="107524" name="Text Box 4"/>
          <p:cNvSpPr txBox="1">
            <a:spLocks noChangeArrowheads="1"/>
          </p:cNvSpPr>
          <p:nvPr/>
        </p:nvSpPr>
        <p:spPr bwMode="auto">
          <a:xfrm>
            <a:off x="242888" y="6176963"/>
            <a:ext cx="5562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fr-FR" altLang="fr-FR">
                <a:solidFill>
                  <a:srgbClr val="000080"/>
                </a:solidFill>
              </a:rPr>
              <a:t>IHM = Interface Homme Machine</a:t>
            </a:r>
          </a:p>
        </p:txBody>
      </p:sp>
    </p:spTree>
    <p:extLst>
      <p:ext uri="{BB962C8B-B14F-4D97-AF65-F5344CB8AC3E}">
        <p14:creationId xmlns:p14="http://schemas.microsoft.com/office/powerpoint/2010/main" val="4436056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r>
              <a:rPr lang="fr-FR" altLang="fr-FR"/>
              <a:t>Le patron de l’Observateur : Diagramme de classes</a:t>
            </a:r>
          </a:p>
        </p:txBody>
      </p:sp>
      <p:sp>
        <p:nvSpPr>
          <p:cNvPr id="110613" name="Text Box 21"/>
          <p:cNvSpPr txBox="1">
            <a:spLocks noChangeArrowheads="1"/>
          </p:cNvSpPr>
          <p:nvPr/>
        </p:nvSpPr>
        <p:spPr bwMode="auto">
          <a:xfrm>
            <a:off x="1363663" y="4445000"/>
            <a:ext cx="1973262" cy="423863"/>
          </a:xfrm>
          <a:prstGeom prst="rect">
            <a:avLst/>
          </a:prstGeom>
          <a:solidFill>
            <a:srgbClr val="FFFFFF"/>
          </a:solidFill>
          <a:ln w="12700">
            <a:solidFill>
              <a:schemeClr val="tx1"/>
            </a:solidFill>
            <a:miter lim="800000"/>
            <a:headEnd/>
            <a:tailEnd/>
          </a:ln>
        </p:spPr>
        <p:txBody>
          <a:bodyPr/>
          <a:lstStyle/>
          <a:p>
            <a:pPr algn="ctr"/>
            <a:r>
              <a:rPr lang="fr-FR" altLang="fr-FR" sz="1600" b="1">
                <a:solidFill>
                  <a:schemeClr val="tx2"/>
                </a:solidFill>
              </a:rPr>
              <a:t>Sujet concret</a:t>
            </a:r>
            <a:endParaRPr lang="fr-FR" altLang="fr-FR" sz="1600">
              <a:solidFill>
                <a:schemeClr val="tx2"/>
              </a:solidFill>
            </a:endParaRPr>
          </a:p>
          <a:p>
            <a:endParaRPr lang="fr-FR" altLang="fr-FR" sz="1600">
              <a:solidFill>
                <a:schemeClr val="tx2"/>
              </a:solidFill>
            </a:endParaRPr>
          </a:p>
          <a:p>
            <a:endParaRPr lang="fr-FR" altLang="fr-FR" sz="1600">
              <a:solidFill>
                <a:schemeClr val="tx2"/>
              </a:solidFill>
            </a:endParaRPr>
          </a:p>
          <a:p>
            <a:endParaRPr lang="fr-FR" altLang="fr-FR" sz="1600">
              <a:solidFill>
                <a:schemeClr val="tx2"/>
              </a:solidFill>
            </a:endParaRPr>
          </a:p>
          <a:p>
            <a:endParaRPr lang="fr-FR" altLang="fr-FR" sz="1600">
              <a:solidFill>
                <a:schemeClr val="tx2"/>
              </a:solidFill>
            </a:endParaRPr>
          </a:p>
          <a:p>
            <a:endParaRPr lang="fr-FR" altLang="fr-FR" sz="1600">
              <a:solidFill>
                <a:schemeClr val="tx2"/>
              </a:solidFill>
            </a:endParaRPr>
          </a:p>
        </p:txBody>
      </p:sp>
      <p:sp>
        <p:nvSpPr>
          <p:cNvPr id="110614" name="Text Box 22"/>
          <p:cNvSpPr txBox="1">
            <a:spLocks noChangeArrowheads="1"/>
          </p:cNvSpPr>
          <p:nvPr/>
        </p:nvSpPr>
        <p:spPr bwMode="auto">
          <a:xfrm>
            <a:off x="1219200" y="2141538"/>
            <a:ext cx="2336800" cy="1316037"/>
          </a:xfrm>
          <a:prstGeom prst="rect">
            <a:avLst/>
          </a:prstGeom>
          <a:solidFill>
            <a:srgbClr val="FFFFFF"/>
          </a:solidFill>
          <a:ln w="12700">
            <a:solidFill>
              <a:schemeClr val="tx1"/>
            </a:solidFill>
            <a:miter lim="800000"/>
            <a:headEnd/>
            <a:tailEnd/>
          </a:ln>
        </p:spPr>
        <p:txBody>
          <a:bodyPr/>
          <a:lstStyle/>
          <a:p>
            <a:pPr algn="ctr"/>
            <a:r>
              <a:rPr lang="fr-FR" altLang="fr-FR" sz="1600" b="1" i="1">
                <a:solidFill>
                  <a:schemeClr val="tx2"/>
                </a:solidFill>
              </a:rPr>
              <a:t>Sujet</a:t>
            </a:r>
            <a:endParaRPr lang="fr-FR" altLang="fr-FR" sz="1600" i="1">
              <a:solidFill>
                <a:schemeClr val="tx2"/>
              </a:solidFill>
            </a:endParaRPr>
          </a:p>
          <a:p>
            <a:endParaRPr lang="fr-FR" altLang="fr-FR" sz="1600">
              <a:solidFill>
                <a:schemeClr val="tx2"/>
              </a:solidFill>
            </a:endParaRPr>
          </a:p>
          <a:p>
            <a:r>
              <a:rPr lang="fr-FR" altLang="fr-FR" sz="1600">
                <a:solidFill>
                  <a:schemeClr val="tx2"/>
                </a:solidFill>
              </a:rPr>
              <a:t>attacher(:Observateur)</a:t>
            </a:r>
          </a:p>
          <a:p>
            <a:r>
              <a:rPr lang="fr-FR" altLang="fr-FR" sz="1600">
                <a:solidFill>
                  <a:schemeClr val="tx2"/>
                </a:solidFill>
              </a:rPr>
              <a:t>detacher(:Observateur)</a:t>
            </a:r>
          </a:p>
          <a:p>
            <a:r>
              <a:rPr lang="fr-FR" altLang="fr-FR" sz="1600">
                <a:solidFill>
                  <a:schemeClr val="tx2"/>
                </a:solidFill>
              </a:rPr>
              <a:t>notifier(): void</a:t>
            </a:r>
          </a:p>
          <a:p>
            <a:endParaRPr lang="fr-FR" altLang="fr-FR" sz="1600">
              <a:solidFill>
                <a:schemeClr val="tx2"/>
              </a:solidFill>
            </a:endParaRPr>
          </a:p>
        </p:txBody>
      </p:sp>
      <p:sp>
        <p:nvSpPr>
          <p:cNvPr id="110615" name="Line 23"/>
          <p:cNvSpPr>
            <a:spLocks noChangeShapeType="1"/>
          </p:cNvSpPr>
          <p:nvPr/>
        </p:nvSpPr>
        <p:spPr bwMode="auto">
          <a:xfrm flipV="1">
            <a:off x="1219200" y="2514600"/>
            <a:ext cx="2362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110616" name="Text Box 24"/>
          <p:cNvSpPr txBox="1">
            <a:spLocks noChangeArrowheads="1"/>
          </p:cNvSpPr>
          <p:nvPr/>
        </p:nvSpPr>
        <p:spPr bwMode="auto">
          <a:xfrm>
            <a:off x="5341938" y="2141538"/>
            <a:ext cx="1974850" cy="846137"/>
          </a:xfrm>
          <a:prstGeom prst="rect">
            <a:avLst/>
          </a:prstGeom>
          <a:solidFill>
            <a:srgbClr val="FFFFFF"/>
          </a:solidFill>
          <a:ln w="12700">
            <a:solidFill>
              <a:schemeClr val="tx1"/>
            </a:solidFill>
            <a:miter lim="800000"/>
            <a:headEnd/>
            <a:tailEnd/>
          </a:ln>
        </p:spPr>
        <p:txBody>
          <a:bodyPr/>
          <a:lstStyle/>
          <a:p>
            <a:pPr algn="ctr"/>
            <a:r>
              <a:rPr lang="fr-FR" altLang="fr-FR" sz="1600" b="1" i="1">
                <a:solidFill>
                  <a:schemeClr val="tx2"/>
                </a:solidFill>
              </a:rPr>
              <a:t>Observateur</a:t>
            </a:r>
            <a:endParaRPr lang="fr-FR" altLang="fr-FR" sz="1600" i="1">
              <a:solidFill>
                <a:schemeClr val="tx2"/>
              </a:solidFill>
            </a:endParaRPr>
          </a:p>
          <a:p>
            <a:endParaRPr lang="fr-FR" altLang="fr-FR" sz="1600">
              <a:solidFill>
                <a:schemeClr val="tx2"/>
              </a:solidFill>
            </a:endParaRPr>
          </a:p>
          <a:p>
            <a:r>
              <a:rPr lang="fr-FR" altLang="fr-FR" sz="1600" i="1">
                <a:solidFill>
                  <a:schemeClr val="tx2"/>
                </a:solidFill>
              </a:rPr>
              <a:t>mettreAJour(): void</a:t>
            </a:r>
          </a:p>
          <a:p>
            <a:endParaRPr lang="fr-FR" altLang="fr-FR" sz="1600">
              <a:solidFill>
                <a:schemeClr val="tx2"/>
              </a:solidFill>
            </a:endParaRPr>
          </a:p>
        </p:txBody>
      </p:sp>
      <p:sp>
        <p:nvSpPr>
          <p:cNvPr id="110617" name="Line 25"/>
          <p:cNvSpPr>
            <a:spLocks noChangeShapeType="1"/>
          </p:cNvSpPr>
          <p:nvPr/>
        </p:nvSpPr>
        <p:spPr bwMode="auto">
          <a:xfrm>
            <a:off x="5341938" y="2517775"/>
            <a:ext cx="19748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grpSp>
        <p:nvGrpSpPr>
          <p:cNvPr id="110618" name="Group 26"/>
          <p:cNvGrpSpPr>
            <a:grpSpLocks/>
          </p:cNvGrpSpPr>
          <p:nvPr/>
        </p:nvGrpSpPr>
        <p:grpSpPr bwMode="auto">
          <a:xfrm rot="29732">
            <a:off x="2209800" y="3505200"/>
            <a:ext cx="282575" cy="939800"/>
            <a:chOff x="12358" y="6808"/>
            <a:chExt cx="444" cy="1480"/>
          </a:xfrm>
        </p:grpSpPr>
        <p:sp>
          <p:nvSpPr>
            <p:cNvPr id="110619" name="Line 27"/>
            <p:cNvSpPr>
              <a:spLocks noChangeShapeType="1"/>
            </p:cNvSpPr>
            <p:nvPr/>
          </p:nvSpPr>
          <p:spPr bwMode="auto">
            <a:xfrm>
              <a:off x="12580" y="7326"/>
              <a:ext cx="0" cy="9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110620" name="AutoShape 28"/>
            <p:cNvSpPr>
              <a:spLocks noChangeArrowheads="1"/>
            </p:cNvSpPr>
            <p:nvPr/>
          </p:nvSpPr>
          <p:spPr bwMode="auto">
            <a:xfrm>
              <a:off x="12358" y="6808"/>
              <a:ext cx="444" cy="518"/>
            </a:xfrm>
            <a:prstGeom prst="triangle">
              <a:avLst>
                <a:gd name="adj" fmla="val 50000"/>
              </a:avLst>
            </a:prstGeom>
            <a:solidFill>
              <a:srgbClr val="FFFFFF"/>
            </a:solidFill>
            <a:ln w="12700">
              <a:solidFill>
                <a:schemeClr val="tx1"/>
              </a:solidFill>
              <a:miter lim="800000"/>
              <a:headEnd/>
              <a:tailEnd/>
            </a:ln>
          </p:spPr>
          <p:txBody>
            <a:bodyPr/>
            <a:lstStyle/>
            <a:p>
              <a:endParaRPr lang="fr-FR">
                <a:solidFill>
                  <a:schemeClr val="tx2"/>
                </a:solidFill>
              </a:endParaRPr>
            </a:p>
          </p:txBody>
        </p:sp>
      </p:grpSp>
      <p:sp>
        <p:nvSpPr>
          <p:cNvPr id="110621" name="Line 29"/>
          <p:cNvSpPr>
            <a:spLocks noChangeShapeType="1"/>
          </p:cNvSpPr>
          <p:nvPr/>
        </p:nvSpPr>
        <p:spPr bwMode="auto">
          <a:xfrm>
            <a:off x="3556000" y="2752725"/>
            <a:ext cx="1785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grpSp>
        <p:nvGrpSpPr>
          <p:cNvPr id="110622" name="Group 30"/>
          <p:cNvGrpSpPr>
            <a:grpSpLocks/>
          </p:cNvGrpSpPr>
          <p:nvPr/>
        </p:nvGrpSpPr>
        <p:grpSpPr bwMode="auto">
          <a:xfrm>
            <a:off x="5181600" y="4419600"/>
            <a:ext cx="2286000" cy="846138"/>
            <a:chOff x="9398" y="3552"/>
            <a:chExt cx="3108" cy="1332"/>
          </a:xfrm>
        </p:grpSpPr>
        <p:sp>
          <p:nvSpPr>
            <p:cNvPr id="110623" name="Text Box 31"/>
            <p:cNvSpPr txBox="1">
              <a:spLocks noChangeArrowheads="1"/>
            </p:cNvSpPr>
            <p:nvPr/>
          </p:nvSpPr>
          <p:spPr bwMode="auto">
            <a:xfrm>
              <a:off x="9398" y="3552"/>
              <a:ext cx="3108" cy="1332"/>
            </a:xfrm>
            <a:prstGeom prst="rect">
              <a:avLst/>
            </a:prstGeom>
            <a:solidFill>
              <a:srgbClr val="FFFFFF"/>
            </a:solidFill>
            <a:ln w="12700">
              <a:solidFill>
                <a:schemeClr val="tx1"/>
              </a:solidFill>
              <a:miter lim="800000"/>
              <a:headEnd/>
              <a:tailEnd/>
            </a:ln>
          </p:spPr>
          <p:txBody>
            <a:bodyPr/>
            <a:lstStyle/>
            <a:p>
              <a:pPr algn="ctr"/>
              <a:r>
                <a:rPr lang="fr-FR" altLang="fr-FR" sz="1600" b="1">
                  <a:solidFill>
                    <a:schemeClr val="tx2"/>
                  </a:solidFill>
                </a:rPr>
                <a:t>Observateur concret</a:t>
              </a:r>
              <a:endParaRPr lang="fr-FR" altLang="fr-FR" sz="1600">
                <a:solidFill>
                  <a:schemeClr val="tx2"/>
                </a:solidFill>
              </a:endParaRPr>
            </a:p>
            <a:p>
              <a:endParaRPr lang="fr-FR" altLang="fr-FR" sz="1600">
                <a:solidFill>
                  <a:schemeClr val="tx2"/>
                </a:solidFill>
              </a:endParaRPr>
            </a:p>
            <a:p>
              <a:r>
                <a:rPr lang="fr-FR" altLang="fr-FR" sz="1600">
                  <a:solidFill>
                    <a:schemeClr val="tx2"/>
                  </a:solidFill>
                </a:rPr>
                <a:t>mettreAJour(): void</a:t>
              </a:r>
            </a:p>
            <a:p>
              <a:endParaRPr lang="fr-FR" altLang="fr-FR" sz="1600">
                <a:solidFill>
                  <a:schemeClr val="tx2"/>
                </a:solidFill>
              </a:endParaRPr>
            </a:p>
          </p:txBody>
        </p:sp>
        <p:sp>
          <p:nvSpPr>
            <p:cNvPr id="110624" name="Line 32"/>
            <p:cNvSpPr>
              <a:spLocks noChangeShapeType="1"/>
            </p:cNvSpPr>
            <p:nvPr/>
          </p:nvSpPr>
          <p:spPr bwMode="auto">
            <a:xfrm>
              <a:off x="9398" y="4144"/>
              <a:ext cx="310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grpSp>
      <p:grpSp>
        <p:nvGrpSpPr>
          <p:cNvPr id="110625" name="Group 33"/>
          <p:cNvGrpSpPr>
            <a:grpSpLocks/>
          </p:cNvGrpSpPr>
          <p:nvPr/>
        </p:nvGrpSpPr>
        <p:grpSpPr bwMode="auto">
          <a:xfrm>
            <a:off x="6172200" y="2971800"/>
            <a:ext cx="282575" cy="1447800"/>
            <a:chOff x="10808" y="4884"/>
            <a:chExt cx="444" cy="2220"/>
          </a:xfrm>
        </p:grpSpPr>
        <p:sp>
          <p:nvSpPr>
            <p:cNvPr id="110626" name="Line 34"/>
            <p:cNvSpPr>
              <a:spLocks noChangeShapeType="1"/>
            </p:cNvSpPr>
            <p:nvPr/>
          </p:nvSpPr>
          <p:spPr bwMode="auto">
            <a:xfrm rot="29732">
              <a:off x="11019" y="5401"/>
              <a:ext cx="3" cy="17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110627" name="AutoShape 35"/>
            <p:cNvSpPr>
              <a:spLocks noChangeArrowheads="1"/>
            </p:cNvSpPr>
            <p:nvPr/>
          </p:nvSpPr>
          <p:spPr bwMode="auto">
            <a:xfrm rot="29732">
              <a:off x="10808" y="4884"/>
              <a:ext cx="444" cy="518"/>
            </a:xfrm>
            <a:prstGeom prst="triangle">
              <a:avLst>
                <a:gd name="adj" fmla="val 50000"/>
              </a:avLst>
            </a:prstGeom>
            <a:solidFill>
              <a:srgbClr val="FFFFFF"/>
            </a:solidFill>
            <a:ln w="9525">
              <a:solidFill>
                <a:schemeClr val="tx1"/>
              </a:solidFill>
              <a:miter lim="800000"/>
              <a:headEnd/>
              <a:tailEnd/>
            </a:ln>
          </p:spPr>
          <p:txBody>
            <a:bodyPr/>
            <a:lstStyle/>
            <a:p>
              <a:endParaRPr lang="fr-FR">
                <a:solidFill>
                  <a:schemeClr val="tx2"/>
                </a:solidFill>
              </a:endParaRPr>
            </a:p>
          </p:txBody>
        </p:sp>
      </p:grpSp>
      <p:sp>
        <p:nvSpPr>
          <p:cNvPr id="110628" name="Text Box 36"/>
          <p:cNvSpPr txBox="1">
            <a:spLocks noChangeArrowheads="1"/>
          </p:cNvSpPr>
          <p:nvPr/>
        </p:nvSpPr>
        <p:spPr bwMode="auto">
          <a:xfrm>
            <a:off x="5029200" y="2470150"/>
            <a:ext cx="266700"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fr-FR" sz="2000">
                <a:solidFill>
                  <a:schemeClr val="tx2"/>
                </a:solidFill>
              </a:rPr>
              <a:t>*</a:t>
            </a:r>
          </a:p>
        </p:txBody>
      </p:sp>
    </p:spTree>
    <p:extLst>
      <p:ext uri="{BB962C8B-B14F-4D97-AF65-F5344CB8AC3E}">
        <p14:creationId xmlns:p14="http://schemas.microsoft.com/office/powerpoint/2010/main" val="25827079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179388" y="160338"/>
            <a:ext cx="8964612" cy="725487"/>
          </a:xfrm>
        </p:spPr>
        <p:txBody>
          <a:bodyPr/>
          <a:lstStyle/>
          <a:p>
            <a:r>
              <a:rPr lang="fr-FR" altLang="fr-FR"/>
              <a:t>Le patron de l’Observateur : Diagramme de séquence</a:t>
            </a:r>
          </a:p>
        </p:txBody>
      </p:sp>
      <p:grpSp>
        <p:nvGrpSpPr>
          <p:cNvPr id="111621" name="Group 5"/>
          <p:cNvGrpSpPr>
            <a:grpSpLocks/>
          </p:cNvGrpSpPr>
          <p:nvPr/>
        </p:nvGrpSpPr>
        <p:grpSpPr bwMode="auto">
          <a:xfrm>
            <a:off x="4283075" y="2927350"/>
            <a:ext cx="846138" cy="469900"/>
            <a:chOff x="12506" y="5402"/>
            <a:chExt cx="1332" cy="740"/>
          </a:xfrm>
        </p:grpSpPr>
        <p:sp>
          <p:nvSpPr>
            <p:cNvPr id="111622" name="Oval 6"/>
            <p:cNvSpPr>
              <a:spLocks noChangeArrowheads="1"/>
            </p:cNvSpPr>
            <p:nvPr/>
          </p:nvSpPr>
          <p:spPr bwMode="auto">
            <a:xfrm>
              <a:off x="12506" y="5550"/>
              <a:ext cx="1332" cy="381"/>
            </a:xfrm>
            <a:prstGeom prst="ellipse">
              <a:avLst/>
            </a:prstGeom>
            <a:solidFill>
              <a:srgbClr val="FFFFFF"/>
            </a:solidFill>
            <a:ln w="9525">
              <a:solidFill>
                <a:srgbClr val="000000"/>
              </a:solidFill>
              <a:round/>
              <a:headEnd/>
              <a:tailEnd/>
            </a:ln>
          </p:spPr>
          <p:txBody>
            <a:bodyPr/>
            <a:lstStyle/>
            <a:p>
              <a:endParaRPr lang="fr-FR">
                <a:solidFill>
                  <a:schemeClr val="tx2"/>
                </a:solidFill>
              </a:endParaRPr>
            </a:p>
          </p:txBody>
        </p:sp>
        <p:sp>
          <p:nvSpPr>
            <p:cNvPr id="111623" name="Rectangle 7"/>
            <p:cNvSpPr>
              <a:spLocks noChangeArrowheads="1"/>
            </p:cNvSpPr>
            <p:nvPr/>
          </p:nvSpPr>
          <p:spPr bwMode="auto">
            <a:xfrm>
              <a:off x="12506" y="5402"/>
              <a:ext cx="686" cy="7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solidFill>
                  <a:schemeClr val="tx2"/>
                </a:solidFill>
              </a:endParaRPr>
            </a:p>
          </p:txBody>
        </p:sp>
        <p:sp>
          <p:nvSpPr>
            <p:cNvPr id="111624" name="Line 8"/>
            <p:cNvSpPr>
              <a:spLocks noChangeShapeType="1"/>
            </p:cNvSpPr>
            <p:nvPr/>
          </p:nvSpPr>
          <p:spPr bwMode="auto">
            <a:xfrm flipH="1">
              <a:off x="13111" y="5931"/>
              <a:ext cx="81"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111625" name="Line 9"/>
            <p:cNvSpPr>
              <a:spLocks noChangeShapeType="1"/>
            </p:cNvSpPr>
            <p:nvPr/>
          </p:nvSpPr>
          <p:spPr bwMode="auto">
            <a:xfrm flipH="1">
              <a:off x="12950" y="5550"/>
              <a:ext cx="22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grpSp>
      <p:sp>
        <p:nvSpPr>
          <p:cNvPr id="111626" name="Text Box 10"/>
          <p:cNvSpPr txBox="1">
            <a:spLocks noChangeArrowheads="1"/>
          </p:cNvSpPr>
          <p:nvPr/>
        </p:nvSpPr>
        <p:spPr bwMode="auto">
          <a:xfrm>
            <a:off x="4778375" y="2740025"/>
            <a:ext cx="2114550"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fr-FR" sz="1600">
                <a:solidFill>
                  <a:schemeClr val="tx2"/>
                </a:solidFill>
              </a:rPr>
              <a:t>notifier()</a:t>
            </a:r>
          </a:p>
        </p:txBody>
      </p:sp>
      <p:sp>
        <p:nvSpPr>
          <p:cNvPr id="111627" name="Line 11"/>
          <p:cNvSpPr>
            <a:spLocks noChangeShapeType="1"/>
          </p:cNvSpPr>
          <p:nvPr/>
        </p:nvSpPr>
        <p:spPr bwMode="auto">
          <a:xfrm flipH="1">
            <a:off x="6940550" y="2222500"/>
            <a:ext cx="0" cy="2865438"/>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111628" name="Text Box 12"/>
          <p:cNvSpPr txBox="1">
            <a:spLocks noChangeArrowheads="1"/>
          </p:cNvSpPr>
          <p:nvPr/>
        </p:nvSpPr>
        <p:spPr bwMode="auto">
          <a:xfrm>
            <a:off x="3557588" y="1752600"/>
            <a:ext cx="2019300" cy="469900"/>
          </a:xfrm>
          <a:prstGeom prst="rect">
            <a:avLst/>
          </a:prstGeom>
          <a:solidFill>
            <a:srgbClr val="FFFFFF"/>
          </a:solidFill>
          <a:ln w="9525">
            <a:solidFill>
              <a:srgbClr val="000000"/>
            </a:solidFill>
            <a:miter lim="800000"/>
            <a:headEnd/>
            <a:tailEnd/>
          </a:ln>
        </p:spPr>
        <p:txBody>
          <a:bodyPr/>
          <a:lstStyle/>
          <a:p>
            <a:pPr algn="ctr"/>
            <a:r>
              <a:rPr lang="fr-FR" altLang="fr-FR" sz="1600" u="sng">
                <a:solidFill>
                  <a:schemeClr val="tx2"/>
                </a:solidFill>
              </a:rPr>
              <a:t>: Sujet concret</a:t>
            </a:r>
          </a:p>
          <a:p>
            <a:endParaRPr lang="fr-FR" altLang="fr-FR">
              <a:solidFill>
                <a:schemeClr val="tx2"/>
              </a:solidFill>
            </a:endParaRPr>
          </a:p>
        </p:txBody>
      </p:sp>
      <p:sp>
        <p:nvSpPr>
          <p:cNvPr id="111629" name="Line 13"/>
          <p:cNvSpPr>
            <a:spLocks noChangeShapeType="1"/>
          </p:cNvSpPr>
          <p:nvPr/>
        </p:nvSpPr>
        <p:spPr bwMode="auto">
          <a:xfrm>
            <a:off x="4543425" y="2222500"/>
            <a:ext cx="0" cy="2865438"/>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111630" name="Line 14"/>
          <p:cNvSpPr>
            <a:spLocks noChangeShapeType="1"/>
          </p:cNvSpPr>
          <p:nvPr/>
        </p:nvSpPr>
        <p:spPr bwMode="auto">
          <a:xfrm>
            <a:off x="4572000" y="4343400"/>
            <a:ext cx="232886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111631" name="Rectangle 15"/>
          <p:cNvSpPr>
            <a:spLocks noChangeArrowheads="1"/>
          </p:cNvSpPr>
          <p:nvPr/>
        </p:nvSpPr>
        <p:spPr bwMode="auto">
          <a:xfrm>
            <a:off x="4497388" y="2833688"/>
            <a:ext cx="103187" cy="1966912"/>
          </a:xfrm>
          <a:prstGeom prst="rect">
            <a:avLst/>
          </a:prstGeom>
          <a:solidFill>
            <a:srgbClr val="FFFFFF"/>
          </a:solidFill>
          <a:ln w="9525">
            <a:solidFill>
              <a:srgbClr val="000000"/>
            </a:solidFill>
            <a:miter lim="800000"/>
            <a:headEnd/>
            <a:tailEnd/>
          </a:ln>
        </p:spPr>
        <p:txBody>
          <a:bodyPr/>
          <a:lstStyle/>
          <a:p>
            <a:endParaRPr lang="fr-FR">
              <a:solidFill>
                <a:schemeClr val="tx2"/>
              </a:solidFill>
            </a:endParaRPr>
          </a:p>
        </p:txBody>
      </p:sp>
      <p:sp>
        <p:nvSpPr>
          <p:cNvPr id="111632" name="Rectangle 16"/>
          <p:cNvSpPr>
            <a:spLocks noChangeArrowheads="1"/>
          </p:cNvSpPr>
          <p:nvPr/>
        </p:nvSpPr>
        <p:spPr bwMode="auto">
          <a:xfrm>
            <a:off x="6902450" y="4303713"/>
            <a:ext cx="76200" cy="201612"/>
          </a:xfrm>
          <a:prstGeom prst="rect">
            <a:avLst/>
          </a:prstGeom>
          <a:solidFill>
            <a:srgbClr val="FFFFFF"/>
          </a:solidFill>
          <a:ln w="9525">
            <a:solidFill>
              <a:srgbClr val="000000"/>
            </a:solidFill>
            <a:miter lim="800000"/>
            <a:headEnd/>
            <a:tailEnd/>
          </a:ln>
        </p:spPr>
        <p:txBody>
          <a:bodyPr/>
          <a:lstStyle/>
          <a:p>
            <a:endParaRPr lang="fr-FR">
              <a:solidFill>
                <a:schemeClr val="tx2"/>
              </a:solidFill>
            </a:endParaRPr>
          </a:p>
        </p:txBody>
      </p:sp>
      <p:sp>
        <p:nvSpPr>
          <p:cNvPr id="111633" name="Text Box 17"/>
          <p:cNvSpPr txBox="1">
            <a:spLocks noChangeArrowheads="1"/>
          </p:cNvSpPr>
          <p:nvPr/>
        </p:nvSpPr>
        <p:spPr bwMode="auto">
          <a:xfrm>
            <a:off x="5238750" y="4033838"/>
            <a:ext cx="15240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fr-FR" sz="1600">
                <a:solidFill>
                  <a:schemeClr val="tx2"/>
                </a:solidFill>
              </a:rPr>
              <a:t>mettreAJour()</a:t>
            </a:r>
          </a:p>
        </p:txBody>
      </p:sp>
      <p:sp>
        <p:nvSpPr>
          <p:cNvPr id="111634" name="Text Box 18"/>
          <p:cNvSpPr txBox="1">
            <a:spLocks noChangeArrowheads="1"/>
          </p:cNvSpPr>
          <p:nvPr/>
        </p:nvSpPr>
        <p:spPr bwMode="auto">
          <a:xfrm>
            <a:off x="4800600" y="3505200"/>
            <a:ext cx="2457450"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fr-FR" sz="1600">
                <a:solidFill>
                  <a:schemeClr val="tx2"/>
                </a:solidFill>
              </a:rPr>
              <a:t>[for each observateur]</a:t>
            </a:r>
          </a:p>
        </p:txBody>
      </p:sp>
      <p:sp>
        <p:nvSpPr>
          <p:cNvPr id="111635" name="Text Box 19"/>
          <p:cNvSpPr txBox="1">
            <a:spLocks noChangeArrowheads="1"/>
          </p:cNvSpPr>
          <p:nvPr/>
        </p:nvSpPr>
        <p:spPr bwMode="auto">
          <a:xfrm>
            <a:off x="5867400" y="1752600"/>
            <a:ext cx="2200275" cy="469900"/>
          </a:xfrm>
          <a:prstGeom prst="rect">
            <a:avLst/>
          </a:prstGeom>
          <a:solidFill>
            <a:srgbClr val="FFFFFF"/>
          </a:solidFill>
          <a:ln w="9525">
            <a:solidFill>
              <a:srgbClr val="000000"/>
            </a:solidFill>
            <a:miter lim="800000"/>
            <a:headEnd/>
            <a:tailEnd/>
          </a:ln>
        </p:spPr>
        <p:txBody>
          <a:bodyPr/>
          <a:lstStyle/>
          <a:p>
            <a:pPr algn="ctr"/>
            <a:r>
              <a:rPr lang="fr-FR" altLang="fr-FR" sz="1600" u="sng">
                <a:solidFill>
                  <a:schemeClr val="tx2"/>
                </a:solidFill>
              </a:rPr>
              <a:t>: Observateur concret</a:t>
            </a:r>
          </a:p>
          <a:p>
            <a:endParaRPr lang="fr-FR" altLang="fr-FR">
              <a:solidFill>
                <a:schemeClr val="tx2"/>
              </a:solidFill>
            </a:endParaRPr>
          </a:p>
        </p:txBody>
      </p:sp>
      <p:sp>
        <p:nvSpPr>
          <p:cNvPr id="111636" name="Text Box 20"/>
          <p:cNvSpPr txBox="1">
            <a:spLocks noChangeArrowheads="1"/>
          </p:cNvSpPr>
          <p:nvPr/>
        </p:nvSpPr>
        <p:spPr bwMode="auto">
          <a:xfrm>
            <a:off x="685800" y="2740025"/>
            <a:ext cx="2667000" cy="263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fr-FR" sz="1600">
                <a:solidFill>
                  <a:schemeClr val="tx2"/>
                </a:solidFill>
              </a:rPr>
              <a:t>L’objet de classe “Sujet concret” appelle sa propre opération </a:t>
            </a:r>
            <a:r>
              <a:rPr lang="fr-FR" altLang="fr-FR" sz="1600">
                <a:solidFill>
                  <a:schemeClr val="tx2"/>
                </a:solidFill>
                <a:latin typeface="Courier New" panose="02070309020205020404" pitchFamily="49" charset="0"/>
              </a:rPr>
              <a:t>notifier()</a:t>
            </a:r>
            <a:r>
              <a:rPr lang="fr-FR" altLang="fr-FR" sz="1600">
                <a:solidFill>
                  <a:schemeClr val="tx2"/>
                </a:solidFill>
              </a:rPr>
              <a:t> lorsque son état a changé</a:t>
            </a:r>
          </a:p>
          <a:p>
            <a:endParaRPr lang="fr-FR" altLang="fr-FR" sz="1600">
              <a:solidFill>
                <a:schemeClr val="tx2"/>
              </a:solidFill>
            </a:endParaRPr>
          </a:p>
          <a:p>
            <a:r>
              <a:rPr lang="fr-FR" altLang="fr-FR" sz="1600">
                <a:solidFill>
                  <a:schemeClr val="tx2"/>
                </a:solidFill>
              </a:rPr>
              <a:t>Chaque objet de classe “Observateur concret” effectue un traitement approprié lorsque </a:t>
            </a:r>
            <a:r>
              <a:rPr lang="fr-FR" altLang="fr-FR" sz="1600">
                <a:solidFill>
                  <a:schemeClr val="tx2"/>
                </a:solidFill>
                <a:latin typeface="Courier New" panose="02070309020205020404" pitchFamily="49" charset="0"/>
              </a:rPr>
              <a:t>mettreAJour()</a:t>
            </a:r>
            <a:r>
              <a:rPr lang="fr-FR" altLang="fr-FR" sz="1600">
                <a:solidFill>
                  <a:schemeClr val="tx2"/>
                </a:solidFill>
              </a:rPr>
              <a:t> est appelée</a:t>
            </a:r>
          </a:p>
        </p:txBody>
      </p:sp>
      <p:sp>
        <p:nvSpPr>
          <p:cNvPr id="111637" name="Rectangle 21"/>
          <p:cNvSpPr>
            <a:spLocks noChangeArrowheads="1"/>
          </p:cNvSpPr>
          <p:nvPr/>
        </p:nvSpPr>
        <p:spPr bwMode="auto">
          <a:xfrm>
            <a:off x="4557713" y="3159125"/>
            <a:ext cx="90487" cy="1489075"/>
          </a:xfrm>
          <a:prstGeom prst="rect">
            <a:avLst/>
          </a:prstGeom>
          <a:solidFill>
            <a:srgbClr val="FFFFFF"/>
          </a:solidFill>
          <a:ln w="9525">
            <a:solidFill>
              <a:srgbClr val="000000"/>
            </a:solidFill>
            <a:miter lim="800000"/>
            <a:headEnd/>
            <a:tailEnd/>
          </a:ln>
        </p:spPr>
        <p:txBody>
          <a:bodyPr/>
          <a:lstStyle/>
          <a:p>
            <a:endParaRPr lang="fr-FR">
              <a:solidFill>
                <a:schemeClr val="tx2"/>
              </a:solidFill>
            </a:endParaRPr>
          </a:p>
        </p:txBody>
      </p:sp>
      <p:sp>
        <p:nvSpPr>
          <p:cNvPr id="111638" name="Rectangle 22"/>
          <p:cNvSpPr>
            <a:spLocks noChangeArrowheads="1"/>
          </p:cNvSpPr>
          <p:nvPr/>
        </p:nvSpPr>
        <p:spPr bwMode="auto">
          <a:xfrm>
            <a:off x="3962400" y="3505200"/>
            <a:ext cx="3589338" cy="10668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solidFill>
                <a:schemeClr val="tx2"/>
              </a:solidFill>
            </a:endParaRPr>
          </a:p>
        </p:txBody>
      </p:sp>
      <p:sp>
        <p:nvSpPr>
          <p:cNvPr id="111639" name="Line 23"/>
          <p:cNvSpPr>
            <a:spLocks noChangeShapeType="1"/>
          </p:cNvSpPr>
          <p:nvPr/>
        </p:nvSpPr>
        <p:spPr bwMode="auto">
          <a:xfrm>
            <a:off x="3962400" y="3810000"/>
            <a:ext cx="38100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fr-FR">
              <a:solidFill>
                <a:schemeClr val="tx2"/>
              </a:solidFill>
            </a:endParaRPr>
          </a:p>
        </p:txBody>
      </p:sp>
      <p:sp>
        <p:nvSpPr>
          <p:cNvPr id="111640" name="Line 24"/>
          <p:cNvSpPr>
            <a:spLocks noChangeShapeType="1"/>
          </p:cNvSpPr>
          <p:nvPr/>
        </p:nvSpPr>
        <p:spPr bwMode="auto">
          <a:xfrm flipV="1">
            <a:off x="4343400" y="3733800"/>
            <a:ext cx="76200" cy="7620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fr-FR">
              <a:solidFill>
                <a:schemeClr val="tx2"/>
              </a:solidFill>
            </a:endParaRPr>
          </a:p>
        </p:txBody>
      </p:sp>
      <p:sp>
        <p:nvSpPr>
          <p:cNvPr id="111641" name="Line 25"/>
          <p:cNvSpPr>
            <a:spLocks noChangeShapeType="1"/>
          </p:cNvSpPr>
          <p:nvPr/>
        </p:nvSpPr>
        <p:spPr bwMode="auto">
          <a:xfrm flipV="1">
            <a:off x="4419600" y="3505200"/>
            <a:ext cx="0" cy="22860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fr-FR">
              <a:solidFill>
                <a:schemeClr val="tx2"/>
              </a:solidFill>
            </a:endParaRPr>
          </a:p>
        </p:txBody>
      </p:sp>
      <p:sp>
        <p:nvSpPr>
          <p:cNvPr id="111642" name="Text Box 26"/>
          <p:cNvSpPr txBox="1">
            <a:spLocks noChangeArrowheads="1"/>
          </p:cNvSpPr>
          <p:nvPr/>
        </p:nvSpPr>
        <p:spPr bwMode="auto">
          <a:xfrm>
            <a:off x="3962400" y="3505200"/>
            <a:ext cx="5191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a:solidFill>
                  <a:schemeClr val="tx2"/>
                </a:solidFill>
              </a:rPr>
              <a:t>loop</a:t>
            </a:r>
          </a:p>
        </p:txBody>
      </p:sp>
    </p:spTree>
    <p:extLst>
      <p:ext uri="{BB962C8B-B14F-4D97-AF65-F5344CB8AC3E}">
        <p14:creationId xmlns:p14="http://schemas.microsoft.com/office/powerpoint/2010/main" val="39327875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a:xfrm>
            <a:off x="179388" y="160338"/>
            <a:ext cx="8736012" cy="725487"/>
          </a:xfrm>
        </p:spPr>
        <p:txBody>
          <a:bodyPr/>
          <a:lstStyle/>
          <a:p>
            <a:r>
              <a:rPr lang="fr-FR" altLang="fr-FR"/>
              <a:t>Le patron de l’Observateur : Une collaboration paramétrée</a:t>
            </a:r>
          </a:p>
        </p:txBody>
      </p:sp>
      <p:sp>
        <p:nvSpPr>
          <p:cNvPr id="112643" name="Rectangle 3"/>
          <p:cNvSpPr>
            <a:spLocks noGrp="1" noChangeArrowheads="1"/>
          </p:cNvSpPr>
          <p:nvPr>
            <p:ph type="body" idx="1"/>
          </p:nvPr>
        </p:nvSpPr>
        <p:spPr>
          <a:xfrm>
            <a:off x="279400" y="1312863"/>
            <a:ext cx="8599488" cy="2446337"/>
          </a:xfrm>
        </p:spPr>
        <p:txBody>
          <a:bodyPr/>
          <a:lstStyle/>
          <a:p>
            <a:r>
              <a:rPr lang="fr-FR" altLang="fr-FR"/>
              <a:t>Les classes Sujet et Observateur mettent en œuvre la collaboration</a:t>
            </a:r>
          </a:p>
          <a:p>
            <a:pPr lvl="1"/>
            <a:r>
              <a:rPr lang="fr-FR" altLang="fr-FR"/>
              <a:t>Habituellement, elles font partie d’une bibliothèque</a:t>
            </a:r>
          </a:p>
          <a:p>
            <a:r>
              <a:rPr lang="fr-FR" altLang="fr-FR"/>
              <a:t>Pour utiliser cette collaboration, on doit écrire des classes jouant les rôles du Sujet concret et de l’Observateur concret</a:t>
            </a:r>
          </a:p>
          <a:p>
            <a:r>
              <a:rPr lang="fr-FR" altLang="fr-FR"/>
              <a:t>La collaboration est </a:t>
            </a:r>
            <a:r>
              <a:rPr lang="fr-FR" altLang="fr-FR" i="1">
                <a:latin typeface="Century Schoolbook" pitchFamily="18" charset="0"/>
              </a:rPr>
              <a:t>paramétrée</a:t>
            </a:r>
            <a:endParaRPr lang="fr-FR" altLang="fr-FR" i="1"/>
          </a:p>
          <a:p>
            <a:pPr lvl="1"/>
            <a:r>
              <a:rPr lang="fr-FR" altLang="fr-FR"/>
              <a:t>Des classes concrètes doivent être fournies afin de pouvoir l’utiliser</a:t>
            </a:r>
          </a:p>
          <a:p>
            <a:pPr lvl="1"/>
            <a:r>
              <a:rPr lang="fr-FR" altLang="fr-FR"/>
              <a:t>Pour le dessiner en UML, on utilise la notation de </a:t>
            </a:r>
            <a:r>
              <a:rPr lang="fr-FR" altLang="fr-FR" i="1">
                <a:latin typeface="Century Schoolbook" pitchFamily="18" charset="0"/>
              </a:rPr>
              <a:t>gabarit </a:t>
            </a:r>
            <a:r>
              <a:rPr lang="fr-FR" altLang="fr-FR"/>
              <a:t>(</a:t>
            </a:r>
            <a:r>
              <a:rPr lang="fr-FR" altLang="fr-FR" i="1">
                <a:latin typeface="Century Schoolbook" pitchFamily="18" charset="0"/>
              </a:rPr>
              <a:t>template</a:t>
            </a:r>
            <a:r>
              <a:rPr lang="fr-FR" altLang="fr-FR"/>
              <a:t>)</a:t>
            </a:r>
          </a:p>
        </p:txBody>
      </p:sp>
      <p:sp>
        <p:nvSpPr>
          <p:cNvPr id="112644" name="Oval 4"/>
          <p:cNvSpPr>
            <a:spLocks noChangeArrowheads="1"/>
          </p:cNvSpPr>
          <p:nvPr/>
        </p:nvSpPr>
        <p:spPr bwMode="auto">
          <a:xfrm>
            <a:off x="2819400" y="4905375"/>
            <a:ext cx="1944688" cy="704850"/>
          </a:xfrm>
          <a:prstGeom prst="ellipse">
            <a:avLst/>
          </a:prstGeom>
          <a:solidFill>
            <a:srgbClr val="FFFFFF"/>
          </a:solidFill>
          <a:ln w="9525">
            <a:solidFill>
              <a:schemeClr val="tx1"/>
            </a:solidFill>
            <a:prstDash val="lgDash"/>
            <a:round/>
            <a:headEnd/>
            <a:tailEnd/>
          </a:ln>
        </p:spPr>
        <p:txBody>
          <a:bodyPr/>
          <a:lstStyle/>
          <a:p>
            <a:endParaRPr lang="fr-FR">
              <a:solidFill>
                <a:schemeClr val="tx2"/>
              </a:solidFill>
            </a:endParaRPr>
          </a:p>
        </p:txBody>
      </p:sp>
      <p:sp>
        <p:nvSpPr>
          <p:cNvPr id="112645" name="Text Box 5"/>
          <p:cNvSpPr txBox="1">
            <a:spLocks noChangeArrowheads="1"/>
          </p:cNvSpPr>
          <p:nvPr/>
        </p:nvSpPr>
        <p:spPr bwMode="auto">
          <a:xfrm>
            <a:off x="3048000" y="4953000"/>
            <a:ext cx="1546225"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
                <a:miter lim="800000"/>
                <a:headEnd/>
                <a:tailEnd/>
              </a14:hiddenLine>
            </a:ext>
          </a:extLst>
        </p:spPr>
        <p:txBody>
          <a:bodyPr/>
          <a:lstStyle/>
          <a:p>
            <a:pPr algn="ctr"/>
            <a:r>
              <a:rPr lang="en-US" altLang="fr-FR" sz="1600" b="1">
                <a:solidFill>
                  <a:schemeClr val="tx2"/>
                </a:solidFill>
              </a:rPr>
              <a:t>Patron de l’Observateur</a:t>
            </a:r>
          </a:p>
        </p:txBody>
      </p:sp>
      <p:sp>
        <p:nvSpPr>
          <p:cNvPr id="112646" name="Text Box 6"/>
          <p:cNvSpPr txBox="1">
            <a:spLocks noChangeArrowheads="1"/>
          </p:cNvSpPr>
          <p:nvPr/>
        </p:nvSpPr>
        <p:spPr bwMode="auto">
          <a:xfrm>
            <a:off x="4248150" y="4435475"/>
            <a:ext cx="2076450" cy="611188"/>
          </a:xfrm>
          <a:prstGeom prst="rect">
            <a:avLst/>
          </a:prstGeom>
          <a:solidFill>
            <a:srgbClr val="FFFFFF"/>
          </a:solidFill>
          <a:ln w="9525">
            <a:solidFill>
              <a:schemeClr val="tx1"/>
            </a:solidFill>
            <a:prstDash val="lgDash"/>
            <a:miter lim="800000"/>
            <a:headEnd/>
            <a:tailEnd/>
          </a:ln>
        </p:spPr>
        <p:txBody>
          <a:bodyPr/>
          <a:lstStyle/>
          <a:p>
            <a:r>
              <a:rPr lang="en-US" altLang="fr-FR" sz="1600">
                <a:solidFill>
                  <a:schemeClr val="tx2"/>
                </a:solidFill>
              </a:rPr>
              <a:t>Obervateur concret</a:t>
            </a:r>
          </a:p>
          <a:p>
            <a:r>
              <a:rPr lang="en-US" altLang="fr-FR" sz="1600">
                <a:solidFill>
                  <a:schemeClr val="tx2"/>
                </a:solidFill>
              </a:rPr>
              <a:t>Sujet concret</a:t>
            </a:r>
          </a:p>
        </p:txBody>
      </p:sp>
    </p:spTree>
    <p:extLst>
      <p:ext uri="{BB962C8B-B14F-4D97-AF65-F5344CB8AC3E}">
        <p14:creationId xmlns:p14="http://schemas.microsoft.com/office/powerpoint/2010/main" val="30568640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r>
              <a:rPr lang="fr-FR" altLang="fr-FR"/>
              <a:t>Utiliser un patron</a:t>
            </a:r>
          </a:p>
        </p:txBody>
      </p:sp>
      <p:sp>
        <p:nvSpPr>
          <p:cNvPr id="114691" name="Rectangle 3"/>
          <p:cNvSpPr>
            <a:spLocks noGrp="1" noChangeArrowheads="1"/>
          </p:cNvSpPr>
          <p:nvPr>
            <p:ph type="body" idx="1"/>
          </p:nvPr>
        </p:nvSpPr>
        <p:spPr>
          <a:xfrm>
            <a:off x="279400" y="1312863"/>
            <a:ext cx="8599488" cy="666750"/>
          </a:xfrm>
        </p:spPr>
        <p:txBody>
          <a:bodyPr/>
          <a:lstStyle/>
          <a:p>
            <a:r>
              <a:rPr lang="fr-FR" altLang="fr-FR"/>
              <a:t>La collaboration peut apparaître sur un diagramme de classes</a:t>
            </a:r>
          </a:p>
          <a:p>
            <a:pPr lvl="1"/>
            <a:r>
              <a:rPr lang="fr-FR" altLang="fr-FR"/>
              <a:t>Elle montre les rôles des classes dans le patron de conception</a:t>
            </a:r>
          </a:p>
        </p:txBody>
      </p:sp>
      <p:sp>
        <p:nvSpPr>
          <p:cNvPr id="114692" name="Line 4"/>
          <p:cNvSpPr>
            <a:spLocks noChangeShapeType="1"/>
          </p:cNvSpPr>
          <p:nvPr/>
        </p:nvSpPr>
        <p:spPr bwMode="auto">
          <a:xfrm flipV="1">
            <a:off x="2559050" y="4057650"/>
            <a:ext cx="1139825" cy="825500"/>
          </a:xfrm>
          <a:prstGeom prst="line">
            <a:avLst/>
          </a:prstGeom>
          <a:noFill/>
          <a:ln w="9525">
            <a:solidFill>
              <a:schemeClr val="tx1"/>
            </a:solidFill>
            <a:prstDash val="lgDash"/>
            <a:round/>
            <a:headEnd/>
            <a:tailEnd type="arrow" w="lg" len="me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114693" name="Line 5"/>
          <p:cNvSpPr>
            <a:spLocks noChangeShapeType="1"/>
          </p:cNvSpPr>
          <p:nvPr/>
        </p:nvSpPr>
        <p:spPr bwMode="auto">
          <a:xfrm flipH="1" flipV="1">
            <a:off x="5070475" y="4065588"/>
            <a:ext cx="1060450" cy="865187"/>
          </a:xfrm>
          <a:prstGeom prst="line">
            <a:avLst/>
          </a:prstGeom>
          <a:noFill/>
          <a:ln w="9525">
            <a:solidFill>
              <a:schemeClr val="tx1"/>
            </a:solidFill>
            <a:prstDash val="lgDash"/>
            <a:round/>
            <a:headEnd/>
            <a:tailEnd type="arrow" w="lg" len="me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114694" name="Oval 6"/>
          <p:cNvSpPr>
            <a:spLocks noChangeArrowheads="1"/>
          </p:cNvSpPr>
          <p:nvPr/>
        </p:nvSpPr>
        <p:spPr bwMode="auto">
          <a:xfrm>
            <a:off x="3429000" y="3429000"/>
            <a:ext cx="1981200" cy="714375"/>
          </a:xfrm>
          <a:prstGeom prst="ellipse">
            <a:avLst/>
          </a:prstGeom>
          <a:solidFill>
            <a:srgbClr val="FFFFFF"/>
          </a:solidFill>
          <a:ln w="9525">
            <a:solidFill>
              <a:schemeClr val="tx1"/>
            </a:solidFill>
            <a:prstDash val="lgDash"/>
            <a:round/>
            <a:headEnd/>
            <a:tailEnd/>
          </a:ln>
        </p:spPr>
        <p:txBody>
          <a:bodyPr/>
          <a:lstStyle/>
          <a:p>
            <a:endParaRPr lang="fr-FR">
              <a:solidFill>
                <a:schemeClr val="tx2"/>
              </a:solidFill>
            </a:endParaRPr>
          </a:p>
        </p:txBody>
      </p:sp>
      <p:sp>
        <p:nvSpPr>
          <p:cNvPr id="114695" name="Text Box 7"/>
          <p:cNvSpPr txBox="1">
            <a:spLocks noChangeArrowheads="1"/>
          </p:cNvSpPr>
          <p:nvPr/>
        </p:nvSpPr>
        <p:spPr bwMode="auto">
          <a:xfrm>
            <a:off x="3657600" y="3505200"/>
            <a:ext cx="1524000"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
                <a:miter lim="800000"/>
                <a:headEnd/>
                <a:tailEnd/>
              </a14:hiddenLine>
            </a:ext>
          </a:extLst>
        </p:spPr>
        <p:txBody>
          <a:bodyPr/>
          <a:lstStyle/>
          <a:p>
            <a:pPr algn="ctr"/>
            <a:r>
              <a:rPr lang="fr-FR" altLang="fr-FR" sz="1600" b="1">
                <a:solidFill>
                  <a:schemeClr val="tx2"/>
                </a:solidFill>
              </a:rPr>
              <a:t>Patron de l’Observateur</a:t>
            </a:r>
          </a:p>
        </p:txBody>
      </p:sp>
      <p:sp>
        <p:nvSpPr>
          <p:cNvPr id="114696" name="Text Box 8"/>
          <p:cNvSpPr txBox="1">
            <a:spLocks noChangeArrowheads="1"/>
          </p:cNvSpPr>
          <p:nvPr/>
        </p:nvSpPr>
        <p:spPr bwMode="auto">
          <a:xfrm>
            <a:off x="4572000" y="2895600"/>
            <a:ext cx="2078038" cy="611188"/>
          </a:xfrm>
          <a:prstGeom prst="rect">
            <a:avLst/>
          </a:prstGeom>
          <a:solidFill>
            <a:srgbClr val="FFFFFF"/>
          </a:solidFill>
          <a:ln w="9525">
            <a:solidFill>
              <a:schemeClr val="tx1"/>
            </a:solidFill>
            <a:prstDash val="lgDash"/>
            <a:miter lim="800000"/>
            <a:headEnd/>
            <a:tailEnd/>
          </a:ln>
        </p:spPr>
        <p:txBody>
          <a:bodyPr/>
          <a:lstStyle/>
          <a:p>
            <a:r>
              <a:rPr lang="fr-FR" altLang="fr-FR" sz="1600">
                <a:solidFill>
                  <a:schemeClr val="tx2"/>
                </a:solidFill>
              </a:rPr>
              <a:t>Observateur concret</a:t>
            </a:r>
          </a:p>
          <a:p>
            <a:r>
              <a:rPr lang="fr-FR" altLang="fr-FR" sz="1600">
                <a:solidFill>
                  <a:schemeClr val="tx2"/>
                </a:solidFill>
              </a:rPr>
              <a:t>Sujet concret</a:t>
            </a:r>
          </a:p>
        </p:txBody>
      </p:sp>
      <p:sp>
        <p:nvSpPr>
          <p:cNvPr id="114697" name="Text Box 9"/>
          <p:cNvSpPr txBox="1">
            <a:spLocks noChangeArrowheads="1"/>
          </p:cNvSpPr>
          <p:nvPr/>
        </p:nvSpPr>
        <p:spPr bwMode="auto">
          <a:xfrm>
            <a:off x="1536700" y="4894263"/>
            <a:ext cx="1973263" cy="423862"/>
          </a:xfrm>
          <a:prstGeom prst="rect">
            <a:avLst/>
          </a:prstGeom>
          <a:solidFill>
            <a:srgbClr val="FFFFFF"/>
          </a:solidFill>
          <a:ln w="9525">
            <a:solidFill>
              <a:schemeClr val="tx1"/>
            </a:solidFill>
            <a:miter lim="800000"/>
            <a:headEnd/>
            <a:tailEnd/>
          </a:ln>
        </p:spPr>
        <p:txBody>
          <a:bodyPr/>
          <a:lstStyle/>
          <a:p>
            <a:pPr algn="ctr"/>
            <a:r>
              <a:rPr lang="fr-FR" altLang="fr-FR" sz="1600" b="1">
                <a:solidFill>
                  <a:schemeClr val="tx2"/>
                </a:solidFill>
              </a:rPr>
              <a:t>Document</a:t>
            </a:r>
            <a:endParaRPr lang="fr-FR" altLang="fr-FR" sz="1600">
              <a:solidFill>
                <a:schemeClr val="tx2"/>
              </a:solidFill>
            </a:endParaRPr>
          </a:p>
          <a:p>
            <a:endParaRPr lang="fr-FR" altLang="fr-FR" sz="1600">
              <a:solidFill>
                <a:schemeClr val="tx2"/>
              </a:solidFill>
            </a:endParaRPr>
          </a:p>
          <a:p>
            <a:endParaRPr lang="fr-FR" altLang="fr-FR" sz="1600">
              <a:solidFill>
                <a:schemeClr val="tx2"/>
              </a:solidFill>
            </a:endParaRPr>
          </a:p>
          <a:p>
            <a:endParaRPr lang="fr-FR" altLang="fr-FR" sz="1600">
              <a:solidFill>
                <a:schemeClr val="tx2"/>
              </a:solidFill>
            </a:endParaRPr>
          </a:p>
          <a:p>
            <a:endParaRPr lang="fr-FR" altLang="fr-FR" sz="1600">
              <a:solidFill>
                <a:schemeClr val="tx2"/>
              </a:solidFill>
            </a:endParaRPr>
          </a:p>
          <a:p>
            <a:endParaRPr lang="fr-FR" altLang="fr-FR" sz="1600">
              <a:solidFill>
                <a:schemeClr val="tx2"/>
              </a:solidFill>
            </a:endParaRPr>
          </a:p>
        </p:txBody>
      </p:sp>
      <p:sp>
        <p:nvSpPr>
          <p:cNvPr id="114698" name="Text Box 10"/>
          <p:cNvSpPr txBox="1">
            <a:spLocks noChangeArrowheads="1"/>
          </p:cNvSpPr>
          <p:nvPr/>
        </p:nvSpPr>
        <p:spPr bwMode="auto">
          <a:xfrm>
            <a:off x="990600" y="4572000"/>
            <a:ext cx="15240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
                <a:miter lim="800000"/>
                <a:headEnd/>
                <a:tailEnd/>
              </a14:hiddenLine>
            </a:ext>
          </a:extLst>
        </p:spPr>
        <p:txBody>
          <a:bodyPr/>
          <a:lstStyle/>
          <a:p>
            <a:pPr algn="r"/>
            <a:r>
              <a:rPr lang="fr-FR" altLang="fr-FR" sz="1600">
                <a:solidFill>
                  <a:schemeClr val="tx2"/>
                </a:solidFill>
              </a:rPr>
              <a:t>Sujet concret</a:t>
            </a:r>
          </a:p>
        </p:txBody>
      </p:sp>
      <p:sp>
        <p:nvSpPr>
          <p:cNvPr id="114699" name="Text Box 11"/>
          <p:cNvSpPr txBox="1">
            <a:spLocks noChangeArrowheads="1"/>
          </p:cNvSpPr>
          <p:nvPr/>
        </p:nvSpPr>
        <p:spPr bwMode="auto">
          <a:xfrm>
            <a:off x="5143500" y="4930775"/>
            <a:ext cx="1973263" cy="422275"/>
          </a:xfrm>
          <a:prstGeom prst="rect">
            <a:avLst/>
          </a:prstGeom>
          <a:solidFill>
            <a:srgbClr val="FFFFFF"/>
          </a:solidFill>
          <a:ln w="9525">
            <a:solidFill>
              <a:schemeClr val="tx1"/>
            </a:solidFill>
            <a:miter lim="800000"/>
            <a:headEnd/>
            <a:tailEnd/>
          </a:ln>
        </p:spPr>
        <p:txBody>
          <a:bodyPr/>
          <a:lstStyle/>
          <a:p>
            <a:pPr algn="ctr"/>
            <a:r>
              <a:rPr lang="fr-FR" altLang="fr-FR" sz="1600" b="1">
                <a:solidFill>
                  <a:schemeClr val="tx2"/>
                </a:solidFill>
              </a:rPr>
              <a:t>Fenêtre</a:t>
            </a:r>
            <a:endParaRPr lang="fr-FR" altLang="fr-FR" sz="1600">
              <a:solidFill>
                <a:schemeClr val="tx2"/>
              </a:solidFill>
            </a:endParaRPr>
          </a:p>
          <a:p>
            <a:endParaRPr lang="fr-FR" altLang="fr-FR" sz="1600">
              <a:solidFill>
                <a:schemeClr val="tx2"/>
              </a:solidFill>
            </a:endParaRPr>
          </a:p>
          <a:p>
            <a:endParaRPr lang="fr-FR" altLang="fr-FR" sz="1600">
              <a:solidFill>
                <a:schemeClr val="tx2"/>
              </a:solidFill>
            </a:endParaRPr>
          </a:p>
          <a:p>
            <a:endParaRPr lang="fr-FR" altLang="fr-FR" sz="1600">
              <a:solidFill>
                <a:schemeClr val="tx2"/>
              </a:solidFill>
            </a:endParaRPr>
          </a:p>
          <a:p>
            <a:endParaRPr lang="fr-FR" altLang="fr-FR" sz="1600">
              <a:solidFill>
                <a:schemeClr val="tx2"/>
              </a:solidFill>
            </a:endParaRPr>
          </a:p>
          <a:p>
            <a:endParaRPr lang="fr-FR" altLang="fr-FR" sz="1600">
              <a:solidFill>
                <a:schemeClr val="tx2"/>
              </a:solidFill>
            </a:endParaRPr>
          </a:p>
        </p:txBody>
      </p:sp>
      <p:sp>
        <p:nvSpPr>
          <p:cNvPr id="114700" name="Text Box 12"/>
          <p:cNvSpPr txBox="1">
            <a:spLocks noChangeArrowheads="1"/>
          </p:cNvSpPr>
          <p:nvPr/>
        </p:nvSpPr>
        <p:spPr bwMode="auto">
          <a:xfrm>
            <a:off x="6096000" y="4572000"/>
            <a:ext cx="2057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
                <a:miter lim="800000"/>
                <a:headEnd/>
                <a:tailEnd/>
              </a14:hiddenLine>
            </a:ext>
          </a:extLst>
        </p:spPr>
        <p:txBody>
          <a:bodyPr/>
          <a:lstStyle/>
          <a:p>
            <a:r>
              <a:rPr lang="fr-FR" altLang="fr-FR" sz="1600">
                <a:solidFill>
                  <a:schemeClr val="tx2"/>
                </a:solidFill>
              </a:rPr>
              <a:t>Observateur concret</a:t>
            </a:r>
          </a:p>
        </p:txBody>
      </p:sp>
      <p:sp>
        <p:nvSpPr>
          <p:cNvPr id="114701" name="Text Box 13"/>
          <p:cNvSpPr txBox="1">
            <a:spLocks noChangeArrowheads="1"/>
          </p:cNvSpPr>
          <p:nvPr/>
        </p:nvSpPr>
        <p:spPr bwMode="auto">
          <a:xfrm>
            <a:off x="2387600" y="4141788"/>
            <a:ext cx="9064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sz="1600">
                <a:solidFill>
                  <a:schemeClr val="tx2"/>
                </a:solidFill>
                <a:cs typeface="Arial" panose="020B0604020202020204" pitchFamily="34" charset="0"/>
              </a:rPr>
              <a:t>« </a:t>
            </a:r>
            <a:r>
              <a:rPr lang="fr-FR" altLang="fr-FR" sz="1600">
                <a:solidFill>
                  <a:schemeClr val="tx2"/>
                </a:solidFill>
              </a:rPr>
              <a:t>bind </a:t>
            </a:r>
            <a:r>
              <a:rPr lang="fr-FR" altLang="fr-FR" sz="1600">
                <a:solidFill>
                  <a:schemeClr val="tx2"/>
                </a:solidFill>
                <a:cs typeface="Arial" panose="020B0604020202020204" pitchFamily="34" charset="0"/>
              </a:rPr>
              <a:t>»</a:t>
            </a:r>
            <a:endParaRPr lang="fr-FR" altLang="fr-FR" sz="1600">
              <a:solidFill>
                <a:schemeClr val="tx2"/>
              </a:solidFill>
            </a:endParaRPr>
          </a:p>
        </p:txBody>
      </p:sp>
      <p:sp>
        <p:nvSpPr>
          <p:cNvPr id="114702" name="Text Box 14"/>
          <p:cNvSpPr txBox="1">
            <a:spLocks noChangeArrowheads="1"/>
          </p:cNvSpPr>
          <p:nvPr/>
        </p:nvSpPr>
        <p:spPr bwMode="auto">
          <a:xfrm>
            <a:off x="5519738" y="4171950"/>
            <a:ext cx="9064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sz="1600">
                <a:solidFill>
                  <a:schemeClr val="tx2"/>
                </a:solidFill>
                <a:cs typeface="Arial" panose="020B0604020202020204" pitchFamily="34" charset="0"/>
              </a:rPr>
              <a:t>« </a:t>
            </a:r>
            <a:r>
              <a:rPr lang="fr-FR" altLang="fr-FR" sz="1600">
                <a:solidFill>
                  <a:schemeClr val="tx2"/>
                </a:solidFill>
              </a:rPr>
              <a:t>bind </a:t>
            </a:r>
            <a:r>
              <a:rPr lang="fr-FR" altLang="fr-FR" sz="1600">
                <a:solidFill>
                  <a:schemeClr val="tx2"/>
                </a:solidFill>
                <a:cs typeface="Arial" panose="020B0604020202020204" pitchFamily="34" charset="0"/>
              </a:rPr>
              <a:t>»</a:t>
            </a:r>
            <a:endParaRPr lang="fr-FR" altLang="fr-FR" sz="1600">
              <a:solidFill>
                <a:schemeClr val="tx2"/>
              </a:solidFill>
            </a:endParaRPr>
          </a:p>
        </p:txBody>
      </p:sp>
    </p:spTree>
    <p:extLst>
      <p:ext uri="{BB962C8B-B14F-4D97-AF65-F5344CB8AC3E}">
        <p14:creationId xmlns:p14="http://schemas.microsoft.com/office/powerpoint/2010/main" val="17663395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fr-FR" altLang="fr-FR"/>
              <a:t>Qu’est-ce qu’un diagramme d’états ?</a:t>
            </a:r>
          </a:p>
        </p:txBody>
      </p:sp>
      <p:sp>
        <p:nvSpPr>
          <p:cNvPr id="10243" name="Rectangle 3"/>
          <p:cNvSpPr>
            <a:spLocks noGrp="1" noChangeArrowheads="1"/>
          </p:cNvSpPr>
          <p:nvPr>
            <p:ph type="body" idx="1"/>
          </p:nvPr>
        </p:nvSpPr>
        <p:spPr>
          <a:xfrm>
            <a:off x="304800" y="2819400"/>
            <a:ext cx="8599488" cy="2293938"/>
          </a:xfrm>
        </p:spPr>
        <p:txBody>
          <a:bodyPr/>
          <a:lstStyle/>
          <a:p>
            <a:r>
              <a:rPr lang="fr-FR" altLang="fr-FR"/>
              <a:t>Les</a:t>
            </a:r>
            <a:r>
              <a:rPr lang="fr-FR" altLang="fr-FR">
                <a:latin typeface="Century Schoolbook" pitchFamily="18" charset="0"/>
              </a:rPr>
              <a:t> </a:t>
            </a:r>
            <a:r>
              <a:rPr lang="fr-FR" altLang="fr-FR" i="1">
                <a:latin typeface="Century Schoolbook" pitchFamily="18" charset="0"/>
              </a:rPr>
              <a:t>diagrammes d’états</a:t>
            </a:r>
            <a:r>
              <a:rPr lang="fr-FR" altLang="fr-FR"/>
              <a:t> décrivent la vie d’un objet en utilisant trois éléments principaux</a:t>
            </a:r>
          </a:p>
          <a:p>
            <a:pPr lvl="1"/>
            <a:r>
              <a:rPr lang="fr-FR" altLang="fr-FR"/>
              <a:t>Les états possibles de l’objet</a:t>
            </a:r>
          </a:p>
          <a:p>
            <a:pPr lvl="1"/>
            <a:r>
              <a:rPr lang="fr-FR" altLang="fr-FR"/>
              <a:t>Les transitions montrant comment l’objet peut changer d’état</a:t>
            </a:r>
          </a:p>
          <a:p>
            <a:pPr lvl="1"/>
            <a:r>
              <a:rPr lang="fr-FR" altLang="fr-FR"/>
              <a:t>Les événements qui provoquent ces transitions</a:t>
            </a:r>
          </a:p>
          <a:p>
            <a:r>
              <a:rPr lang="fr-FR" altLang="fr-FR"/>
              <a:t>Un diagramme d’états spécifie une </a:t>
            </a:r>
            <a:r>
              <a:rPr lang="fr-FR" altLang="fr-FR" i="1">
                <a:latin typeface="Century Schoolbook" pitchFamily="18" charset="0"/>
              </a:rPr>
              <a:t>machine d’états </a:t>
            </a:r>
            <a:r>
              <a:rPr lang="fr-FR" altLang="fr-FR"/>
              <a:t>pour une classe</a:t>
            </a:r>
          </a:p>
          <a:p>
            <a:pPr lvl="1"/>
            <a:r>
              <a:rPr lang="fr-FR" altLang="fr-FR"/>
              <a:t>Chaque objet de cette classe possède sa propre machine d’états</a:t>
            </a:r>
          </a:p>
        </p:txBody>
      </p:sp>
      <p:sp>
        <p:nvSpPr>
          <p:cNvPr id="10244" name="Rectangle 4"/>
          <p:cNvSpPr>
            <a:spLocks noChangeArrowheads="1"/>
          </p:cNvSpPr>
          <p:nvPr/>
        </p:nvSpPr>
        <p:spPr bwMode="blackWhite">
          <a:xfrm>
            <a:off x="1219200" y="1371600"/>
            <a:ext cx="6705600" cy="1295400"/>
          </a:xfrm>
          <a:prstGeom prst="rect">
            <a:avLst/>
          </a:prstGeom>
          <a:solidFill>
            <a:srgbClr val="FFFFCC"/>
          </a:solidFill>
          <a:ln w="12700">
            <a:solidFill>
              <a:schemeClr val="tx1"/>
            </a:solidFill>
            <a:miter lim="800000"/>
            <a:headEnd/>
            <a:tailEnd/>
          </a:ln>
          <a:effectLst>
            <a:outerShdw dist="107763" dir="2700000" algn="ctr" rotWithShape="0">
              <a:schemeClr val="tx1"/>
            </a:outerShdw>
          </a:effectLst>
        </p:spPr>
        <p:txBody>
          <a:bodyPr anchor="ctr">
            <a:spAutoFit/>
          </a:bodyPr>
          <a:lstStyle/>
          <a:p>
            <a:endParaRPr lang="fr-FR"/>
          </a:p>
        </p:txBody>
      </p:sp>
      <p:sp>
        <p:nvSpPr>
          <p:cNvPr id="10245" name="Text Box 5"/>
          <p:cNvSpPr txBox="1">
            <a:spLocks noChangeArrowheads="1"/>
          </p:cNvSpPr>
          <p:nvPr/>
        </p:nvSpPr>
        <p:spPr bwMode="auto">
          <a:xfrm>
            <a:off x="1287463" y="1447800"/>
            <a:ext cx="6569075" cy="915988"/>
          </a:xfrm>
          <a:prstGeom prst="rect">
            <a:avLst/>
          </a:prstGeom>
          <a:solidFill>
            <a:srgbClr val="FFFFCC"/>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fr-FR" altLang="fr-FR" sz="1800" b="1" i="1" dirty="0">
                <a:solidFill>
                  <a:schemeClr val="tx2"/>
                </a:solidFill>
                <a:latin typeface="Century Schoolbook" pitchFamily="18" charset="0"/>
              </a:rPr>
              <a:t>“Les diagrammes d’états représentent le comportement d’entités réagissant de manière dynamique, en spécifiant leurs réponses à la réception d’instances d’événements.”*</a:t>
            </a:r>
          </a:p>
        </p:txBody>
      </p:sp>
    </p:spTree>
    <p:extLst>
      <p:ext uri="{BB962C8B-B14F-4D97-AF65-F5344CB8AC3E}">
        <p14:creationId xmlns:p14="http://schemas.microsoft.com/office/powerpoint/2010/main" val="15908083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fr-FR" altLang="fr-FR"/>
              <a:t>Pourquoi utiliser des diagrammes d’états ?</a:t>
            </a:r>
          </a:p>
        </p:txBody>
      </p:sp>
      <p:sp>
        <p:nvSpPr>
          <p:cNvPr id="15363" name="Rectangle 3"/>
          <p:cNvSpPr>
            <a:spLocks noGrp="1" noChangeArrowheads="1"/>
          </p:cNvSpPr>
          <p:nvPr>
            <p:ph type="body" idx="1"/>
          </p:nvPr>
        </p:nvSpPr>
        <p:spPr>
          <a:xfrm>
            <a:off x="279400" y="1312863"/>
            <a:ext cx="8599488" cy="4638675"/>
          </a:xfrm>
        </p:spPr>
        <p:txBody>
          <a:bodyPr/>
          <a:lstStyle/>
          <a:p>
            <a:r>
              <a:rPr lang="fr-FR" altLang="fr-FR"/>
              <a:t>Les diagrammes d’états sont typiquement utilisés pour décrire un comportement à base d’états</a:t>
            </a:r>
          </a:p>
          <a:p>
            <a:pPr lvl="1"/>
            <a:r>
              <a:rPr lang="fr-FR" altLang="fr-FR"/>
              <a:t>Dans lequel un objet répondra différemment au même stimulus, suivant son état</a:t>
            </a:r>
          </a:p>
          <a:p>
            <a:pPr lvl="1"/>
            <a:r>
              <a:rPr lang="fr-FR" altLang="fr-FR"/>
              <a:t>Appliqué généralement aux classes, mais applicable à tout élément possédant un comportement : par exemple les acteurs, les cas d’utilisation ou les méthodes</a:t>
            </a:r>
          </a:p>
          <a:p>
            <a:r>
              <a:rPr lang="fr-FR" altLang="fr-FR"/>
              <a:t>Les diagrammes d’états sont utilisés conjointement </a:t>
            </a:r>
            <a:br>
              <a:rPr lang="fr-FR" altLang="fr-FR"/>
            </a:br>
            <a:r>
              <a:rPr lang="fr-FR" altLang="fr-FR"/>
              <a:t>aux diagrammes d’interactions</a:t>
            </a:r>
          </a:p>
          <a:p>
            <a:pPr lvl="1"/>
            <a:r>
              <a:rPr lang="fr-FR" altLang="fr-FR"/>
              <a:t>Un diagramme d’états décrit les </a:t>
            </a:r>
            <a:br>
              <a:rPr lang="fr-FR" altLang="fr-FR"/>
            </a:br>
            <a:r>
              <a:rPr lang="fr-FR" altLang="fr-FR"/>
              <a:t>événements pour un seul objet, mais pour </a:t>
            </a:r>
            <a:br>
              <a:rPr lang="fr-FR" altLang="fr-FR"/>
            </a:br>
            <a:r>
              <a:rPr lang="fr-FR" altLang="fr-FR"/>
              <a:t>toutes les interactions auxquelles il prend part</a:t>
            </a:r>
          </a:p>
          <a:p>
            <a:pPr lvl="1">
              <a:buFont typeface="Arial" panose="020B0604020202020204" pitchFamily="34" charset="0"/>
              <a:buNone/>
            </a:pPr>
            <a:endParaRPr lang="fr-FR" altLang="fr-FR" sz="800"/>
          </a:p>
          <a:p>
            <a:pPr lvl="1"/>
            <a:r>
              <a:rPr lang="fr-FR" altLang="fr-FR"/>
              <a:t>Un diagramme d’interactions décrit les</a:t>
            </a:r>
            <a:br>
              <a:rPr lang="fr-FR" altLang="fr-FR"/>
            </a:br>
            <a:r>
              <a:rPr lang="fr-FR" altLang="fr-FR"/>
              <a:t>événements pour une seule interaction, mais </a:t>
            </a:r>
            <a:br>
              <a:rPr lang="fr-FR" altLang="fr-FR"/>
            </a:br>
            <a:r>
              <a:rPr lang="fr-FR" altLang="fr-FR"/>
              <a:t>pour tous les objets qui y prennent part</a:t>
            </a:r>
          </a:p>
        </p:txBody>
      </p:sp>
      <p:sp>
        <p:nvSpPr>
          <p:cNvPr id="15364" name="Line 4"/>
          <p:cNvSpPr>
            <a:spLocks noChangeShapeType="1"/>
          </p:cNvSpPr>
          <p:nvPr/>
        </p:nvSpPr>
        <p:spPr bwMode="gray">
          <a:xfrm flipV="1">
            <a:off x="6810375" y="4102100"/>
            <a:ext cx="0" cy="16049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5365" name="Line 5"/>
          <p:cNvSpPr>
            <a:spLocks noChangeShapeType="1"/>
          </p:cNvSpPr>
          <p:nvPr/>
        </p:nvSpPr>
        <p:spPr bwMode="gray">
          <a:xfrm>
            <a:off x="6810375" y="5716588"/>
            <a:ext cx="19272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5366" name="Text Box 6"/>
          <p:cNvSpPr txBox="1">
            <a:spLocks noChangeArrowheads="1"/>
          </p:cNvSpPr>
          <p:nvPr/>
        </p:nvSpPr>
        <p:spPr bwMode="gray">
          <a:xfrm>
            <a:off x="7924800" y="5791200"/>
            <a:ext cx="939800"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fr-FR" altLang="fr-FR" sz="1600"/>
              <a:t>Objets</a:t>
            </a:r>
          </a:p>
        </p:txBody>
      </p:sp>
      <p:sp>
        <p:nvSpPr>
          <p:cNvPr id="15367" name="Text Box 7"/>
          <p:cNvSpPr txBox="1">
            <a:spLocks noChangeArrowheads="1"/>
          </p:cNvSpPr>
          <p:nvPr/>
        </p:nvSpPr>
        <p:spPr bwMode="gray">
          <a:xfrm>
            <a:off x="6102350" y="3811588"/>
            <a:ext cx="1409700"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fr-FR" altLang="fr-FR" sz="1600"/>
              <a:t>Interactions</a:t>
            </a:r>
          </a:p>
        </p:txBody>
      </p:sp>
      <p:sp>
        <p:nvSpPr>
          <p:cNvPr id="15368" name="Rectangle 8"/>
          <p:cNvSpPr>
            <a:spLocks noChangeArrowheads="1"/>
          </p:cNvSpPr>
          <p:nvPr/>
        </p:nvSpPr>
        <p:spPr bwMode="gray">
          <a:xfrm>
            <a:off x="7515225" y="4119563"/>
            <a:ext cx="234950" cy="1549400"/>
          </a:xfrm>
          <a:prstGeom prst="rect">
            <a:avLst/>
          </a:prstGeom>
          <a:solidFill>
            <a:schemeClr val="folHlink"/>
          </a:solidFill>
          <a:ln w="9525">
            <a:solidFill>
              <a:srgbClr val="000000"/>
            </a:solidFill>
            <a:miter lim="800000"/>
            <a:headEnd/>
            <a:tailEnd/>
          </a:ln>
        </p:spPr>
        <p:txBody>
          <a:bodyPr/>
          <a:lstStyle/>
          <a:p>
            <a:endParaRPr lang="fr-FR"/>
          </a:p>
        </p:txBody>
      </p:sp>
      <p:sp>
        <p:nvSpPr>
          <p:cNvPr id="15369" name="Rectangle 9"/>
          <p:cNvSpPr>
            <a:spLocks noChangeArrowheads="1"/>
          </p:cNvSpPr>
          <p:nvPr/>
        </p:nvSpPr>
        <p:spPr bwMode="gray">
          <a:xfrm>
            <a:off x="8032750" y="4119563"/>
            <a:ext cx="234950" cy="1549400"/>
          </a:xfrm>
          <a:prstGeom prst="rect">
            <a:avLst/>
          </a:prstGeom>
          <a:solidFill>
            <a:schemeClr val="folHlink"/>
          </a:solidFill>
          <a:ln w="9525">
            <a:solidFill>
              <a:srgbClr val="000000"/>
            </a:solidFill>
            <a:miter lim="800000"/>
            <a:headEnd/>
            <a:tailEnd/>
          </a:ln>
        </p:spPr>
        <p:txBody>
          <a:bodyPr/>
          <a:lstStyle/>
          <a:p>
            <a:endParaRPr lang="fr-FR"/>
          </a:p>
        </p:txBody>
      </p:sp>
      <p:sp>
        <p:nvSpPr>
          <p:cNvPr id="15370" name="Line 10"/>
          <p:cNvSpPr>
            <a:spLocks noChangeShapeType="1"/>
          </p:cNvSpPr>
          <p:nvPr/>
        </p:nvSpPr>
        <p:spPr bwMode="gray">
          <a:xfrm flipV="1">
            <a:off x="6019800" y="4167188"/>
            <a:ext cx="1449388" cy="404812"/>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5371" name="Line 11"/>
          <p:cNvSpPr>
            <a:spLocks noChangeShapeType="1"/>
          </p:cNvSpPr>
          <p:nvPr/>
        </p:nvSpPr>
        <p:spPr bwMode="gray">
          <a:xfrm flipV="1">
            <a:off x="6019800" y="4191000"/>
            <a:ext cx="1981200" cy="38100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5372" name="Text Box 12"/>
          <p:cNvSpPr txBox="1">
            <a:spLocks noChangeArrowheads="1"/>
          </p:cNvSpPr>
          <p:nvPr/>
        </p:nvSpPr>
        <p:spPr bwMode="gray">
          <a:xfrm>
            <a:off x="6858000" y="4495800"/>
            <a:ext cx="1831975" cy="234950"/>
          </a:xfrm>
          <a:prstGeom prst="rect">
            <a:avLst/>
          </a:prstGeom>
          <a:solidFill>
            <a:srgbClr val="FFCCCC"/>
          </a:solidFill>
          <a:ln w="9525">
            <a:solidFill>
              <a:srgbClr val="000000"/>
            </a:solidFill>
            <a:miter lim="800000"/>
            <a:headEnd/>
            <a:tailEnd/>
          </a:ln>
        </p:spPr>
        <p:txBody>
          <a:bodyPr/>
          <a:lstStyle/>
          <a:p>
            <a:pPr algn="ctr"/>
            <a:endParaRPr lang="fr-FR" altLang="fr-FR" sz="1600"/>
          </a:p>
        </p:txBody>
      </p:sp>
      <p:sp>
        <p:nvSpPr>
          <p:cNvPr id="15373" name="Text Box 13"/>
          <p:cNvSpPr txBox="1">
            <a:spLocks noChangeArrowheads="1"/>
          </p:cNvSpPr>
          <p:nvPr/>
        </p:nvSpPr>
        <p:spPr bwMode="gray">
          <a:xfrm>
            <a:off x="6858000" y="5011738"/>
            <a:ext cx="1831975" cy="234950"/>
          </a:xfrm>
          <a:prstGeom prst="rect">
            <a:avLst/>
          </a:prstGeom>
          <a:solidFill>
            <a:srgbClr val="FFCCCC"/>
          </a:solidFill>
          <a:ln w="9525">
            <a:solidFill>
              <a:srgbClr val="000000"/>
            </a:solidFill>
            <a:miter lim="800000"/>
            <a:headEnd/>
            <a:tailEnd/>
          </a:ln>
        </p:spPr>
        <p:txBody>
          <a:bodyPr/>
          <a:lstStyle/>
          <a:p>
            <a:endParaRPr lang="fr-FR" altLang="fr-FR" sz="1200">
              <a:latin typeface="Times New Roman" panose="02020603050405020304" pitchFamily="18" charset="0"/>
            </a:endParaRPr>
          </a:p>
        </p:txBody>
      </p:sp>
      <p:sp>
        <p:nvSpPr>
          <p:cNvPr id="15374" name="Line 14"/>
          <p:cNvSpPr>
            <a:spLocks noChangeShapeType="1"/>
          </p:cNvSpPr>
          <p:nvPr/>
        </p:nvSpPr>
        <p:spPr bwMode="gray">
          <a:xfrm flipV="1">
            <a:off x="6019800" y="4625975"/>
            <a:ext cx="836613" cy="936625"/>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5375" name="Line 15"/>
          <p:cNvSpPr>
            <a:spLocks noChangeShapeType="1"/>
          </p:cNvSpPr>
          <p:nvPr/>
        </p:nvSpPr>
        <p:spPr bwMode="gray">
          <a:xfrm flipV="1">
            <a:off x="6019800" y="5130800"/>
            <a:ext cx="844550" cy="43180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5376" name="AutoShape 16"/>
          <p:cNvSpPr>
            <a:spLocks/>
          </p:cNvSpPr>
          <p:nvPr/>
        </p:nvSpPr>
        <p:spPr bwMode="gray">
          <a:xfrm>
            <a:off x="5791200" y="4191000"/>
            <a:ext cx="152400" cy="762000"/>
          </a:xfrm>
          <a:prstGeom prst="rightBrace">
            <a:avLst>
              <a:gd name="adj1" fmla="val 41667"/>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fr-FR"/>
          </a:p>
        </p:txBody>
      </p:sp>
      <p:sp>
        <p:nvSpPr>
          <p:cNvPr id="15377" name="AutoShape 17"/>
          <p:cNvSpPr>
            <a:spLocks/>
          </p:cNvSpPr>
          <p:nvPr/>
        </p:nvSpPr>
        <p:spPr bwMode="gray">
          <a:xfrm>
            <a:off x="5791200" y="5181600"/>
            <a:ext cx="152400" cy="762000"/>
          </a:xfrm>
          <a:prstGeom prst="rightBrace">
            <a:avLst>
              <a:gd name="adj1" fmla="val 41667"/>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fr-FR"/>
          </a:p>
        </p:txBody>
      </p:sp>
    </p:spTree>
    <p:extLst>
      <p:ext uri="{BB962C8B-B14F-4D97-AF65-F5344CB8AC3E}">
        <p14:creationId xmlns:p14="http://schemas.microsoft.com/office/powerpoint/2010/main" val="13508227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fr-FR" altLang="fr-FR"/>
              <a:t>États</a:t>
            </a:r>
          </a:p>
        </p:txBody>
      </p:sp>
      <p:sp>
        <p:nvSpPr>
          <p:cNvPr id="18435" name="Rectangle 3"/>
          <p:cNvSpPr>
            <a:spLocks noGrp="1" noChangeArrowheads="1"/>
          </p:cNvSpPr>
          <p:nvPr>
            <p:ph type="body" idx="1"/>
          </p:nvPr>
        </p:nvSpPr>
        <p:spPr>
          <a:xfrm>
            <a:off x="279400" y="1312863"/>
            <a:ext cx="8599488" cy="4318000"/>
          </a:xfrm>
        </p:spPr>
        <p:txBody>
          <a:bodyPr/>
          <a:lstStyle/>
          <a:p>
            <a:r>
              <a:rPr lang="fr-FR" altLang="fr-FR"/>
              <a:t>Un </a:t>
            </a:r>
            <a:r>
              <a:rPr lang="fr-FR" altLang="fr-FR" i="1">
                <a:latin typeface="Century Schoolbook" pitchFamily="18" charset="0"/>
              </a:rPr>
              <a:t>état</a:t>
            </a:r>
            <a:r>
              <a:rPr lang="fr-FR" altLang="fr-FR"/>
              <a:t> représente une disposition dans laquelle un objet peut se trouver</a:t>
            </a:r>
          </a:p>
          <a:p>
            <a:pPr lvl="1"/>
            <a:r>
              <a:rPr lang="fr-FR" altLang="fr-FR"/>
              <a:t>Un objet reste dans un état jusqu’à ce qu’un événement provoque sa transition vers un autre état</a:t>
            </a:r>
          </a:p>
          <a:p>
            <a:r>
              <a:rPr lang="fr-FR" altLang="fr-FR"/>
              <a:t>Un état est décrit par les éléments suivants</a:t>
            </a:r>
          </a:p>
          <a:p>
            <a:pPr lvl="1"/>
            <a:r>
              <a:rPr lang="fr-FR" altLang="fr-FR"/>
              <a:t>Un nom</a:t>
            </a:r>
          </a:p>
          <a:p>
            <a:pPr lvl="1"/>
            <a:r>
              <a:rPr lang="fr-FR" altLang="fr-FR"/>
              <a:t>Une condition le définissant</a:t>
            </a:r>
          </a:p>
          <a:p>
            <a:pPr lvl="2"/>
            <a:r>
              <a:rPr lang="fr-FR" altLang="fr-FR"/>
              <a:t>Par exemple, la classe Lampe peut avoir un attribut indiquant si elle est allumée ou éteinte</a:t>
            </a:r>
          </a:p>
          <a:p>
            <a:pPr lvl="2"/>
            <a:r>
              <a:rPr lang="fr-FR" altLang="fr-FR"/>
              <a:t>Si on modélise une lampe réelle, la condition définissant l'état “allumé” est : “réseau électrique disponible, ampoule non cassée”</a:t>
            </a:r>
          </a:p>
          <a:p>
            <a:pPr lvl="2"/>
            <a:r>
              <a:rPr lang="fr-FR" altLang="fr-FR"/>
              <a:t>La condition définissant un état peut être indiquée comme une contrainte</a:t>
            </a:r>
          </a:p>
          <a:p>
            <a:pPr lvl="1"/>
            <a:r>
              <a:rPr lang="fr-FR" altLang="fr-FR"/>
              <a:t>Des transitions internes</a:t>
            </a:r>
          </a:p>
          <a:p>
            <a:pPr lvl="2"/>
            <a:r>
              <a:rPr lang="fr-FR" altLang="fr-FR"/>
              <a:t>Un ensemble d’activités ou d’actions qui peuvent être réalisées pendant que l’objet est dans cet état</a:t>
            </a:r>
          </a:p>
        </p:txBody>
      </p:sp>
    </p:spTree>
    <p:extLst>
      <p:ext uri="{BB962C8B-B14F-4D97-AF65-F5344CB8AC3E}">
        <p14:creationId xmlns:p14="http://schemas.microsoft.com/office/powerpoint/2010/main" val="31010082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fr-FR" altLang="fr-FR"/>
              <a:t>États : Exemple</a:t>
            </a:r>
          </a:p>
        </p:txBody>
      </p:sp>
      <p:pic>
        <p:nvPicPr>
          <p:cNvPr id="20486" name="Picture 6" descr="6-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9300" y="1905000"/>
            <a:ext cx="5105400" cy="3382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47937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fr-FR" altLang="fr-FR"/>
              <a:t>États : Notation</a:t>
            </a:r>
          </a:p>
        </p:txBody>
      </p:sp>
      <p:sp>
        <p:nvSpPr>
          <p:cNvPr id="22531" name="Rectangle 3"/>
          <p:cNvSpPr>
            <a:spLocks noGrp="1" noChangeArrowheads="1"/>
          </p:cNvSpPr>
          <p:nvPr>
            <p:ph type="body" idx="1"/>
          </p:nvPr>
        </p:nvSpPr>
        <p:spPr/>
        <p:txBody>
          <a:bodyPr/>
          <a:lstStyle/>
          <a:p>
            <a:r>
              <a:rPr lang="fr-FR" altLang="fr-FR"/>
              <a:t>Un état est représenté par un rectangle avec des coins arrondis</a:t>
            </a:r>
          </a:p>
          <a:p>
            <a:pPr lvl="1"/>
            <a:r>
              <a:rPr lang="fr-FR" altLang="fr-FR"/>
              <a:t>Tous les autres éléments sont optionnels</a:t>
            </a:r>
          </a:p>
          <a:p>
            <a:pPr lvl="1"/>
            <a:r>
              <a:rPr lang="fr-FR" altLang="fr-FR"/>
              <a:t>Les noms d’états doivent être uniques au sein d’un automate d’états.</a:t>
            </a:r>
          </a:p>
          <a:p>
            <a:pPr lvl="2"/>
            <a:r>
              <a:rPr lang="fr-FR" altLang="fr-FR"/>
              <a:t>Les états </a:t>
            </a:r>
            <a:r>
              <a:rPr lang="fr-FR" altLang="fr-FR" i="1">
                <a:latin typeface="Century Schoolbook" pitchFamily="18" charset="0"/>
              </a:rPr>
              <a:t>anonymes</a:t>
            </a:r>
            <a:r>
              <a:rPr lang="fr-FR" altLang="fr-FR"/>
              <a:t> (sans nom) sont considérés comme distincts</a:t>
            </a:r>
          </a:p>
        </p:txBody>
      </p:sp>
      <p:pic>
        <p:nvPicPr>
          <p:cNvPr id="22534" name="Picture 6" descr="6-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488" y="3429000"/>
            <a:ext cx="8707437" cy="1657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67312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fr-FR" altLang="fr-FR"/>
              <a:t>Actions et activités</a:t>
            </a:r>
            <a:endParaRPr lang="fr-FR" altLang="fr-FR" noProof="1"/>
          </a:p>
        </p:txBody>
      </p:sp>
      <p:sp>
        <p:nvSpPr>
          <p:cNvPr id="24579" name="Rectangle 3"/>
          <p:cNvSpPr>
            <a:spLocks noGrp="1" noChangeArrowheads="1"/>
          </p:cNvSpPr>
          <p:nvPr>
            <p:ph type="body" idx="1"/>
          </p:nvPr>
        </p:nvSpPr>
        <p:spPr>
          <a:xfrm>
            <a:off x="279400" y="1312863"/>
            <a:ext cx="8599488" cy="3621087"/>
          </a:xfrm>
        </p:spPr>
        <p:txBody>
          <a:bodyPr/>
          <a:lstStyle/>
          <a:p>
            <a:r>
              <a:rPr lang="fr-FR" altLang="fr-FR"/>
              <a:t>Une </a:t>
            </a:r>
            <a:r>
              <a:rPr lang="fr-FR" altLang="fr-FR" i="1">
                <a:latin typeface="Century Schoolbook" pitchFamily="18" charset="0"/>
              </a:rPr>
              <a:t>action</a:t>
            </a:r>
            <a:r>
              <a:rPr lang="fr-FR" altLang="fr-FR"/>
              <a:t> est une instruction atomique</a:t>
            </a:r>
          </a:p>
          <a:p>
            <a:pPr lvl="1"/>
            <a:r>
              <a:rPr lang="fr-FR" altLang="fr-FR"/>
              <a:t>Une fois lancée, elle est exécutée jusqu’à ce qu’elle soit terminée</a:t>
            </a:r>
          </a:p>
          <a:p>
            <a:pPr lvl="1"/>
            <a:r>
              <a:rPr lang="fr-FR" altLang="fr-FR"/>
              <a:t>Il n'est pas possible de l'interrompre</a:t>
            </a:r>
          </a:p>
          <a:p>
            <a:r>
              <a:rPr lang="fr-FR" altLang="fr-FR"/>
              <a:t>Une action complexe ou </a:t>
            </a:r>
            <a:r>
              <a:rPr lang="fr-FR" altLang="fr-FR" i="1">
                <a:latin typeface="Century Schoolbook" pitchFamily="18" charset="0"/>
              </a:rPr>
              <a:t>séquence d’actions</a:t>
            </a:r>
            <a:r>
              <a:rPr lang="fr-FR" altLang="fr-FR"/>
              <a:t> est décrite par une liste d’actions séparées par des points-virgules</a:t>
            </a:r>
          </a:p>
          <a:p>
            <a:pPr lvl="1"/>
            <a:r>
              <a:rPr lang="fr-FR" altLang="fr-FR"/>
              <a:t>UML ne spécifie pas de syntaxe pour décrire les actions en elles-mêmes</a:t>
            </a:r>
          </a:p>
          <a:p>
            <a:r>
              <a:rPr lang="fr-FR" altLang="fr-FR"/>
              <a:t>Une </a:t>
            </a:r>
            <a:r>
              <a:rPr lang="fr-FR" altLang="fr-FR" i="1">
                <a:latin typeface="Century Schoolbook" pitchFamily="18" charset="0"/>
              </a:rPr>
              <a:t>activité</a:t>
            </a:r>
            <a:r>
              <a:rPr lang="fr-FR" altLang="fr-FR"/>
              <a:t> est une instruction non atomique</a:t>
            </a:r>
          </a:p>
          <a:p>
            <a:pPr lvl="1"/>
            <a:r>
              <a:rPr lang="fr-FR" altLang="fr-FR"/>
              <a:t>Elle peut avoir une fin ou boucler indéfiniment</a:t>
            </a:r>
          </a:p>
          <a:p>
            <a:pPr lvl="1"/>
            <a:r>
              <a:rPr lang="fr-FR" altLang="fr-FR"/>
              <a:t>Elle peut être interrompue par un événement provoquant une transition depuis l’état dans lequel elle est définie</a:t>
            </a:r>
          </a:p>
          <a:p>
            <a:pPr lvl="1"/>
            <a:r>
              <a:rPr lang="fr-FR" altLang="fr-FR"/>
              <a:t>UML ne spécifie pas de syntaxe pour décrire les activités en elles-mêmes</a:t>
            </a:r>
          </a:p>
        </p:txBody>
      </p:sp>
    </p:spTree>
    <p:extLst>
      <p:ext uri="{BB962C8B-B14F-4D97-AF65-F5344CB8AC3E}">
        <p14:creationId xmlns:p14="http://schemas.microsoft.com/office/powerpoint/2010/main" val="5177178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fr-FR" altLang="fr-FR"/>
              <a:t>États initial et final</a:t>
            </a:r>
          </a:p>
        </p:txBody>
      </p:sp>
      <p:sp>
        <p:nvSpPr>
          <p:cNvPr id="25603" name="Rectangle 3"/>
          <p:cNvSpPr>
            <a:spLocks noGrp="1" noChangeArrowheads="1"/>
          </p:cNvSpPr>
          <p:nvPr>
            <p:ph type="body" idx="1"/>
          </p:nvPr>
        </p:nvSpPr>
        <p:spPr>
          <a:xfrm>
            <a:off x="279400" y="1312863"/>
            <a:ext cx="8599488" cy="2843212"/>
          </a:xfrm>
        </p:spPr>
        <p:txBody>
          <a:bodyPr/>
          <a:lstStyle/>
          <a:p>
            <a:r>
              <a:rPr lang="fr-FR" altLang="fr-FR"/>
              <a:t>L’</a:t>
            </a:r>
            <a:r>
              <a:rPr lang="fr-FR" altLang="fr-FR" i="1">
                <a:latin typeface="Century Schoolbook" pitchFamily="18" charset="0"/>
              </a:rPr>
              <a:t>état initial</a:t>
            </a:r>
            <a:r>
              <a:rPr lang="fr-FR" altLang="fr-FR"/>
              <a:t> d’une machine d’états est représenté par un disque plein</a:t>
            </a:r>
          </a:p>
          <a:p>
            <a:pPr lvl="1"/>
            <a:r>
              <a:rPr lang="fr-FR" altLang="fr-FR"/>
              <a:t>Également appelé </a:t>
            </a:r>
            <a:r>
              <a:rPr lang="fr-FR" altLang="fr-FR" i="1">
                <a:latin typeface="Century Schoolbook" pitchFamily="18" charset="0"/>
              </a:rPr>
              <a:t>pseudo-état initial</a:t>
            </a:r>
            <a:endParaRPr lang="fr-FR" altLang="fr-FR"/>
          </a:p>
          <a:p>
            <a:pPr lvl="1"/>
            <a:r>
              <a:rPr lang="fr-FR" altLang="fr-FR"/>
              <a:t>Une transition partant de cet état montre le premier état réel</a:t>
            </a:r>
          </a:p>
          <a:p>
            <a:r>
              <a:rPr lang="fr-FR" altLang="fr-FR"/>
              <a:t>L’</a:t>
            </a:r>
            <a:r>
              <a:rPr lang="fr-FR" altLang="fr-FR" i="1">
                <a:latin typeface="Century Schoolbook" pitchFamily="18" charset="0"/>
              </a:rPr>
              <a:t>état final</a:t>
            </a:r>
            <a:r>
              <a:rPr lang="fr-FR" altLang="fr-FR">
                <a:latin typeface="Century Schoolbook" pitchFamily="18" charset="0"/>
              </a:rPr>
              <a:t> </a:t>
            </a:r>
            <a:r>
              <a:rPr lang="fr-FR" altLang="fr-FR"/>
              <a:t>d’une machine d’états est représenté par un disque plein inclus dans un cercle concentrique</a:t>
            </a:r>
          </a:p>
          <a:p>
            <a:pPr lvl="1"/>
            <a:r>
              <a:rPr lang="fr-FR" altLang="fr-FR"/>
              <a:t>Une machine d’états en </a:t>
            </a:r>
            <a:r>
              <a:rPr lang="fr-FR" altLang="fr-FR" i="1">
                <a:latin typeface="Century Schoolbook" pitchFamily="18" charset="0"/>
              </a:rPr>
              <a:t>boucle fermée</a:t>
            </a:r>
            <a:r>
              <a:rPr lang="fr-FR" altLang="fr-FR"/>
              <a:t> n’a pas d’état final ; l’objet reste en vie jusqu’à la fin du système</a:t>
            </a:r>
          </a:p>
          <a:p>
            <a:pPr lvl="1"/>
            <a:r>
              <a:rPr lang="fr-FR" altLang="fr-FR"/>
              <a:t>Une machine d’états en </a:t>
            </a:r>
            <a:r>
              <a:rPr lang="fr-FR" altLang="fr-FR" i="1">
                <a:latin typeface="Century Schoolbook" pitchFamily="18" charset="0"/>
              </a:rPr>
              <a:t>boucle ouverte</a:t>
            </a:r>
            <a:r>
              <a:rPr lang="fr-FR" altLang="fr-FR"/>
              <a:t> représente un objet qui peut être détruit avant la fin du système</a:t>
            </a:r>
          </a:p>
        </p:txBody>
      </p:sp>
      <p:pic>
        <p:nvPicPr>
          <p:cNvPr id="25606" name="Picture 6" descr="6-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7163" y="4267200"/>
            <a:ext cx="3748087" cy="2105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69386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fr-FR" altLang="fr-FR"/>
              <a:t>Syntaxe des événements</a:t>
            </a:r>
          </a:p>
        </p:txBody>
      </p:sp>
      <p:sp>
        <p:nvSpPr>
          <p:cNvPr id="28675" name="Rectangle 3"/>
          <p:cNvSpPr>
            <a:spLocks noGrp="1" noChangeArrowheads="1"/>
          </p:cNvSpPr>
          <p:nvPr>
            <p:ph type="body" idx="1"/>
          </p:nvPr>
        </p:nvSpPr>
        <p:spPr>
          <a:xfrm>
            <a:off x="279400" y="1312863"/>
            <a:ext cx="8599488" cy="3498850"/>
          </a:xfrm>
        </p:spPr>
        <p:txBody>
          <a:bodyPr/>
          <a:lstStyle/>
          <a:p>
            <a:r>
              <a:rPr lang="fr-FR" altLang="fr-FR"/>
              <a:t>La </a:t>
            </a:r>
            <a:r>
              <a:rPr lang="fr-FR" altLang="fr-FR" i="1">
                <a:latin typeface="Century Schoolbook" pitchFamily="18" charset="0"/>
              </a:rPr>
              <a:t>signature de l’événement</a:t>
            </a:r>
            <a:r>
              <a:rPr lang="fr-FR" altLang="fr-FR"/>
              <a:t> est décrite par</a:t>
            </a:r>
          </a:p>
          <a:p>
            <a:pPr>
              <a:buFont typeface="Arial" panose="020B0604020202020204" pitchFamily="34" charset="0"/>
              <a:buNone/>
            </a:pPr>
            <a:r>
              <a:rPr lang="fr-FR" altLang="fr-FR" b="0" i="1">
                <a:latin typeface="Courier New" panose="02070309020205020404" pitchFamily="49" charset="0"/>
              </a:rPr>
              <a:t>	nom-événement</a:t>
            </a:r>
            <a:r>
              <a:rPr lang="fr-FR" altLang="fr-FR" b="0">
                <a:latin typeface="Courier New" panose="02070309020205020404" pitchFamily="49" charset="0"/>
              </a:rPr>
              <a:t>(</a:t>
            </a:r>
            <a:r>
              <a:rPr lang="fr-FR" altLang="fr-FR" b="0" i="1">
                <a:latin typeface="Courier New" panose="02070309020205020404" pitchFamily="49" charset="0"/>
              </a:rPr>
              <a:t>paramètre</a:t>
            </a:r>
            <a:r>
              <a:rPr lang="fr-FR" altLang="fr-FR" b="0">
                <a:latin typeface="Courier New" panose="02070309020205020404" pitchFamily="49" charset="0"/>
              </a:rPr>
              <a:t>, …)</a:t>
            </a:r>
            <a:endParaRPr lang="fr-FR" altLang="fr-FR" b="0" i="1">
              <a:latin typeface="Courier New" panose="02070309020205020404" pitchFamily="49" charset="0"/>
            </a:endParaRPr>
          </a:p>
          <a:p>
            <a:r>
              <a:rPr lang="fr-FR" altLang="fr-FR"/>
              <a:t>Les événements apparaissent dans le compartiment des transitions internes d’un état ou sur les transitions entre états</a:t>
            </a:r>
          </a:p>
          <a:p>
            <a:r>
              <a:rPr lang="fr-FR" altLang="fr-FR"/>
              <a:t>Il existe quatre types d’événements :</a:t>
            </a:r>
          </a:p>
          <a:p>
            <a:pPr lvl="1"/>
            <a:r>
              <a:rPr lang="fr-FR" altLang="fr-FR" i="1">
                <a:latin typeface="Century Schoolbook" pitchFamily="18" charset="0"/>
              </a:rPr>
              <a:t>Événement de signal</a:t>
            </a:r>
            <a:endParaRPr lang="fr-FR" altLang="fr-FR"/>
          </a:p>
          <a:p>
            <a:pPr lvl="2"/>
            <a:r>
              <a:rPr lang="fr-FR" altLang="fr-FR"/>
              <a:t>Correspondant à l’arrivée d’un message asynchrone ou signal</a:t>
            </a:r>
          </a:p>
          <a:p>
            <a:pPr lvl="1"/>
            <a:r>
              <a:rPr lang="fr-FR" altLang="fr-FR" i="1">
                <a:latin typeface="Century Schoolbook" pitchFamily="18" charset="0"/>
              </a:rPr>
              <a:t>Événement d’appel</a:t>
            </a:r>
            <a:endParaRPr lang="fr-FR" altLang="fr-FR"/>
          </a:p>
          <a:p>
            <a:pPr lvl="2"/>
            <a:r>
              <a:rPr lang="fr-FR" altLang="fr-FR"/>
              <a:t>Correspondant à l’arrivée d’un appel procédural à une opération</a:t>
            </a:r>
          </a:p>
          <a:p>
            <a:pPr lvl="1"/>
            <a:r>
              <a:rPr lang="fr-FR" altLang="fr-FR" i="1">
                <a:latin typeface="Century Schoolbook" pitchFamily="18" charset="0"/>
              </a:rPr>
              <a:t>Événement temporel</a:t>
            </a:r>
            <a:r>
              <a:rPr lang="fr-FR" altLang="fr-FR"/>
              <a:t> et </a:t>
            </a:r>
            <a:r>
              <a:rPr lang="fr-FR" altLang="fr-FR" i="1">
                <a:latin typeface="Century Schoolbook" pitchFamily="18" charset="0"/>
              </a:rPr>
              <a:t>événement de changement</a:t>
            </a:r>
            <a:endParaRPr lang="fr-FR" altLang="fr-FR"/>
          </a:p>
        </p:txBody>
      </p:sp>
    </p:spTree>
    <p:extLst>
      <p:ext uri="{BB962C8B-B14F-4D97-AF65-F5344CB8AC3E}">
        <p14:creationId xmlns:p14="http://schemas.microsoft.com/office/powerpoint/2010/main" val="42595655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fr-FR" altLang="fr-FR"/>
              <a:t>Syntaxe des événements </a:t>
            </a:r>
            <a:br>
              <a:rPr lang="fr-FR" altLang="fr-FR"/>
            </a:br>
            <a:r>
              <a:rPr lang="fr-FR" altLang="fr-FR"/>
              <a:t>(suite)</a:t>
            </a:r>
          </a:p>
        </p:txBody>
      </p:sp>
      <p:sp>
        <p:nvSpPr>
          <p:cNvPr id="30723" name="Rectangle 3"/>
          <p:cNvSpPr>
            <a:spLocks noGrp="1" noChangeArrowheads="1"/>
          </p:cNvSpPr>
          <p:nvPr>
            <p:ph type="body" idx="1"/>
          </p:nvPr>
        </p:nvSpPr>
        <p:spPr>
          <a:xfrm>
            <a:off x="279400" y="1312863"/>
            <a:ext cx="8599488" cy="4668837"/>
          </a:xfrm>
        </p:spPr>
        <p:txBody>
          <a:bodyPr/>
          <a:lstStyle/>
          <a:p>
            <a:r>
              <a:rPr lang="fr-FR" altLang="fr-FR"/>
              <a:t>Un </a:t>
            </a:r>
            <a:r>
              <a:rPr lang="fr-FR" altLang="fr-FR" i="1">
                <a:latin typeface="Century Schoolbook" pitchFamily="18" charset="0"/>
              </a:rPr>
              <a:t>événement temporel</a:t>
            </a:r>
            <a:r>
              <a:rPr lang="fr-FR" altLang="fr-FR"/>
              <a:t> apparaît après qu’un certain temps s’est écoulé</a:t>
            </a:r>
          </a:p>
          <a:p>
            <a:pPr lvl="1"/>
            <a:r>
              <a:rPr lang="fr-FR" altLang="fr-FR"/>
              <a:t>Cet événement est spécifié par le mot clef </a:t>
            </a:r>
            <a:r>
              <a:rPr lang="fr-FR" altLang="fr-FR" i="1">
                <a:latin typeface="Century Schoolbook" pitchFamily="18" charset="0"/>
              </a:rPr>
              <a:t>after</a:t>
            </a:r>
            <a:endParaRPr lang="fr-FR" altLang="fr-FR"/>
          </a:p>
          <a:p>
            <a:pPr lvl="1"/>
            <a:r>
              <a:rPr lang="fr-FR" altLang="fr-FR"/>
              <a:t>La liste des paramètres est une expression représentant un intervalle de temps</a:t>
            </a:r>
          </a:p>
          <a:p>
            <a:pPr lvl="2"/>
            <a:r>
              <a:rPr lang="fr-FR" altLang="fr-FR">
                <a:latin typeface="Courier New" panose="02070309020205020404" pitchFamily="49" charset="0"/>
              </a:rPr>
              <a:t>after (20 secondes depuis le démarrage du système)</a:t>
            </a:r>
          </a:p>
          <a:p>
            <a:pPr lvl="1"/>
            <a:r>
              <a:rPr lang="fr-FR" altLang="fr-FR"/>
              <a:t>L’absence de temps de référence signifie “depuis l’entrée dans l’état courant”</a:t>
            </a:r>
          </a:p>
          <a:p>
            <a:pPr lvl="2"/>
            <a:r>
              <a:rPr lang="fr-FR" altLang="fr-FR">
                <a:latin typeface="Courier New" panose="02070309020205020404" pitchFamily="49" charset="0"/>
              </a:rPr>
              <a:t>after (5 secondes)</a:t>
            </a:r>
          </a:p>
          <a:p>
            <a:r>
              <a:rPr lang="fr-FR" altLang="fr-FR"/>
              <a:t>Un </a:t>
            </a:r>
            <a:r>
              <a:rPr lang="fr-FR" altLang="fr-FR" i="1">
                <a:latin typeface="Century Schoolbook" pitchFamily="18" charset="0"/>
              </a:rPr>
              <a:t>événement de changement</a:t>
            </a:r>
            <a:r>
              <a:rPr lang="fr-FR" altLang="fr-FR">
                <a:latin typeface="Century Schoolbook" pitchFamily="18" charset="0"/>
              </a:rPr>
              <a:t> </a:t>
            </a:r>
            <a:r>
              <a:rPr lang="fr-FR" altLang="fr-FR"/>
              <a:t>apparaît lorsqu’une condition devient vraie</a:t>
            </a:r>
          </a:p>
          <a:p>
            <a:pPr lvl="1"/>
            <a:r>
              <a:rPr lang="fr-FR" altLang="fr-FR"/>
              <a:t>Cet événement est spécifié par le mot clef </a:t>
            </a:r>
            <a:r>
              <a:rPr lang="fr-FR" altLang="fr-FR" i="1">
                <a:latin typeface="Century Schoolbook" pitchFamily="18" charset="0"/>
              </a:rPr>
              <a:t>when</a:t>
            </a:r>
            <a:endParaRPr lang="fr-FR" altLang="fr-FR"/>
          </a:p>
          <a:p>
            <a:pPr lvl="1"/>
            <a:r>
              <a:rPr lang="fr-FR" altLang="fr-FR"/>
              <a:t>La liste des paramètres est une expression booléenne</a:t>
            </a:r>
          </a:p>
          <a:p>
            <a:pPr lvl="1"/>
            <a:r>
              <a:rPr lang="fr-FR" altLang="fr-FR"/>
              <a:t>L’événement apparaît chaque fois que l’expression change de faux à vrai</a:t>
            </a:r>
          </a:p>
          <a:p>
            <a:pPr lvl="1"/>
            <a:r>
              <a:rPr lang="fr-FR" altLang="fr-FR"/>
              <a:t>Exemples</a:t>
            </a:r>
          </a:p>
          <a:p>
            <a:pPr lvl="2"/>
            <a:r>
              <a:rPr lang="fr-FR" altLang="fr-FR">
                <a:latin typeface="Courier New" panose="02070309020205020404" pitchFamily="49" charset="0"/>
              </a:rPr>
              <a:t>when (état système = opérationnel)</a:t>
            </a:r>
          </a:p>
          <a:p>
            <a:pPr lvl="2"/>
            <a:r>
              <a:rPr lang="fr-FR" altLang="fr-FR">
                <a:latin typeface="Courier New" panose="02070309020205020404" pitchFamily="49" charset="0"/>
              </a:rPr>
              <a:t>when (date = 1er janvier 2000)</a:t>
            </a:r>
          </a:p>
        </p:txBody>
      </p:sp>
    </p:spTree>
    <p:extLst>
      <p:ext uri="{BB962C8B-B14F-4D97-AF65-F5344CB8AC3E}">
        <p14:creationId xmlns:p14="http://schemas.microsoft.com/office/powerpoint/2010/main" val="21144102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fr-FR" altLang="fr-FR"/>
              <a:t>Événements temporels et de changement : Exemple</a:t>
            </a:r>
          </a:p>
        </p:txBody>
      </p:sp>
      <p:pic>
        <p:nvPicPr>
          <p:cNvPr id="34823" name="Picture 7" descr="6-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9588" y="1828800"/>
            <a:ext cx="5583237" cy="3695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15507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fr-FR" altLang="fr-FR"/>
              <a:t>Notation</a:t>
            </a:r>
          </a:p>
        </p:txBody>
      </p:sp>
      <p:sp>
        <p:nvSpPr>
          <p:cNvPr id="37891" name="Rectangle 3"/>
          <p:cNvSpPr>
            <a:spLocks noGrp="1" noChangeArrowheads="1"/>
          </p:cNvSpPr>
          <p:nvPr>
            <p:ph type="body" idx="1"/>
          </p:nvPr>
        </p:nvSpPr>
        <p:spPr>
          <a:xfrm>
            <a:off x="279400" y="1312863"/>
            <a:ext cx="8599488" cy="4922837"/>
          </a:xfrm>
        </p:spPr>
        <p:txBody>
          <a:bodyPr/>
          <a:lstStyle/>
          <a:p>
            <a:r>
              <a:rPr lang="fr-FR" altLang="fr-FR"/>
              <a:t>Une transition est représentée par une flèche entre états, étiquetée par une </a:t>
            </a:r>
            <a:r>
              <a:rPr lang="fr-FR" altLang="fr-FR" i="1">
                <a:latin typeface="Century Schoolbook" pitchFamily="18" charset="0"/>
              </a:rPr>
              <a:t>expression de transition</a:t>
            </a:r>
            <a:endParaRPr lang="fr-FR" altLang="fr-FR" i="1"/>
          </a:p>
          <a:p>
            <a:pPr lvl="1"/>
            <a:r>
              <a:rPr lang="fr-FR" altLang="fr-FR"/>
              <a:t>L’expression de transition spécifie l’événement et les actions à effectuer suite à son apparition</a:t>
            </a:r>
          </a:p>
          <a:p>
            <a:pPr lvl="1"/>
            <a:r>
              <a:rPr lang="fr-FR" altLang="fr-FR"/>
              <a:t> Une seule forme de flèche est utilisée dans les automates </a:t>
            </a:r>
          </a:p>
          <a:p>
            <a:pPr lvl="2"/>
            <a:r>
              <a:rPr lang="fr-FR" altLang="fr-FR"/>
              <a:t>La distinction entre les événements d’appel et de signal doit être faite par ailleurs ; par exemple, sur un diagramme d’interactions</a:t>
            </a:r>
          </a:p>
          <a:p>
            <a:r>
              <a:rPr lang="fr-FR" altLang="fr-FR"/>
              <a:t>Une expression de transition est décrite par</a:t>
            </a:r>
          </a:p>
          <a:p>
            <a:pPr lvl="1">
              <a:buFont typeface="Arial" panose="020B0604020202020204" pitchFamily="34" charset="0"/>
              <a:buNone/>
            </a:pPr>
            <a:r>
              <a:rPr lang="fr-FR" altLang="fr-FR" i="1">
                <a:latin typeface="Courier New" panose="02070309020205020404" pitchFamily="49" charset="0"/>
              </a:rPr>
              <a:t>signature-événement [condition-garde]</a:t>
            </a:r>
            <a:r>
              <a:rPr lang="fr-FR" altLang="fr-FR">
                <a:latin typeface="Courier New" panose="02070309020205020404" pitchFamily="49" charset="0"/>
              </a:rPr>
              <a:t> / </a:t>
            </a:r>
            <a:r>
              <a:rPr lang="fr-FR" altLang="fr-FR" i="1">
                <a:latin typeface="Courier New" panose="02070309020205020404" pitchFamily="49" charset="0"/>
              </a:rPr>
              <a:t>liste-actions</a:t>
            </a:r>
          </a:p>
          <a:p>
            <a:r>
              <a:rPr lang="fr-FR" altLang="fr-FR"/>
              <a:t>Une signature d’événement absente équivaut à </a:t>
            </a:r>
            <a:r>
              <a:rPr lang="fr-FR" altLang="fr-FR" b="0">
                <a:latin typeface="Courier New" panose="02070309020205020404" pitchFamily="49" charset="0"/>
              </a:rPr>
              <a:t>after(0)</a:t>
            </a:r>
          </a:p>
          <a:p>
            <a:pPr lvl="1"/>
            <a:r>
              <a:rPr lang="fr-FR" altLang="fr-FR"/>
              <a:t>Si la condition de garde est vérifiée, la transition a immédiatement lieu </a:t>
            </a:r>
            <a:endParaRPr lang="fr-FR" altLang="fr-FR" i="1"/>
          </a:p>
          <a:p>
            <a:r>
              <a:rPr lang="fr-FR" altLang="fr-FR"/>
              <a:t>Une transition dont l’expression ne contient ni signature d’événement, ni condition de garde est appelée </a:t>
            </a:r>
            <a:r>
              <a:rPr lang="fr-FR" altLang="fr-FR" i="1">
                <a:latin typeface="Century Schoolbook" pitchFamily="18" charset="0"/>
              </a:rPr>
              <a:t>sans label</a:t>
            </a:r>
            <a:endParaRPr lang="fr-FR" altLang="fr-FR" i="1"/>
          </a:p>
          <a:p>
            <a:pPr lvl="1"/>
            <a:r>
              <a:rPr lang="fr-FR" altLang="fr-FR"/>
              <a:t>A immédiatement lieu </a:t>
            </a:r>
          </a:p>
          <a:p>
            <a:pPr lvl="1"/>
            <a:r>
              <a:rPr lang="fr-FR" altLang="fr-FR"/>
              <a:t>Peut toujours contenir une expression d’actions</a:t>
            </a:r>
          </a:p>
        </p:txBody>
      </p:sp>
    </p:spTree>
    <p:extLst>
      <p:ext uri="{BB962C8B-B14F-4D97-AF65-F5344CB8AC3E}">
        <p14:creationId xmlns:p14="http://schemas.microsoft.com/office/powerpoint/2010/main" val="33516672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fr-FR" altLang="fr-FR"/>
              <a:t>Déclenchement et levée d’une transition</a:t>
            </a:r>
          </a:p>
        </p:txBody>
      </p:sp>
      <p:sp>
        <p:nvSpPr>
          <p:cNvPr id="41987" name="Rectangle 3"/>
          <p:cNvSpPr>
            <a:spLocks noGrp="1" noChangeArrowheads="1"/>
          </p:cNvSpPr>
          <p:nvPr>
            <p:ph type="body" idx="1"/>
          </p:nvPr>
        </p:nvSpPr>
        <p:spPr>
          <a:xfrm>
            <a:off x="279400" y="1312863"/>
            <a:ext cx="8599488" cy="3870325"/>
          </a:xfrm>
        </p:spPr>
        <p:txBody>
          <a:bodyPr/>
          <a:lstStyle/>
          <a:p>
            <a:r>
              <a:rPr lang="fr-FR" altLang="fr-FR"/>
              <a:t>Une transition est </a:t>
            </a:r>
            <a:r>
              <a:rPr lang="fr-FR" altLang="fr-FR" i="1">
                <a:latin typeface="Century Schoolbook" pitchFamily="18" charset="0"/>
              </a:rPr>
              <a:t>déclenchée</a:t>
            </a:r>
            <a:r>
              <a:rPr lang="fr-FR" altLang="fr-FR"/>
              <a:t> quand son événement survient</a:t>
            </a:r>
          </a:p>
          <a:p>
            <a:pPr lvl="1"/>
            <a:r>
              <a:rPr lang="fr-FR" altLang="fr-FR"/>
              <a:t>Si la condition de garde est atteinte, la transition est </a:t>
            </a:r>
            <a:r>
              <a:rPr lang="fr-FR" altLang="fr-FR" i="1">
                <a:latin typeface="Century Schoolbook" pitchFamily="18" charset="0"/>
              </a:rPr>
              <a:t>levée</a:t>
            </a:r>
            <a:r>
              <a:rPr lang="fr-FR" altLang="fr-FR"/>
              <a:t> ou </a:t>
            </a:r>
            <a:r>
              <a:rPr lang="fr-FR" altLang="fr-FR" i="1">
                <a:latin typeface="Century Schoolbook" pitchFamily="18" charset="0"/>
              </a:rPr>
              <a:t>tirée</a:t>
            </a:r>
            <a:r>
              <a:rPr lang="fr-FR" altLang="fr-FR" i="1"/>
              <a:t> </a:t>
            </a:r>
            <a:endParaRPr lang="fr-FR" altLang="fr-FR"/>
          </a:p>
          <a:p>
            <a:pPr lvl="1"/>
            <a:r>
              <a:rPr lang="fr-FR" altLang="fr-FR"/>
              <a:t>Si la condition n’est pas atteinte, l’événement est oublié</a:t>
            </a:r>
          </a:p>
          <a:p>
            <a:pPr lvl="2"/>
            <a:r>
              <a:rPr lang="fr-FR" altLang="fr-FR"/>
              <a:t>La condition de garde n’est vérifiée qu’une seule fois</a:t>
            </a:r>
          </a:p>
          <a:p>
            <a:r>
              <a:rPr lang="fr-FR" altLang="fr-FR"/>
              <a:t>S’il n’y a pas de condition de garde, le déclenchement causera toujours la levée</a:t>
            </a:r>
          </a:p>
          <a:p>
            <a:r>
              <a:rPr lang="fr-FR" altLang="fr-FR"/>
              <a:t>Il ne faut pas confondre une condition de garde et un événement de changement</a:t>
            </a:r>
          </a:p>
          <a:p>
            <a:pPr lvl="1"/>
            <a:r>
              <a:rPr lang="fr-FR" altLang="fr-FR"/>
              <a:t>Une condition de garde est évaluée une seule fois lorsque l’événement associé survient</a:t>
            </a:r>
          </a:p>
          <a:p>
            <a:pPr lvl="1"/>
            <a:r>
              <a:rPr lang="fr-FR" altLang="fr-FR"/>
              <a:t>Un événement de changement se produit chaque fois que la condition spécifiée devient vraie</a:t>
            </a:r>
          </a:p>
        </p:txBody>
      </p:sp>
    </p:spTree>
    <p:extLst>
      <p:ext uri="{BB962C8B-B14F-4D97-AF65-F5344CB8AC3E}">
        <p14:creationId xmlns:p14="http://schemas.microsoft.com/office/powerpoint/2010/main" val="35327616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fr-FR" altLang="fr-FR"/>
              <a:t>Déclenchement et levée d’une transition </a:t>
            </a:r>
            <a:br>
              <a:rPr lang="fr-FR" altLang="fr-FR"/>
            </a:br>
            <a:r>
              <a:rPr lang="fr-FR" altLang="fr-FR"/>
              <a:t>(suite)</a:t>
            </a:r>
          </a:p>
        </p:txBody>
      </p:sp>
      <p:sp>
        <p:nvSpPr>
          <p:cNvPr id="44035" name="Rectangle 3"/>
          <p:cNvSpPr>
            <a:spLocks noGrp="1" noChangeArrowheads="1"/>
          </p:cNvSpPr>
          <p:nvPr>
            <p:ph type="body" idx="1"/>
          </p:nvPr>
        </p:nvSpPr>
        <p:spPr>
          <a:xfrm>
            <a:off x="279400" y="1312863"/>
            <a:ext cx="8599488" cy="641350"/>
          </a:xfrm>
        </p:spPr>
        <p:txBody>
          <a:bodyPr/>
          <a:lstStyle/>
          <a:p>
            <a:r>
              <a:rPr lang="fr-FR" altLang="fr-FR"/>
              <a:t>Quand une transition est déclenchée, la séquence décrite dans la note se produit</a:t>
            </a:r>
            <a:endParaRPr lang="fr-FR" altLang="fr-FR" noProof="1"/>
          </a:p>
        </p:txBody>
      </p:sp>
      <p:pic>
        <p:nvPicPr>
          <p:cNvPr id="44039" name="Picture 7" descr="6-21-StateDia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362200"/>
            <a:ext cx="8839200" cy="359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92893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fr-FR" altLang="fr-FR"/>
              <a:t>États composites</a:t>
            </a:r>
          </a:p>
        </p:txBody>
      </p:sp>
      <p:sp>
        <p:nvSpPr>
          <p:cNvPr id="48131" name="Rectangle 3"/>
          <p:cNvSpPr>
            <a:spLocks noGrp="1" noChangeArrowheads="1"/>
          </p:cNvSpPr>
          <p:nvPr>
            <p:ph type="body" idx="1"/>
          </p:nvPr>
        </p:nvSpPr>
        <p:spPr>
          <a:xfrm>
            <a:off x="279400" y="1312863"/>
            <a:ext cx="8599488" cy="2868612"/>
          </a:xfrm>
        </p:spPr>
        <p:txBody>
          <a:bodyPr/>
          <a:lstStyle/>
          <a:p>
            <a:r>
              <a:rPr lang="fr-FR" altLang="fr-FR"/>
              <a:t>Un </a:t>
            </a:r>
            <a:r>
              <a:rPr lang="fr-FR" altLang="fr-FR" i="1">
                <a:latin typeface="Century Schoolbook" pitchFamily="18" charset="0"/>
              </a:rPr>
              <a:t>état</a:t>
            </a:r>
            <a:r>
              <a:rPr lang="fr-FR" altLang="fr-FR" i="1"/>
              <a:t> </a:t>
            </a:r>
            <a:r>
              <a:rPr lang="fr-FR" altLang="fr-FR" i="1">
                <a:latin typeface="Century Schoolbook" pitchFamily="18" charset="0"/>
              </a:rPr>
              <a:t>composite</a:t>
            </a:r>
            <a:r>
              <a:rPr lang="fr-FR" altLang="fr-FR">
                <a:latin typeface="Century Schoolbook" pitchFamily="18" charset="0"/>
              </a:rPr>
              <a:t> </a:t>
            </a:r>
            <a:r>
              <a:rPr lang="fr-FR" altLang="fr-FR"/>
              <a:t>est un état qui se décompose d’une des deux façons suivantes :</a:t>
            </a:r>
          </a:p>
          <a:p>
            <a:pPr lvl="1"/>
            <a:r>
              <a:rPr lang="fr-FR" altLang="fr-FR"/>
              <a:t>En un ensemble de </a:t>
            </a:r>
            <a:r>
              <a:rPr lang="fr-FR" altLang="fr-FR" i="1">
                <a:latin typeface="Century Schoolbook" pitchFamily="18" charset="0"/>
              </a:rPr>
              <a:t>sous-états séquentiels</a:t>
            </a:r>
            <a:endParaRPr lang="fr-FR" altLang="fr-FR"/>
          </a:p>
          <a:p>
            <a:pPr lvl="1"/>
            <a:r>
              <a:rPr lang="fr-FR" altLang="fr-FR"/>
              <a:t>En un ensemble de </a:t>
            </a:r>
            <a:r>
              <a:rPr lang="fr-FR" altLang="fr-FR" i="1">
                <a:latin typeface="Century Schoolbook" pitchFamily="18" charset="0"/>
              </a:rPr>
              <a:t>régions concurrentes</a:t>
            </a:r>
            <a:endParaRPr lang="fr-FR" altLang="fr-FR"/>
          </a:p>
          <a:p>
            <a:r>
              <a:rPr lang="fr-FR" altLang="fr-FR"/>
              <a:t>Les détails d’un état composite sont représentés :</a:t>
            </a:r>
          </a:p>
          <a:p>
            <a:pPr lvl="1"/>
            <a:r>
              <a:rPr lang="fr-FR" altLang="fr-FR"/>
              <a:t>À l’intérieur du symbole de l’état composite </a:t>
            </a:r>
          </a:p>
          <a:p>
            <a:pPr lvl="1"/>
            <a:r>
              <a:rPr lang="fr-FR" altLang="fr-FR"/>
              <a:t>Sur un diagramme séparé</a:t>
            </a:r>
          </a:p>
          <a:p>
            <a:pPr lvl="1"/>
            <a:r>
              <a:rPr lang="fr-FR" altLang="fr-FR"/>
              <a:t>Il n’existe aucune différence de sémantique, le choix est fait pour des besoins graphiques</a:t>
            </a:r>
          </a:p>
        </p:txBody>
      </p:sp>
    </p:spTree>
    <p:extLst>
      <p:ext uri="{BB962C8B-B14F-4D97-AF65-F5344CB8AC3E}">
        <p14:creationId xmlns:p14="http://schemas.microsoft.com/office/powerpoint/2010/main" val="32480371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fr-FR" altLang="fr-FR"/>
              <a:t>Sous-états séquentiels : Exemple</a:t>
            </a:r>
          </a:p>
        </p:txBody>
      </p:sp>
      <p:sp>
        <p:nvSpPr>
          <p:cNvPr id="50179" name="Rectangle 3"/>
          <p:cNvSpPr>
            <a:spLocks noGrp="1" noChangeArrowheads="1"/>
          </p:cNvSpPr>
          <p:nvPr>
            <p:ph type="body" idx="1"/>
          </p:nvPr>
        </p:nvSpPr>
        <p:spPr>
          <a:xfrm>
            <a:off x="279400" y="1312863"/>
            <a:ext cx="8599488" cy="819150"/>
          </a:xfrm>
        </p:spPr>
        <p:txBody>
          <a:bodyPr/>
          <a:lstStyle/>
          <a:p>
            <a:r>
              <a:rPr lang="fr-FR" altLang="fr-FR"/>
              <a:t>Un client dans un restaurant...</a:t>
            </a:r>
          </a:p>
          <a:p>
            <a:endParaRPr lang="fr-FR" altLang="fr-FR" noProof="1"/>
          </a:p>
        </p:txBody>
      </p:sp>
      <p:pic>
        <p:nvPicPr>
          <p:cNvPr id="50189" name="Picture 13" descr="6-24-diag-eta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075" y="1862138"/>
            <a:ext cx="7943850" cy="3932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02514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fr-FR" altLang="fr-FR"/>
              <a:t>Sous-états séquentiels : Exemple </a:t>
            </a:r>
            <a:br>
              <a:rPr lang="fr-FR" altLang="fr-FR"/>
            </a:br>
            <a:r>
              <a:rPr lang="fr-FR" altLang="fr-FR"/>
              <a:t>(suite)</a:t>
            </a:r>
          </a:p>
        </p:txBody>
      </p:sp>
      <p:sp>
        <p:nvSpPr>
          <p:cNvPr id="52227" name="Rectangle 3"/>
          <p:cNvSpPr>
            <a:spLocks noGrp="1" noChangeArrowheads="1"/>
          </p:cNvSpPr>
          <p:nvPr>
            <p:ph type="body" idx="1"/>
          </p:nvPr>
        </p:nvSpPr>
        <p:spPr>
          <a:xfrm>
            <a:off x="279400" y="1312863"/>
            <a:ext cx="8599488" cy="366712"/>
          </a:xfrm>
        </p:spPr>
        <p:txBody>
          <a:bodyPr/>
          <a:lstStyle/>
          <a:p>
            <a:r>
              <a:rPr lang="fr-FR" altLang="fr-FR"/>
              <a:t>Détails de l’état composite</a:t>
            </a:r>
          </a:p>
        </p:txBody>
      </p:sp>
      <p:pic>
        <p:nvPicPr>
          <p:cNvPr id="52232" name="Picture 8" descr="6-25-diag-eta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650" y="1947863"/>
            <a:ext cx="7886700" cy="3875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952379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fr-FR" altLang="fr-FR"/>
              <a:t>Régions concurrentes</a:t>
            </a:r>
            <a:endParaRPr lang="fr-FR" altLang="fr-FR" noProof="1"/>
          </a:p>
        </p:txBody>
      </p:sp>
      <p:sp>
        <p:nvSpPr>
          <p:cNvPr id="54275" name="Rectangle 3"/>
          <p:cNvSpPr>
            <a:spLocks noGrp="1" noChangeArrowheads="1"/>
          </p:cNvSpPr>
          <p:nvPr>
            <p:ph type="body" idx="1"/>
          </p:nvPr>
        </p:nvSpPr>
        <p:spPr/>
        <p:txBody>
          <a:bodyPr/>
          <a:lstStyle/>
          <a:p>
            <a:r>
              <a:rPr lang="fr-FR" altLang="fr-FR"/>
              <a:t>Un état composite peut contenir des régions concurrentes</a:t>
            </a:r>
          </a:p>
          <a:p>
            <a:pPr lvl="1"/>
            <a:r>
              <a:rPr lang="fr-FR" altLang="fr-FR"/>
              <a:t>Lors de l’entrée dans l’état, chaque région tire sa transition initiale</a:t>
            </a:r>
          </a:p>
          <a:p>
            <a:pPr lvl="1"/>
            <a:r>
              <a:rPr lang="fr-FR" altLang="fr-FR"/>
              <a:t>L’état est quitté lorsque toutes les régions ont tiré leur transition finale</a:t>
            </a:r>
          </a:p>
          <a:p>
            <a:pPr lvl="2"/>
            <a:r>
              <a:rPr lang="fr-FR" altLang="fr-FR"/>
              <a:t>Ou via une transition avec label partant de l’état englobant</a:t>
            </a:r>
          </a:p>
        </p:txBody>
      </p:sp>
      <p:pic>
        <p:nvPicPr>
          <p:cNvPr id="54281" name="Picture 9" descr="6-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0550" y="3024188"/>
            <a:ext cx="5440363" cy="2901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786071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fr-FR" altLang="fr-FR"/>
              <a:t>Transitions complexes</a:t>
            </a:r>
          </a:p>
        </p:txBody>
      </p:sp>
      <p:sp>
        <p:nvSpPr>
          <p:cNvPr id="56323" name="Rectangle 3"/>
          <p:cNvSpPr>
            <a:spLocks noGrp="1" noChangeArrowheads="1"/>
          </p:cNvSpPr>
          <p:nvPr>
            <p:ph type="body" idx="1"/>
          </p:nvPr>
        </p:nvSpPr>
        <p:spPr>
          <a:xfrm>
            <a:off x="279400" y="1312863"/>
            <a:ext cx="8599488" cy="4144962"/>
          </a:xfrm>
        </p:spPr>
        <p:txBody>
          <a:bodyPr/>
          <a:lstStyle/>
          <a:p>
            <a:r>
              <a:rPr lang="fr-FR" altLang="fr-FR"/>
              <a:t>Une transition complexe possède différents états source et/ou différents états destination</a:t>
            </a:r>
          </a:p>
          <a:p>
            <a:r>
              <a:rPr lang="fr-FR" altLang="fr-FR"/>
              <a:t>Représentée grâce à une </a:t>
            </a:r>
            <a:r>
              <a:rPr lang="fr-FR" altLang="fr-FR" i="1">
                <a:latin typeface="Century Schoolbook" pitchFamily="18" charset="0"/>
              </a:rPr>
              <a:t>barre de synchronisation</a:t>
            </a:r>
            <a:r>
              <a:rPr lang="fr-FR" altLang="fr-FR"/>
              <a:t> avec des flèches la reliant aux états source et destination</a:t>
            </a:r>
          </a:p>
          <a:p>
            <a:pPr lvl="1"/>
            <a:r>
              <a:rPr lang="fr-FR" altLang="fr-FR"/>
              <a:t>Un </a:t>
            </a:r>
            <a:r>
              <a:rPr lang="fr-FR" altLang="fr-FR" i="1">
                <a:latin typeface="Century Schoolbook" pitchFamily="18" charset="0"/>
              </a:rPr>
              <a:t>join</a:t>
            </a:r>
            <a:r>
              <a:rPr lang="fr-FR" altLang="fr-FR"/>
              <a:t> a différentes sources</a:t>
            </a:r>
          </a:p>
          <a:p>
            <a:pPr lvl="1"/>
            <a:r>
              <a:rPr lang="fr-FR" altLang="fr-FR"/>
              <a:t>Un </a:t>
            </a:r>
            <a:r>
              <a:rPr lang="fr-FR" altLang="fr-FR" i="1">
                <a:latin typeface="Century Schoolbook" pitchFamily="18" charset="0"/>
              </a:rPr>
              <a:t>fork</a:t>
            </a:r>
            <a:r>
              <a:rPr lang="fr-FR" altLang="fr-FR"/>
              <a:t> a différentes destinations</a:t>
            </a:r>
          </a:p>
          <a:p>
            <a:pPr lvl="1"/>
            <a:r>
              <a:rPr lang="fr-FR" altLang="fr-FR"/>
              <a:t>Une barre de synchronisation avec différentes sources et destinations équivaut à un join lié à un fork</a:t>
            </a:r>
          </a:p>
          <a:p>
            <a:r>
              <a:rPr lang="fr-FR" altLang="fr-FR"/>
              <a:t>Une expression de transition est éventuellement placée sur la barre de synchronisation, et non sur les flèches individuelles</a:t>
            </a:r>
          </a:p>
          <a:p>
            <a:pPr lvl="1"/>
            <a:r>
              <a:rPr lang="fr-FR" altLang="fr-FR"/>
              <a:t>La transition peut être déclenchée seulement quand tous ses états source ont terminé leur traitement (action exit)</a:t>
            </a:r>
          </a:p>
          <a:p>
            <a:pPr lvl="1"/>
            <a:r>
              <a:rPr lang="fr-FR" altLang="fr-FR"/>
              <a:t>Lorsque la transition est levée, on entre dans tous ses états destination</a:t>
            </a:r>
          </a:p>
        </p:txBody>
      </p:sp>
    </p:spTree>
    <p:extLst>
      <p:ext uri="{BB962C8B-B14F-4D97-AF65-F5344CB8AC3E}">
        <p14:creationId xmlns:p14="http://schemas.microsoft.com/office/powerpoint/2010/main" val="1534171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fr-FR" altLang="fr-FR"/>
              <a:t>Transitions complexes : Exemple</a:t>
            </a:r>
          </a:p>
        </p:txBody>
      </p:sp>
      <p:pic>
        <p:nvPicPr>
          <p:cNvPr id="58373" name="Picture 5" descr="6-29-diag-eta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8388" y="2405063"/>
            <a:ext cx="7007225" cy="2046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779369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179388" y="160338"/>
            <a:ext cx="8964612" cy="725487"/>
          </a:xfrm>
        </p:spPr>
        <p:txBody>
          <a:bodyPr/>
          <a:lstStyle/>
          <a:p>
            <a:r>
              <a:rPr lang="fr-FR" altLang="fr-FR"/>
              <a:t>Système d’affectation des ambulances : </a:t>
            </a:r>
            <a:br>
              <a:rPr lang="fr-FR" altLang="fr-FR"/>
            </a:br>
            <a:r>
              <a:rPr lang="fr-FR" altLang="fr-FR"/>
              <a:t>Diagramme d’états pour la classe Appel</a:t>
            </a:r>
          </a:p>
        </p:txBody>
      </p:sp>
      <p:pic>
        <p:nvPicPr>
          <p:cNvPr id="101382" name="Picture 6" descr="6-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0813" y="1371600"/>
            <a:ext cx="6300787" cy="45608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3664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fr-FR" altLang="fr-FR"/>
              <a:t>Qu’est-ce qu’un diagramme d’activité ?</a:t>
            </a:r>
          </a:p>
        </p:txBody>
      </p:sp>
      <p:sp>
        <p:nvSpPr>
          <p:cNvPr id="64515" name="Rectangle 3"/>
          <p:cNvSpPr>
            <a:spLocks noGrp="1" noChangeArrowheads="1"/>
          </p:cNvSpPr>
          <p:nvPr>
            <p:ph type="body" idx="1"/>
          </p:nvPr>
        </p:nvSpPr>
        <p:spPr>
          <a:xfrm>
            <a:off x="201613" y="2719388"/>
            <a:ext cx="8599487" cy="2970212"/>
          </a:xfrm>
        </p:spPr>
        <p:txBody>
          <a:bodyPr/>
          <a:lstStyle/>
          <a:p>
            <a:r>
              <a:rPr lang="fr-FR" altLang="fr-FR"/>
              <a:t>Un </a:t>
            </a:r>
            <a:r>
              <a:rPr lang="fr-FR" altLang="fr-FR" i="1">
                <a:latin typeface="Century Schoolbook" pitchFamily="18" charset="0"/>
              </a:rPr>
              <a:t>diagramme d’activité</a:t>
            </a:r>
            <a:r>
              <a:rPr lang="fr-FR" altLang="fr-FR">
                <a:latin typeface="Century Schoolbook" pitchFamily="18" charset="0"/>
              </a:rPr>
              <a:t> </a:t>
            </a:r>
            <a:r>
              <a:rPr lang="fr-FR" altLang="fr-FR"/>
              <a:t>était vu comme un diagramme d’états modifié, avec quelques additions et restrictions</a:t>
            </a:r>
          </a:p>
          <a:p>
            <a:r>
              <a:rPr lang="fr-FR" altLang="fr-FR"/>
              <a:t>La principale différence entre ces diagrammes réside dans leurs objectifs</a:t>
            </a:r>
          </a:p>
          <a:p>
            <a:pPr lvl="1"/>
            <a:r>
              <a:rPr lang="fr-FR" altLang="fr-FR"/>
              <a:t>Un automate d’états décrit la vie d’un objet sur lequel des événements externes agissent</a:t>
            </a:r>
          </a:p>
          <a:p>
            <a:pPr lvl="1"/>
            <a:r>
              <a:rPr lang="fr-FR" altLang="fr-FR"/>
              <a:t>Un diagramme d’activité décrit un flux d’activité à travers les étapes d’une méthode ou d’un processus, contrôlé par l'achèvement des étapes</a:t>
            </a:r>
          </a:p>
          <a:p>
            <a:r>
              <a:rPr lang="fr-FR" altLang="fr-FR"/>
              <a:t>Pour éviter les confusions, le lien formel entre diagramme d'états et diagramme d'activité a été enlevé dans UML 2.0</a:t>
            </a:r>
          </a:p>
        </p:txBody>
      </p:sp>
      <p:sp>
        <p:nvSpPr>
          <p:cNvPr id="64516" name="Rectangle 4"/>
          <p:cNvSpPr>
            <a:spLocks noChangeArrowheads="1"/>
          </p:cNvSpPr>
          <p:nvPr/>
        </p:nvSpPr>
        <p:spPr bwMode="blackWhite">
          <a:xfrm>
            <a:off x="263525" y="1219200"/>
            <a:ext cx="8628063" cy="1268413"/>
          </a:xfrm>
          <a:prstGeom prst="rect">
            <a:avLst/>
          </a:prstGeom>
          <a:solidFill>
            <a:srgbClr val="FFFFCC"/>
          </a:solidFill>
          <a:ln w="12700">
            <a:solidFill>
              <a:schemeClr val="tx1"/>
            </a:solidFill>
            <a:miter lim="800000"/>
            <a:headEnd/>
            <a:tailEnd/>
          </a:ln>
          <a:effectLst>
            <a:outerShdw dist="107763" dir="2700000" algn="ctr" rotWithShape="0">
              <a:schemeClr val="tx1"/>
            </a:outerShdw>
          </a:effectLst>
        </p:spPr>
        <p:txBody>
          <a:bodyPr anchor="ctr">
            <a:spAutoFit/>
          </a:bodyPr>
          <a:lstStyle/>
          <a:p>
            <a:endParaRPr lang="fr-FR"/>
          </a:p>
        </p:txBody>
      </p:sp>
      <p:sp>
        <p:nvSpPr>
          <p:cNvPr id="64517" name="Text Box 5"/>
          <p:cNvSpPr txBox="1">
            <a:spLocks noChangeArrowheads="1"/>
          </p:cNvSpPr>
          <p:nvPr/>
        </p:nvSpPr>
        <p:spPr bwMode="auto">
          <a:xfrm>
            <a:off x="263525" y="1277938"/>
            <a:ext cx="8628063" cy="11906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fr-FR" altLang="fr-FR" sz="1800" b="1" i="1" dirty="0">
                <a:solidFill>
                  <a:schemeClr val="tx2"/>
                </a:solidFill>
                <a:latin typeface="Century Schoolbook" pitchFamily="18" charset="0"/>
              </a:rPr>
              <a:t>“Une forme particulière de diagramme d’états dont tous les états (ou tout au moins la plupart des états) sont des actions ou des états contenant des sous-activités … Un tel diagramme permet de se focaliser sur les flux d’activité contrôlés par les traitements internes.”* </a:t>
            </a:r>
          </a:p>
        </p:txBody>
      </p:sp>
      <p:sp>
        <p:nvSpPr>
          <p:cNvPr id="64518" name="Rectangle 6"/>
          <p:cNvSpPr>
            <a:spLocks noChangeArrowheads="1"/>
          </p:cNvSpPr>
          <p:nvPr/>
        </p:nvSpPr>
        <p:spPr bwMode="auto">
          <a:xfrm>
            <a:off x="177800" y="6172200"/>
            <a:ext cx="77612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ts val="200"/>
              </a:spcBef>
              <a:buClr>
                <a:schemeClr val="accent2"/>
              </a:buClr>
              <a:buFont typeface="Arial" panose="020B0604020202020204" pitchFamily="34" charset="0"/>
              <a:buNone/>
            </a:pPr>
            <a:r>
              <a:rPr lang="en-US" altLang="fr-FR">
                <a:solidFill>
                  <a:srgbClr val="000080"/>
                </a:solidFill>
              </a:rPr>
              <a:t>*Source: </a:t>
            </a:r>
            <a:r>
              <a:rPr lang="en-US" altLang="fr-FR" i="1">
                <a:solidFill>
                  <a:srgbClr val="000080"/>
                </a:solidFill>
              </a:rPr>
              <a:t>OMG Unified Modeling Language Specification. </a:t>
            </a:r>
            <a:r>
              <a:rPr lang="en-US" altLang="fr-FR">
                <a:solidFill>
                  <a:srgbClr val="000080"/>
                </a:solidFill>
              </a:rPr>
              <a:t>Object Management Group, Inc.: 2001.</a:t>
            </a:r>
          </a:p>
        </p:txBody>
      </p:sp>
    </p:spTree>
    <p:extLst>
      <p:ext uri="{BB962C8B-B14F-4D97-AF65-F5344CB8AC3E}">
        <p14:creationId xmlns:p14="http://schemas.microsoft.com/office/powerpoint/2010/main" val="20249132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fr-FR" altLang="fr-FR"/>
              <a:t>Diagramme d’activité : Exemple</a:t>
            </a:r>
          </a:p>
        </p:txBody>
      </p:sp>
      <p:sp>
        <p:nvSpPr>
          <p:cNvPr id="68611" name="Rectangle 3"/>
          <p:cNvSpPr>
            <a:spLocks noGrp="1" noChangeArrowheads="1"/>
          </p:cNvSpPr>
          <p:nvPr>
            <p:ph type="body" idx="1"/>
          </p:nvPr>
        </p:nvSpPr>
        <p:spPr>
          <a:xfrm>
            <a:off x="279400" y="1312863"/>
            <a:ext cx="8599488" cy="366712"/>
          </a:xfrm>
        </p:spPr>
        <p:txBody>
          <a:bodyPr/>
          <a:lstStyle/>
          <a:p>
            <a:r>
              <a:rPr lang="fr-FR" altLang="fr-FR"/>
              <a:t>Dîner dans un restaurant</a:t>
            </a:r>
          </a:p>
        </p:txBody>
      </p:sp>
      <p:pic>
        <p:nvPicPr>
          <p:cNvPr id="68615" name="Picture 7" descr="6-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863" y="2286000"/>
            <a:ext cx="8550275" cy="314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158749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fr-FR" altLang="fr-FR"/>
              <a:t>Pourquoi utiliser un diagramme d’activité ?</a:t>
            </a:r>
            <a:endParaRPr lang="fr-FR" altLang="fr-FR" noProof="1"/>
          </a:p>
        </p:txBody>
      </p:sp>
      <p:sp>
        <p:nvSpPr>
          <p:cNvPr id="70659" name="Rectangle 3"/>
          <p:cNvSpPr>
            <a:spLocks noGrp="1" noChangeArrowheads="1"/>
          </p:cNvSpPr>
          <p:nvPr>
            <p:ph type="body" idx="1"/>
          </p:nvPr>
        </p:nvSpPr>
        <p:spPr>
          <a:xfrm>
            <a:off x="279400" y="1312863"/>
            <a:ext cx="8599488" cy="2894012"/>
          </a:xfrm>
        </p:spPr>
        <p:txBody>
          <a:bodyPr/>
          <a:lstStyle/>
          <a:p>
            <a:r>
              <a:rPr lang="fr-FR" altLang="fr-FR"/>
              <a:t>Un diagramme d’activité est utilisé pour montrer les flux d’activité à différents niveaux :</a:t>
            </a:r>
          </a:p>
          <a:p>
            <a:pPr lvl="1"/>
            <a:r>
              <a:rPr lang="fr-FR" altLang="fr-FR"/>
              <a:t>Processus métier (ou </a:t>
            </a:r>
            <a:r>
              <a:rPr lang="fr-FR" altLang="fr-FR">
                <a:latin typeface="Times New Roman" panose="02020603050405020304" pitchFamily="18" charset="0"/>
              </a:rPr>
              <a:t>workflow</a:t>
            </a:r>
            <a:r>
              <a:rPr lang="fr-FR" altLang="fr-FR"/>
              <a:t>)</a:t>
            </a:r>
          </a:p>
          <a:p>
            <a:pPr lvl="1"/>
            <a:r>
              <a:rPr lang="fr-FR" altLang="fr-FR"/>
              <a:t>Cas d’utilisation</a:t>
            </a:r>
          </a:p>
          <a:p>
            <a:pPr lvl="1"/>
            <a:r>
              <a:rPr lang="fr-FR" altLang="fr-FR"/>
              <a:t>Interaction</a:t>
            </a:r>
          </a:p>
          <a:p>
            <a:pPr lvl="1"/>
            <a:r>
              <a:rPr lang="fr-FR" altLang="fr-FR"/>
              <a:t>Méthode particulière</a:t>
            </a:r>
          </a:p>
          <a:p>
            <a:r>
              <a:rPr lang="fr-FR" altLang="fr-FR"/>
              <a:t>Plus souple qu’un diagramme de flux conventionnel</a:t>
            </a:r>
          </a:p>
          <a:p>
            <a:pPr lvl="1"/>
            <a:r>
              <a:rPr lang="fr-FR" altLang="fr-FR"/>
              <a:t>Peut représenter des traitements parallèles</a:t>
            </a:r>
          </a:p>
          <a:p>
            <a:pPr lvl="1"/>
            <a:r>
              <a:rPr lang="fr-FR" altLang="fr-FR"/>
              <a:t>Peut montrer les correspondances avec les objets et les classes impliquées</a:t>
            </a:r>
          </a:p>
        </p:txBody>
      </p:sp>
    </p:spTree>
    <p:extLst>
      <p:ext uri="{BB962C8B-B14F-4D97-AF65-F5344CB8AC3E}">
        <p14:creationId xmlns:p14="http://schemas.microsoft.com/office/powerpoint/2010/main" val="33702759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fr-FR" altLang="fr-FR"/>
              <a:t>Actions</a:t>
            </a:r>
          </a:p>
        </p:txBody>
      </p:sp>
      <p:sp>
        <p:nvSpPr>
          <p:cNvPr id="72707" name="Rectangle 3"/>
          <p:cNvSpPr>
            <a:spLocks noGrp="1" noChangeArrowheads="1"/>
          </p:cNvSpPr>
          <p:nvPr>
            <p:ph type="body" idx="1"/>
          </p:nvPr>
        </p:nvSpPr>
        <p:spPr>
          <a:xfrm>
            <a:off x="279400" y="1312863"/>
            <a:ext cx="8599488" cy="1093787"/>
          </a:xfrm>
        </p:spPr>
        <p:txBody>
          <a:bodyPr/>
          <a:lstStyle/>
          <a:p>
            <a:r>
              <a:rPr lang="fr-FR" altLang="fr-FR"/>
              <a:t>Une </a:t>
            </a:r>
            <a:r>
              <a:rPr lang="fr-FR" altLang="fr-FR" i="1">
                <a:latin typeface="Century Schoolbook" pitchFamily="18" charset="0"/>
              </a:rPr>
              <a:t>action</a:t>
            </a:r>
            <a:r>
              <a:rPr lang="fr-FR" altLang="fr-FR"/>
              <a:t> représente une étape dans un processus ou dans l'exécution d'un algorithme</a:t>
            </a:r>
          </a:p>
          <a:p>
            <a:r>
              <a:rPr lang="fr-FR" altLang="fr-FR"/>
              <a:t>Le symbole d'une action dans UML 2.0 est un rectangle aux coins ronds</a:t>
            </a:r>
          </a:p>
        </p:txBody>
      </p:sp>
      <p:sp>
        <p:nvSpPr>
          <p:cNvPr id="72709" name="AutoShape 5"/>
          <p:cNvSpPr>
            <a:spLocks noChangeArrowheads="1"/>
          </p:cNvSpPr>
          <p:nvPr/>
        </p:nvSpPr>
        <p:spPr bwMode="gray">
          <a:xfrm>
            <a:off x="1690688" y="2559050"/>
            <a:ext cx="1030287" cy="660400"/>
          </a:xfrm>
          <a:prstGeom prst="roundRect">
            <a:avLst>
              <a:gd name="adj" fmla="val 16667"/>
            </a:avLst>
          </a:prstGeom>
          <a:solidFill>
            <a:srgbClr val="FFFFCC"/>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fr-FR"/>
          </a:p>
        </p:txBody>
      </p:sp>
      <p:sp>
        <p:nvSpPr>
          <p:cNvPr id="72714" name="Text Box 10"/>
          <p:cNvSpPr txBox="1">
            <a:spLocks noChangeArrowheads="1"/>
          </p:cNvSpPr>
          <p:nvPr/>
        </p:nvSpPr>
        <p:spPr bwMode="gray">
          <a:xfrm>
            <a:off x="1687513" y="2590800"/>
            <a:ext cx="1030287" cy="536575"/>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algn="ctr"/>
            <a:r>
              <a:rPr lang="fr-FR" altLang="fr-FR" sz="1600" b="1" dirty="0">
                <a:solidFill>
                  <a:schemeClr val="tx2"/>
                </a:solidFill>
              </a:rPr>
              <a:t>Cuisiner</a:t>
            </a:r>
            <a:br>
              <a:rPr lang="fr-FR" altLang="fr-FR" sz="1600" b="1" dirty="0">
                <a:solidFill>
                  <a:schemeClr val="tx2"/>
                </a:solidFill>
              </a:rPr>
            </a:br>
            <a:r>
              <a:rPr lang="fr-FR" altLang="fr-FR" sz="1600" b="1" dirty="0">
                <a:solidFill>
                  <a:schemeClr val="tx2"/>
                </a:solidFill>
              </a:rPr>
              <a:t>repas</a:t>
            </a:r>
            <a:endParaRPr lang="fr-FR" altLang="fr-FR" sz="1600" dirty="0">
              <a:solidFill>
                <a:schemeClr val="tx2"/>
              </a:solidFill>
            </a:endParaRPr>
          </a:p>
        </p:txBody>
      </p:sp>
    </p:spTree>
    <p:extLst>
      <p:ext uri="{BB962C8B-B14F-4D97-AF65-F5344CB8AC3E}">
        <p14:creationId xmlns:p14="http://schemas.microsoft.com/office/powerpoint/2010/main" val="260544222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fr-FR" altLang="fr-FR"/>
              <a:t>États sous-activité</a:t>
            </a:r>
          </a:p>
        </p:txBody>
      </p:sp>
      <p:sp>
        <p:nvSpPr>
          <p:cNvPr id="74755" name="Rectangle 3"/>
          <p:cNvSpPr>
            <a:spLocks noGrp="1" noChangeArrowheads="1"/>
          </p:cNvSpPr>
          <p:nvPr>
            <p:ph type="body" idx="1"/>
          </p:nvPr>
        </p:nvSpPr>
        <p:spPr>
          <a:xfrm>
            <a:off x="279400" y="1312863"/>
            <a:ext cx="8599488" cy="1516062"/>
          </a:xfrm>
        </p:spPr>
        <p:txBody>
          <a:bodyPr/>
          <a:lstStyle/>
          <a:p>
            <a:r>
              <a:rPr lang="fr-FR" altLang="fr-FR"/>
              <a:t>Un </a:t>
            </a:r>
            <a:r>
              <a:rPr lang="fr-FR" altLang="fr-FR" i="1">
                <a:latin typeface="Century Schoolbook" pitchFamily="18" charset="0"/>
              </a:rPr>
              <a:t>état sous-activité</a:t>
            </a:r>
            <a:r>
              <a:rPr lang="fr-FR" altLang="fr-FR"/>
              <a:t> est l’équivalent, dans le diagramme d’activité,  de l’état composite </a:t>
            </a:r>
          </a:p>
          <a:p>
            <a:pPr lvl="1"/>
            <a:r>
              <a:rPr lang="fr-FR" altLang="fr-FR"/>
              <a:t>Contient un diagramme d’activité interne</a:t>
            </a:r>
          </a:p>
          <a:p>
            <a:pPr lvl="1"/>
            <a:r>
              <a:rPr lang="fr-FR" altLang="fr-FR"/>
              <a:t>Le diagramme interne peut être représenté à l’intérieur de l’état sous-activité ou défini sur un autre diagramme</a:t>
            </a:r>
            <a:endParaRPr lang="fr-FR" altLang="fr-FR" noProof="1"/>
          </a:p>
        </p:txBody>
      </p:sp>
      <p:pic>
        <p:nvPicPr>
          <p:cNvPr id="74758" name="Picture 6" descr="6-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048000"/>
            <a:ext cx="7467600" cy="294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021634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fr-FR" altLang="fr-FR"/>
              <a:t>Décisions</a:t>
            </a:r>
          </a:p>
        </p:txBody>
      </p:sp>
      <p:sp>
        <p:nvSpPr>
          <p:cNvPr id="76803" name="Rectangle 3"/>
          <p:cNvSpPr>
            <a:spLocks noGrp="1" noChangeArrowheads="1"/>
          </p:cNvSpPr>
          <p:nvPr>
            <p:ph type="body" idx="1"/>
          </p:nvPr>
        </p:nvSpPr>
        <p:spPr>
          <a:xfrm>
            <a:off x="365125" y="1312863"/>
            <a:ext cx="8599488" cy="1985159"/>
          </a:xfrm>
        </p:spPr>
        <p:txBody>
          <a:bodyPr/>
          <a:lstStyle/>
          <a:p>
            <a:r>
              <a:rPr lang="fr-FR" altLang="fr-FR" dirty="0"/>
              <a:t>Une </a:t>
            </a:r>
            <a:r>
              <a:rPr lang="fr-FR" altLang="fr-FR" i="1" dirty="0">
                <a:latin typeface="Century Schoolbook" pitchFamily="18" charset="0"/>
              </a:rPr>
              <a:t>décision</a:t>
            </a:r>
            <a:r>
              <a:rPr lang="fr-FR" altLang="fr-FR" dirty="0"/>
              <a:t> “Si-alors-sinon” est représentée en utilisant des conditions de garde exclusives autour d'une icône en forme de losange</a:t>
            </a:r>
          </a:p>
          <a:p>
            <a:pPr lvl="1"/>
            <a:r>
              <a:rPr lang="fr-FR" altLang="fr-FR" dirty="0"/>
              <a:t>Identique à l'icône utilisée sur les diagrammes de flux traditionnels</a:t>
            </a:r>
          </a:p>
          <a:p>
            <a:pPr lvl="1"/>
            <a:r>
              <a:rPr lang="fr-FR" altLang="fr-FR" dirty="0"/>
              <a:t>La condition standard </a:t>
            </a:r>
            <a:r>
              <a:rPr lang="fr-FR" altLang="fr-FR" dirty="0" err="1">
                <a:latin typeface="Courier New" panose="02070309020205020404" pitchFamily="49" charset="0"/>
              </a:rPr>
              <a:t>else</a:t>
            </a:r>
            <a:r>
              <a:rPr lang="fr-FR" altLang="fr-FR" dirty="0"/>
              <a:t> peut être utilisée</a:t>
            </a:r>
          </a:p>
          <a:p>
            <a:r>
              <a:rPr lang="fr-FR" altLang="fr-FR" dirty="0"/>
              <a:t>Une icône en forme de losange indique également une </a:t>
            </a:r>
            <a:r>
              <a:rPr lang="fr-FR" altLang="fr-FR" i="1" dirty="0">
                <a:latin typeface="Century Schoolbook" pitchFamily="18" charset="0"/>
              </a:rPr>
              <a:t>jonction</a:t>
            </a:r>
            <a:r>
              <a:rPr lang="fr-FR" altLang="fr-FR" dirty="0"/>
              <a:t> de flux provenant de diverses transitions </a:t>
            </a:r>
            <a:r>
              <a:rPr lang="fr-FR" altLang="fr-FR" dirty="0" smtClean="0"/>
              <a:t>entrantes</a:t>
            </a:r>
            <a:endParaRPr lang="fr-FR" altLang="fr-FR" dirty="0"/>
          </a:p>
        </p:txBody>
      </p:sp>
    </p:spTree>
    <p:extLst>
      <p:ext uri="{BB962C8B-B14F-4D97-AF65-F5344CB8AC3E}">
        <p14:creationId xmlns:p14="http://schemas.microsoft.com/office/powerpoint/2010/main" val="290383900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fr-FR" altLang="fr-FR"/>
              <a:t>Décisions : Nouvelle et ancienne notations</a:t>
            </a:r>
          </a:p>
        </p:txBody>
      </p:sp>
      <p:pic>
        <p:nvPicPr>
          <p:cNvPr id="78856" name="Picture 8" descr="6-40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371600"/>
            <a:ext cx="4184650" cy="4629150"/>
          </a:xfrm>
          <a:prstGeom prst="rect">
            <a:avLst/>
          </a:prstGeom>
          <a:noFill/>
          <a:extLst>
            <a:ext uri="{909E8E84-426E-40DD-AFC4-6F175D3DCCD1}">
              <a14:hiddenFill xmlns:a14="http://schemas.microsoft.com/office/drawing/2010/main">
                <a:solidFill>
                  <a:srgbClr val="FFFFFF"/>
                </a:solidFill>
              </a14:hiddenFill>
            </a:ext>
          </a:extLst>
        </p:spPr>
      </p:pic>
      <p:pic>
        <p:nvPicPr>
          <p:cNvPr id="78857" name="Picture 9" descr="6-40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371600"/>
            <a:ext cx="4302125" cy="4727575"/>
          </a:xfrm>
          <a:prstGeom prst="rect">
            <a:avLst/>
          </a:prstGeom>
          <a:noFill/>
          <a:extLst>
            <a:ext uri="{909E8E84-426E-40DD-AFC4-6F175D3DCCD1}">
              <a14:hiddenFill xmlns:a14="http://schemas.microsoft.com/office/drawing/2010/main">
                <a:solidFill>
                  <a:srgbClr val="FFFFFF"/>
                </a:solidFill>
              </a14:hiddenFill>
            </a:ext>
          </a:extLst>
        </p:spPr>
      </p:pic>
      <p:sp>
        <p:nvSpPr>
          <p:cNvPr id="78858" name="Text Box 10"/>
          <p:cNvSpPr txBox="1">
            <a:spLocks noChangeArrowheads="1"/>
          </p:cNvSpPr>
          <p:nvPr/>
        </p:nvSpPr>
        <p:spPr bwMode="auto">
          <a:xfrm>
            <a:off x="365125" y="1270000"/>
            <a:ext cx="1758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sz="1800" b="1"/>
              <a:t>Avant UML 2.0</a:t>
            </a:r>
          </a:p>
        </p:txBody>
      </p:sp>
      <p:sp>
        <p:nvSpPr>
          <p:cNvPr id="78859" name="Text Box 11"/>
          <p:cNvSpPr txBox="1">
            <a:spLocks noChangeArrowheads="1"/>
          </p:cNvSpPr>
          <p:nvPr/>
        </p:nvSpPr>
        <p:spPr bwMode="auto">
          <a:xfrm>
            <a:off x="4913313" y="1270000"/>
            <a:ext cx="1060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sz="1800" b="1"/>
              <a:t>UML 2.0</a:t>
            </a:r>
          </a:p>
        </p:txBody>
      </p:sp>
    </p:spTree>
    <p:extLst>
      <p:ext uri="{BB962C8B-B14F-4D97-AF65-F5344CB8AC3E}">
        <p14:creationId xmlns:p14="http://schemas.microsoft.com/office/powerpoint/2010/main" val="266569049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fr-FR" altLang="fr-FR"/>
              <a:t>Fork et join conditionnels</a:t>
            </a:r>
            <a:endParaRPr lang="fr-FR" altLang="fr-FR" noProof="1"/>
          </a:p>
        </p:txBody>
      </p:sp>
      <p:sp>
        <p:nvSpPr>
          <p:cNvPr id="79875" name="Rectangle 3"/>
          <p:cNvSpPr>
            <a:spLocks noGrp="1" noChangeArrowheads="1"/>
          </p:cNvSpPr>
          <p:nvPr>
            <p:ph type="body" idx="1"/>
          </p:nvPr>
        </p:nvSpPr>
        <p:spPr>
          <a:xfrm>
            <a:off x="279400" y="1312863"/>
            <a:ext cx="8599488" cy="3270250"/>
          </a:xfrm>
        </p:spPr>
        <p:txBody>
          <a:bodyPr/>
          <a:lstStyle/>
          <a:p>
            <a:r>
              <a:rPr lang="fr-FR" altLang="fr-FR"/>
              <a:t>Un fork représente un flux d’activité qui se sépare en plusieurs flux exécutés de manière concurrente (en parallèle)</a:t>
            </a:r>
          </a:p>
          <a:p>
            <a:r>
              <a:rPr lang="fr-FR" altLang="fr-FR"/>
              <a:t>Sur un diagramme d’activité, les flux sortant du fork peuvent être gardés par une condition</a:t>
            </a:r>
          </a:p>
          <a:p>
            <a:pPr lvl="1"/>
            <a:r>
              <a:rPr lang="fr-FR" altLang="fr-FR"/>
              <a:t>On parle alors de </a:t>
            </a:r>
            <a:r>
              <a:rPr lang="fr-FR" altLang="fr-FR" i="1">
                <a:latin typeface="Century Schoolbook" pitchFamily="18" charset="0"/>
              </a:rPr>
              <a:t>fork conditionnel</a:t>
            </a:r>
            <a:endParaRPr lang="fr-FR" altLang="fr-FR"/>
          </a:p>
          <a:p>
            <a:pPr lvl="1"/>
            <a:r>
              <a:rPr lang="fr-FR" altLang="fr-FR"/>
              <a:t>Les forks conditionnels ne sont pas permis dans les automates d’états</a:t>
            </a:r>
          </a:p>
          <a:p>
            <a:r>
              <a:rPr lang="fr-FR" altLang="fr-FR"/>
              <a:t>Un join est franchi lorsque tous les flux entrants ont été complètement exécutés</a:t>
            </a:r>
          </a:p>
          <a:p>
            <a:pPr lvl="1"/>
            <a:r>
              <a:rPr lang="fr-FR" altLang="fr-FR"/>
              <a:t>Si certains flux sont gardés par une condition, le join attend uniquement que les flux actifs se terminent</a:t>
            </a:r>
          </a:p>
        </p:txBody>
      </p:sp>
    </p:spTree>
    <p:extLst>
      <p:ext uri="{BB962C8B-B14F-4D97-AF65-F5344CB8AC3E}">
        <p14:creationId xmlns:p14="http://schemas.microsoft.com/office/powerpoint/2010/main" val="30233953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fr-FR" altLang="fr-FR"/>
              <a:t>Fork et join conditionnels : Exemple</a:t>
            </a:r>
          </a:p>
        </p:txBody>
      </p:sp>
      <p:sp>
        <p:nvSpPr>
          <p:cNvPr id="81923" name="Rectangle 3"/>
          <p:cNvSpPr>
            <a:spLocks noGrp="1" noChangeArrowheads="1"/>
          </p:cNvSpPr>
          <p:nvPr>
            <p:ph type="body" idx="1"/>
          </p:nvPr>
        </p:nvSpPr>
        <p:spPr>
          <a:xfrm>
            <a:off x="279400" y="1312863"/>
            <a:ext cx="8599488" cy="366712"/>
          </a:xfrm>
        </p:spPr>
        <p:txBody>
          <a:bodyPr/>
          <a:lstStyle/>
          <a:p>
            <a:r>
              <a:rPr lang="fr-FR" altLang="fr-FR"/>
              <a:t>On ne doit manger les frites que si on les a commandées</a:t>
            </a:r>
            <a:endParaRPr lang="fr-FR" altLang="fr-FR" noProof="1"/>
          </a:p>
        </p:txBody>
      </p:sp>
      <p:pic>
        <p:nvPicPr>
          <p:cNvPr id="81924" name="Picture 4" descr="Manger repas (fork conditionnel)_Activity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1828800"/>
            <a:ext cx="4038600" cy="3963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266930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fr-FR" altLang="fr-FR"/>
              <a:t>Partitions</a:t>
            </a:r>
          </a:p>
        </p:txBody>
      </p:sp>
      <p:sp>
        <p:nvSpPr>
          <p:cNvPr id="83971" name="Rectangle 3"/>
          <p:cNvSpPr>
            <a:spLocks noGrp="1" noChangeArrowheads="1"/>
          </p:cNvSpPr>
          <p:nvPr>
            <p:ph type="body" idx="1"/>
          </p:nvPr>
        </p:nvSpPr>
        <p:spPr>
          <a:xfrm>
            <a:off x="279400" y="1312863"/>
            <a:ext cx="8599488" cy="3392487"/>
          </a:xfrm>
        </p:spPr>
        <p:txBody>
          <a:bodyPr/>
          <a:lstStyle/>
          <a:p>
            <a:r>
              <a:rPr lang="fr-FR" altLang="fr-FR"/>
              <a:t>Un diagramme d’activité peut montrer les responsabilités de chaque objet intervenant dans un algorithme ou un processus métier</a:t>
            </a:r>
          </a:p>
          <a:p>
            <a:pPr lvl="1"/>
            <a:r>
              <a:rPr lang="fr-FR" altLang="fr-FR"/>
              <a:t>Le diagramme est divisé en régions appelées </a:t>
            </a:r>
            <a:r>
              <a:rPr lang="fr-FR" altLang="fr-FR" i="1">
                <a:latin typeface="Century Schoolbook" pitchFamily="18" charset="0"/>
              </a:rPr>
              <a:t>partitions</a:t>
            </a:r>
          </a:p>
          <a:p>
            <a:pPr lvl="1"/>
            <a:r>
              <a:rPr lang="fr-FR" altLang="fr-FR"/>
              <a:t>Avant UML 2.0, les partitions étaient appelées </a:t>
            </a:r>
            <a:r>
              <a:rPr lang="fr-FR" altLang="fr-FR" i="1">
                <a:latin typeface="Century Schoolbook" pitchFamily="18" charset="0"/>
              </a:rPr>
              <a:t>lignes de visibilité </a:t>
            </a:r>
            <a:r>
              <a:rPr lang="fr-FR" altLang="fr-FR"/>
              <a:t>(</a:t>
            </a:r>
            <a:r>
              <a:rPr lang="fr-FR" altLang="fr-FR">
                <a:latin typeface="Times New Roman" panose="02020603050405020304" pitchFamily="18" charset="0"/>
              </a:rPr>
              <a:t>swimlanes</a:t>
            </a:r>
            <a:r>
              <a:rPr lang="fr-FR" altLang="fr-FR"/>
              <a:t>)</a:t>
            </a:r>
          </a:p>
          <a:p>
            <a:r>
              <a:rPr lang="fr-FR" altLang="fr-FR"/>
              <a:t>Chaque partition contient les actions exécutées par un des composants du système</a:t>
            </a:r>
          </a:p>
          <a:p>
            <a:pPr lvl="1"/>
            <a:r>
              <a:rPr lang="fr-FR" altLang="fr-FR"/>
              <a:t>Habituellement, chaque partition correspond à un objet ou à un rôle d’objet</a:t>
            </a:r>
          </a:p>
          <a:p>
            <a:pPr lvl="1"/>
            <a:r>
              <a:rPr lang="fr-FR" altLang="fr-FR"/>
              <a:t>Mais elles peuvent correspondre à une unité organisationnelle dans un modèle métier, un acteur dans un modèle de cas d’utilisation, ou une classe dans un modèle de conception</a:t>
            </a:r>
          </a:p>
        </p:txBody>
      </p:sp>
    </p:spTree>
    <p:extLst>
      <p:ext uri="{BB962C8B-B14F-4D97-AF65-F5344CB8AC3E}">
        <p14:creationId xmlns:p14="http://schemas.microsoft.com/office/powerpoint/2010/main" val="250799948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fr-FR" altLang="fr-FR"/>
              <a:t>Partitions : Exemple</a:t>
            </a:r>
          </a:p>
        </p:txBody>
      </p:sp>
      <p:pic>
        <p:nvPicPr>
          <p:cNvPr id="86022" name="Picture 6" descr="6-4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530225" y="1219200"/>
            <a:ext cx="8081963" cy="4873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856223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179388" y="160338"/>
            <a:ext cx="8812212" cy="725487"/>
          </a:xfrm>
        </p:spPr>
        <p:txBody>
          <a:bodyPr/>
          <a:lstStyle/>
          <a:p>
            <a:r>
              <a:rPr lang="fr-FR" altLang="fr-FR"/>
              <a:t>Système d’affectation des ambulances : Diagramme d’activité</a:t>
            </a:r>
          </a:p>
        </p:txBody>
      </p:sp>
      <p:pic>
        <p:nvPicPr>
          <p:cNvPr id="104453" name="Picture 5" descr="6-45-diag-activit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824038"/>
            <a:ext cx="7772400" cy="3497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964417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p:txBody>
          <a:bodyPr/>
          <a:lstStyle/>
          <a:p>
            <a:r>
              <a:rPr lang="fr-FR" altLang="fr-FR"/>
              <a:t>Nouvelles fonctionnalités</a:t>
            </a:r>
          </a:p>
        </p:txBody>
      </p:sp>
      <p:sp>
        <p:nvSpPr>
          <p:cNvPr id="160771" name="Rectangle 3"/>
          <p:cNvSpPr>
            <a:spLocks noGrp="1" noChangeArrowheads="1"/>
          </p:cNvSpPr>
          <p:nvPr>
            <p:ph type="body" idx="1"/>
          </p:nvPr>
        </p:nvSpPr>
        <p:spPr>
          <a:xfrm>
            <a:off x="279400" y="1312863"/>
            <a:ext cx="8599488" cy="4922837"/>
          </a:xfrm>
        </p:spPr>
        <p:txBody>
          <a:bodyPr/>
          <a:lstStyle/>
          <a:p>
            <a:r>
              <a:rPr lang="fr-FR" altLang="fr-FR"/>
              <a:t>Les diagrammes d'activité ont été significativement améliorés dans UML 2.0</a:t>
            </a:r>
          </a:p>
          <a:p>
            <a:pPr lvl="1"/>
            <a:r>
              <a:rPr lang="fr-FR" altLang="fr-FR"/>
              <a:t>Ces améliorations sont listées ci-dessous</a:t>
            </a:r>
          </a:p>
          <a:p>
            <a:r>
              <a:rPr lang="fr-FR" altLang="fr-FR"/>
              <a:t>Les points de connexion (</a:t>
            </a:r>
            <a:r>
              <a:rPr lang="fr-FR" altLang="fr-FR">
                <a:latin typeface="Times New Roman" panose="02020603050405020304" pitchFamily="18" charset="0"/>
              </a:rPr>
              <a:t>pins</a:t>
            </a:r>
            <a:r>
              <a:rPr lang="fr-FR" altLang="fr-FR"/>
              <a:t>)</a:t>
            </a:r>
          </a:p>
          <a:p>
            <a:pPr lvl="1"/>
            <a:r>
              <a:rPr lang="fr-FR" altLang="fr-FR"/>
              <a:t>Montrent les données consommées ou produites par une action</a:t>
            </a:r>
          </a:p>
          <a:p>
            <a:pPr lvl="1"/>
            <a:r>
              <a:rPr lang="fr-FR" altLang="fr-FR"/>
              <a:t>Permettent de spécifier précisément un algorithme sur un diagramme d'activité</a:t>
            </a:r>
          </a:p>
          <a:p>
            <a:pPr lvl="1"/>
            <a:r>
              <a:rPr lang="fr-FR" altLang="fr-FR"/>
              <a:t>Ont pour objectif de permettre l'utilisation d'UML comme langage de programmation graphique</a:t>
            </a:r>
          </a:p>
          <a:p>
            <a:r>
              <a:rPr lang="fr-FR" altLang="fr-FR"/>
              <a:t>Les connecteurs</a:t>
            </a:r>
          </a:p>
          <a:p>
            <a:pPr lvl="1"/>
            <a:r>
              <a:rPr lang="fr-FR" altLang="fr-FR"/>
              <a:t>Permettent de décrire un diagramme d'activité sur plusieurs pages</a:t>
            </a:r>
          </a:p>
          <a:p>
            <a:pPr lvl="1"/>
            <a:r>
              <a:rPr lang="fr-FR" altLang="fr-FR"/>
              <a:t>Ou d'éviter de croiser graphiquement des flux</a:t>
            </a:r>
          </a:p>
          <a:p>
            <a:r>
              <a:rPr lang="fr-FR" altLang="fr-FR"/>
              <a:t>Les fins de flux</a:t>
            </a:r>
          </a:p>
          <a:p>
            <a:pPr lvl="1"/>
            <a:r>
              <a:rPr lang="fr-FR" altLang="fr-FR"/>
              <a:t>Montrent où un chemin se termine alors que les autres poursuivent (en parallèle) l’activité en cours</a:t>
            </a:r>
          </a:p>
        </p:txBody>
      </p:sp>
    </p:spTree>
    <p:extLst>
      <p:ext uri="{BB962C8B-B14F-4D97-AF65-F5344CB8AC3E}">
        <p14:creationId xmlns:p14="http://schemas.microsoft.com/office/powerpoint/2010/main" val="4696567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p:txBody>
          <a:bodyPr/>
          <a:lstStyle/>
          <a:p>
            <a:r>
              <a:rPr lang="fr-FR" altLang="fr-FR"/>
              <a:t>Nouvelles fonctionnalités : Exemple</a:t>
            </a:r>
          </a:p>
        </p:txBody>
      </p:sp>
      <p:sp>
        <p:nvSpPr>
          <p:cNvPr id="161795" name="AutoShape 3"/>
          <p:cNvSpPr>
            <a:spLocks noChangeArrowheads="1"/>
          </p:cNvSpPr>
          <p:nvPr/>
        </p:nvSpPr>
        <p:spPr bwMode="gray">
          <a:xfrm>
            <a:off x="2067411" y="1968798"/>
            <a:ext cx="1778616" cy="432792"/>
          </a:xfrm>
          <a:prstGeom prst="roundRect">
            <a:avLst>
              <a:gd name="adj" fmla="val 50000"/>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fr-FR" altLang="fr-FR">
                <a:solidFill>
                  <a:schemeClr val="tx2"/>
                </a:solidFill>
              </a:rPr>
              <a:t>Commander repas</a:t>
            </a:r>
          </a:p>
        </p:txBody>
      </p:sp>
      <p:sp>
        <p:nvSpPr>
          <p:cNvPr id="161796" name="AutoShape 4"/>
          <p:cNvSpPr>
            <a:spLocks noChangeArrowheads="1"/>
          </p:cNvSpPr>
          <p:nvPr/>
        </p:nvSpPr>
        <p:spPr bwMode="gray">
          <a:xfrm>
            <a:off x="2067113" y="3294361"/>
            <a:ext cx="1874462" cy="432792"/>
          </a:xfrm>
          <a:prstGeom prst="roundRect">
            <a:avLst>
              <a:gd name="adj" fmla="val 50000"/>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fr-FR" altLang="fr-FR">
                <a:solidFill>
                  <a:schemeClr val="tx2"/>
                </a:solidFill>
              </a:rPr>
              <a:t>Prendre commande</a:t>
            </a:r>
          </a:p>
        </p:txBody>
      </p:sp>
      <p:sp>
        <p:nvSpPr>
          <p:cNvPr id="161797" name="AutoShape 5"/>
          <p:cNvSpPr>
            <a:spLocks noChangeArrowheads="1"/>
          </p:cNvSpPr>
          <p:nvPr/>
        </p:nvSpPr>
        <p:spPr bwMode="gray">
          <a:xfrm>
            <a:off x="6547038" y="3299123"/>
            <a:ext cx="1455362" cy="432792"/>
          </a:xfrm>
          <a:prstGeom prst="roundRect">
            <a:avLst>
              <a:gd name="adj" fmla="val 50000"/>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fr-FR" altLang="fr-FR">
                <a:solidFill>
                  <a:schemeClr val="tx2"/>
                </a:solidFill>
              </a:rPr>
              <a:t>Cuisiner repas</a:t>
            </a:r>
          </a:p>
        </p:txBody>
      </p:sp>
      <p:sp>
        <p:nvSpPr>
          <p:cNvPr id="161798" name="Rectangle 6"/>
          <p:cNvSpPr>
            <a:spLocks noChangeArrowheads="1"/>
          </p:cNvSpPr>
          <p:nvPr/>
        </p:nvSpPr>
        <p:spPr bwMode="gray">
          <a:xfrm>
            <a:off x="2740025" y="3152081"/>
            <a:ext cx="184731" cy="307777"/>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fr-FR">
              <a:solidFill>
                <a:schemeClr val="tx2"/>
              </a:solidFill>
            </a:endParaRPr>
          </a:p>
        </p:txBody>
      </p:sp>
      <p:sp>
        <p:nvSpPr>
          <p:cNvPr id="161799" name="Rectangle 7"/>
          <p:cNvSpPr>
            <a:spLocks noChangeArrowheads="1"/>
          </p:cNvSpPr>
          <p:nvPr/>
        </p:nvSpPr>
        <p:spPr bwMode="gray">
          <a:xfrm>
            <a:off x="3133725" y="3152081"/>
            <a:ext cx="184731" cy="307777"/>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fr-FR">
              <a:solidFill>
                <a:schemeClr val="tx2"/>
              </a:solidFill>
            </a:endParaRPr>
          </a:p>
        </p:txBody>
      </p:sp>
      <p:sp>
        <p:nvSpPr>
          <p:cNvPr id="161800" name="Freeform 8"/>
          <p:cNvSpPr>
            <a:spLocks/>
          </p:cNvSpPr>
          <p:nvPr/>
        </p:nvSpPr>
        <p:spPr bwMode="gray">
          <a:xfrm>
            <a:off x="2798763" y="2378075"/>
            <a:ext cx="206375" cy="307777"/>
          </a:xfrm>
          <a:custGeom>
            <a:avLst/>
            <a:gdLst>
              <a:gd name="T0" fmla="*/ 130 w 130"/>
              <a:gd name="T1" fmla="*/ 0 h 540"/>
              <a:gd name="T2" fmla="*/ 130 w 130"/>
              <a:gd name="T3" fmla="*/ 316 h 540"/>
              <a:gd name="T4" fmla="*/ 0 w 130"/>
              <a:gd name="T5" fmla="*/ 316 h 540"/>
              <a:gd name="T6" fmla="*/ 0 w 130"/>
              <a:gd name="T7" fmla="*/ 540 h 540"/>
            </a:gdLst>
            <a:ahLst/>
            <a:cxnLst>
              <a:cxn ang="0">
                <a:pos x="T0" y="T1"/>
              </a:cxn>
              <a:cxn ang="0">
                <a:pos x="T2" y="T3"/>
              </a:cxn>
              <a:cxn ang="0">
                <a:pos x="T4" y="T5"/>
              </a:cxn>
              <a:cxn ang="0">
                <a:pos x="T6" y="T7"/>
              </a:cxn>
            </a:cxnLst>
            <a:rect l="0" t="0" r="r" b="b"/>
            <a:pathLst>
              <a:path w="130" h="540">
                <a:moveTo>
                  <a:pt x="130" y="0"/>
                </a:moveTo>
                <a:lnTo>
                  <a:pt x="130" y="316"/>
                </a:lnTo>
                <a:lnTo>
                  <a:pt x="0" y="316"/>
                </a:lnTo>
                <a:lnTo>
                  <a:pt x="0" y="540"/>
                </a:lnTo>
              </a:path>
            </a:pathLst>
          </a:custGeom>
          <a:noFill/>
          <a:ln w="12700" cap="flat" cmpd="sng">
            <a:solidFill>
              <a:schemeClr val="tx1"/>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fr-FR">
              <a:solidFill>
                <a:schemeClr val="tx2"/>
              </a:solidFill>
            </a:endParaRPr>
          </a:p>
        </p:txBody>
      </p:sp>
      <p:sp>
        <p:nvSpPr>
          <p:cNvPr id="161801" name="Freeform 9"/>
          <p:cNvSpPr>
            <a:spLocks/>
          </p:cNvSpPr>
          <p:nvPr/>
        </p:nvSpPr>
        <p:spPr bwMode="gray">
          <a:xfrm flipH="1">
            <a:off x="3008313" y="2387600"/>
            <a:ext cx="206375" cy="307777"/>
          </a:xfrm>
          <a:custGeom>
            <a:avLst/>
            <a:gdLst>
              <a:gd name="T0" fmla="*/ 130 w 130"/>
              <a:gd name="T1" fmla="*/ 0 h 540"/>
              <a:gd name="T2" fmla="*/ 130 w 130"/>
              <a:gd name="T3" fmla="*/ 316 h 540"/>
              <a:gd name="T4" fmla="*/ 0 w 130"/>
              <a:gd name="T5" fmla="*/ 316 h 540"/>
              <a:gd name="T6" fmla="*/ 0 w 130"/>
              <a:gd name="T7" fmla="*/ 540 h 540"/>
            </a:gdLst>
            <a:ahLst/>
            <a:cxnLst>
              <a:cxn ang="0">
                <a:pos x="T0" y="T1"/>
              </a:cxn>
              <a:cxn ang="0">
                <a:pos x="T2" y="T3"/>
              </a:cxn>
              <a:cxn ang="0">
                <a:pos x="T4" y="T5"/>
              </a:cxn>
              <a:cxn ang="0">
                <a:pos x="T6" y="T7"/>
              </a:cxn>
            </a:cxnLst>
            <a:rect l="0" t="0" r="r" b="b"/>
            <a:pathLst>
              <a:path w="130" h="540">
                <a:moveTo>
                  <a:pt x="130" y="0"/>
                </a:moveTo>
                <a:lnTo>
                  <a:pt x="130" y="316"/>
                </a:lnTo>
                <a:lnTo>
                  <a:pt x="0" y="316"/>
                </a:lnTo>
                <a:lnTo>
                  <a:pt x="0" y="540"/>
                </a:lnTo>
              </a:path>
            </a:pathLst>
          </a:custGeom>
          <a:noFill/>
          <a:ln w="12700" cap="flat" cmpd="sng">
            <a:solidFill>
              <a:schemeClr val="tx1"/>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fr-FR">
              <a:solidFill>
                <a:schemeClr val="tx2"/>
              </a:solidFill>
            </a:endParaRPr>
          </a:p>
        </p:txBody>
      </p:sp>
      <p:sp>
        <p:nvSpPr>
          <p:cNvPr id="161802" name="Text Box 10"/>
          <p:cNvSpPr txBox="1">
            <a:spLocks noChangeArrowheads="1"/>
          </p:cNvSpPr>
          <p:nvPr/>
        </p:nvSpPr>
        <p:spPr bwMode="gray">
          <a:xfrm>
            <a:off x="1195388" y="2965450"/>
            <a:ext cx="16113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a:solidFill>
                  <a:schemeClr val="tx2"/>
                </a:solidFill>
              </a:rPr>
              <a:t>commande entrée</a:t>
            </a:r>
          </a:p>
        </p:txBody>
      </p:sp>
      <p:sp>
        <p:nvSpPr>
          <p:cNvPr id="161803" name="Text Box 11"/>
          <p:cNvSpPr txBox="1">
            <a:spLocks noChangeArrowheads="1"/>
          </p:cNvSpPr>
          <p:nvPr/>
        </p:nvSpPr>
        <p:spPr bwMode="gray">
          <a:xfrm>
            <a:off x="3236913" y="2965450"/>
            <a:ext cx="13954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a:solidFill>
                  <a:schemeClr val="tx2"/>
                </a:solidFill>
              </a:rPr>
              <a:t>commande plat</a:t>
            </a:r>
          </a:p>
        </p:txBody>
      </p:sp>
      <p:sp>
        <p:nvSpPr>
          <p:cNvPr id="161804" name="Oval 12"/>
          <p:cNvSpPr>
            <a:spLocks noChangeArrowheads="1"/>
          </p:cNvSpPr>
          <p:nvPr/>
        </p:nvSpPr>
        <p:spPr bwMode="gray">
          <a:xfrm>
            <a:off x="4516438" y="3280867"/>
            <a:ext cx="396875" cy="432792"/>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fr-FR" altLang="fr-FR">
                <a:solidFill>
                  <a:schemeClr val="tx2"/>
                </a:solidFill>
              </a:rPr>
              <a:t>A</a:t>
            </a:r>
          </a:p>
        </p:txBody>
      </p:sp>
      <p:sp>
        <p:nvSpPr>
          <p:cNvPr id="161805" name="Oval 13"/>
          <p:cNvSpPr>
            <a:spLocks noChangeArrowheads="1"/>
          </p:cNvSpPr>
          <p:nvPr/>
        </p:nvSpPr>
        <p:spPr bwMode="gray">
          <a:xfrm>
            <a:off x="5572125" y="3293567"/>
            <a:ext cx="396875" cy="432792"/>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fr-FR" altLang="fr-FR">
                <a:solidFill>
                  <a:schemeClr val="tx2"/>
                </a:solidFill>
              </a:rPr>
              <a:t>A</a:t>
            </a:r>
          </a:p>
        </p:txBody>
      </p:sp>
      <p:sp>
        <p:nvSpPr>
          <p:cNvPr id="161806" name="Line 14"/>
          <p:cNvSpPr>
            <a:spLocks noChangeShapeType="1"/>
          </p:cNvSpPr>
          <p:nvPr/>
        </p:nvSpPr>
        <p:spPr bwMode="gray">
          <a:xfrm flipV="1">
            <a:off x="3948113" y="3505200"/>
            <a:ext cx="560387" cy="0"/>
          </a:xfrm>
          <a:prstGeom prst="line">
            <a:avLst/>
          </a:prstGeom>
          <a:noFill/>
          <a:ln w="127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fr-FR">
              <a:solidFill>
                <a:schemeClr val="tx2"/>
              </a:solidFill>
            </a:endParaRPr>
          </a:p>
        </p:txBody>
      </p:sp>
      <p:sp>
        <p:nvSpPr>
          <p:cNvPr id="161807" name="Line 15"/>
          <p:cNvSpPr>
            <a:spLocks noChangeShapeType="1"/>
          </p:cNvSpPr>
          <p:nvPr/>
        </p:nvSpPr>
        <p:spPr bwMode="gray">
          <a:xfrm flipV="1">
            <a:off x="5984875" y="3514725"/>
            <a:ext cx="560388" cy="0"/>
          </a:xfrm>
          <a:prstGeom prst="line">
            <a:avLst/>
          </a:prstGeom>
          <a:noFill/>
          <a:ln w="127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fr-FR">
              <a:solidFill>
                <a:schemeClr val="tx2"/>
              </a:solidFill>
            </a:endParaRPr>
          </a:p>
        </p:txBody>
      </p:sp>
      <p:sp>
        <p:nvSpPr>
          <p:cNvPr id="161808" name="Oval 16"/>
          <p:cNvSpPr>
            <a:spLocks noChangeArrowheads="1"/>
          </p:cNvSpPr>
          <p:nvPr/>
        </p:nvSpPr>
        <p:spPr bwMode="gray">
          <a:xfrm>
            <a:off x="2933700" y="1379836"/>
            <a:ext cx="259766" cy="432792"/>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fr-FR">
              <a:solidFill>
                <a:schemeClr val="tx2"/>
              </a:solidFill>
            </a:endParaRPr>
          </a:p>
        </p:txBody>
      </p:sp>
      <p:sp>
        <p:nvSpPr>
          <p:cNvPr id="161809" name="AutoShape 17"/>
          <p:cNvSpPr>
            <a:spLocks noChangeArrowheads="1"/>
          </p:cNvSpPr>
          <p:nvPr/>
        </p:nvSpPr>
        <p:spPr bwMode="gray">
          <a:xfrm>
            <a:off x="2219762" y="4418311"/>
            <a:ext cx="1635840" cy="432792"/>
          </a:xfrm>
          <a:prstGeom prst="roundRect">
            <a:avLst>
              <a:gd name="adj" fmla="val 50000"/>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fr-FR" altLang="fr-FR">
                <a:solidFill>
                  <a:schemeClr val="tx2"/>
                </a:solidFill>
              </a:rPr>
              <a:t>Calculer addition</a:t>
            </a:r>
          </a:p>
        </p:txBody>
      </p:sp>
      <p:sp>
        <p:nvSpPr>
          <p:cNvPr id="161810" name="Line 18"/>
          <p:cNvSpPr>
            <a:spLocks noChangeShapeType="1"/>
          </p:cNvSpPr>
          <p:nvPr/>
        </p:nvSpPr>
        <p:spPr bwMode="gray">
          <a:xfrm>
            <a:off x="2990850" y="3722688"/>
            <a:ext cx="0" cy="693737"/>
          </a:xfrm>
          <a:prstGeom prst="line">
            <a:avLst/>
          </a:prstGeom>
          <a:noFill/>
          <a:ln w="127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fr-FR">
              <a:solidFill>
                <a:schemeClr val="tx2"/>
              </a:solidFill>
            </a:endParaRPr>
          </a:p>
        </p:txBody>
      </p:sp>
      <p:sp>
        <p:nvSpPr>
          <p:cNvPr id="161811" name="Line 19"/>
          <p:cNvSpPr>
            <a:spLocks noChangeShapeType="1"/>
          </p:cNvSpPr>
          <p:nvPr/>
        </p:nvSpPr>
        <p:spPr bwMode="gray">
          <a:xfrm flipH="1">
            <a:off x="3006725" y="1584325"/>
            <a:ext cx="0" cy="398463"/>
          </a:xfrm>
          <a:prstGeom prst="line">
            <a:avLst/>
          </a:prstGeom>
          <a:noFill/>
          <a:ln w="127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fr-FR">
              <a:solidFill>
                <a:schemeClr val="tx2"/>
              </a:solidFill>
            </a:endParaRPr>
          </a:p>
        </p:txBody>
      </p:sp>
      <p:sp>
        <p:nvSpPr>
          <p:cNvPr id="161812" name="Oval 20"/>
          <p:cNvSpPr>
            <a:spLocks noChangeArrowheads="1"/>
          </p:cNvSpPr>
          <p:nvPr/>
        </p:nvSpPr>
        <p:spPr bwMode="gray">
          <a:xfrm>
            <a:off x="2827338" y="5525592"/>
            <a:ext cx="259766" cy="432792"/>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fr-FR">
              <a:solidFill>
                <a:schemeClr val="tx2"/>
              </a:solidFill>
            </a:endParaRPr>
          </a:p>
        </p:txBody>
      </p:sp>
      <p:sp>
        <p:nvSpPr>
          <p:cNvPr id="161813" name="Line 21"/>
          <p:cNvSpPr>
            <a:spLocks noChangeShapeType="1"/>
          </p:cNvSpPr>
          <p:nvPr/>
        </p:nvSpPr>
        <p:spPr bwMode="gray">
          <a:xfrm>
            <a:off x="2903538" y="5622925"/>
            <a:ext cx="250825" cy="2508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fr-FR">
              <a:solidFill>
                <a:schemeClr val="tx2"/>
              </a:solidFill>
            </a:endParaRPr>
          </a:p>
        </p:txBody>
      </p:sp>
      <p:sp>
        <p:nvSpPr>
          <p:cNvPr id="161814" name="Line 22"/>
          <p:cNvSpPr>
            <a:spLocks noChangeShapeType="1"/>
          </p:cNvSpPr>
          <p:nvPr/>
        </p:nvSpPr>
        <p:spPr bwMode="gray">
          <a:xfrm flipH="1">
            <a:off x="2898775" y="5618163"/>
            <a:ext cx="250825" cy="2508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fr-FR">
              <a:solidFill>
                <a:schemeClr val="tx2"/>
              </a:solidFill>
            </a:endParaRPr>
          </a:p>
        </p:txBody>
      </p:sp>
      <p:sp>
        <p:nvSpPr>
          <p:cNvPr id="161815" name="Line 23"/>
          <p:cNvSpPr>
            <a:spLocks noChangeShapeType="1"/>
          </p:cNvSpPr>
          <p:nvPr/>
        </p:nvSpPr>
        <p:spPr bwMode="gray">
          <a:xfrm>
            <a:off x="3021013" y="4857750"/>
            <a:ext cx="0" cy="693738"/>
          </a:xfrm>
          <a:prstGeom prst="line">
            <a:avLst/>
          </a:prstGeom>
          <a:noFill/>
          <a:ln w="127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fr-FR">
              <a:solidFill>
                <a:schemeClr val="tx2"/>
              </a:solidFill>
            </a:endParaRPr>
          </a:p>
        </p:txBody>
      </p:sp>
      <p:sp>
        <p:nvSpPr>
          <p:cNvPr id="161816" name="Text Box 24"/>
          <p:cNvSpPr txBox="1">
            <a:spLocks noChangeArrowheads="1"/>
          </p:cNvSpPr>
          <p:nvPr/>
        </p:nvSpPr>
        <p:spPr bwMode="gray">
          <a:xfrm>
            <a:off x="530225" y="1804988"/>
            <a:ext cx="12362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sz="1800" i="1">
                <a:solidFill>
                  <a:schemeClr val="tx2"/>
                </a:solidFill>
                <a:latin typeface="Lucida Sans" pitchFamily="34" charset="0"/>
              </a:rPr>
              <a:t>point de</a:t>
            </a:r>
            <a:br>
              <a:rPr lang="fr-FR" altLang="fr-FR" sz="1800" i="1">
                <a:solidFill>
                  <a:schemeClr val="tx2"/>
                </a:solidFill>
                <a:latin typeface="Lucida Sans" pitchFamily="34" charset="0"/>
              </a:rPr>
            </a:br>
            <a:r>
              <a:rPr lang="fr-FR" altLang="fr-FR" sz="1800" i="1">
                <a:solidFill>
                  <a:schemeClr val="tx2"/>
                </a:solidFill>
                <a:latin typeface="Lucida Sans" pitchFamily="34" charset="0"/>
              </a:rPr>
              <a:t>connexion</a:t>
            </a:r>
          </a:p>
        </p:txBody>
      </p:sp>
      <p:sp>
        <p:nvSpPr>
          <p:cNvPr id="161817" name="Line 25"/>
          <p:cNvSpPr>
            <a:spLocks noChangeShapeType="1"/>
          </p:cNvSpPr>
          <p:nvPr/>
        </p:nvSpPr>
        <p:spPr bwMode="gray">
          <a:xfrm>
            <a:off x="1749425" y="2428875"/>
            <a:ext cx="857250" cy="539750"/>
          </a:xfrm>
          <a:prstGeom prst="line">
            <a:avLst/>
          </a:prstGeom>
          <a:noFill/>
          <a:ln w="12700">
            <a:solidFill>
              <a:schemeClr val="tx1"/>
            </a:solidFill>
            <a:prstDash val="dash"/>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fr-FR">
              <a:solidFill>
                <a:schemeClr val="tx2"/>
              </a:solidFill>
            </a:endParaRPr>
          </a:p>
        </p:txBody>
      </p:sp>
      <p:sp>
        <p:nvSpPr>
          <p:cNvPr id="161818" name="Line 26"/>
          <p:cNvSpPr>
            <a:spLocks noChangeShapeType="1"/>
          </p:cNvSpPr>
          <p:nvPr/>
        </p:nvSpPr>
        <p:spPr bwMode="gray">
          <a:xfrm>
            <a:off x="1901825" y="5000625"/>
            <a:ext cx="857250" cy="539750"/>
          </a:xfrm>
          <a:prstGeom prst="line">
            <a:avLst/>
          </a:prstGeom>
          <a:noFill/>
          <a:ln w="12700">
            <a:solidFill>
              <a:schemeClr val="tx1"/>
            </a:solidFill>
            <a:prstDash val="dash"/>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fr-FR">
              <a:solidFill>
                <a:schemeClr val="tx2"/>
              </a:solidFill>
            </a:endParaRPr>
          </a:p>
        </p:txBody>
      </p:sp>
      <p:sp>
        <p:nvSpPr>
          <p:cNvPr id="161819" name="Text Box 27"/>
          <p:cNvSpPr txBox="1">
            <a:spLocks noChangeArrowheads="1"/>
          </p:cNvSpPr>
          <p:nvPr/>
        </p:nvSpPr>
        <p:spPr bwMode="gray">
          <a:xfrm>
            <a:off x="773113" y="4603750"/>
            <a:ext cx="11721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sz="1800" i="1">
                <a:solidFill>
                  <a:schemeClr val="tx2"/>
                </a:solidFill>
                <a:latin typeface="Lucida Sans" pitchFamily="34" charset="0"/>
              </a:rPr>
              <a:t>fin de flux</a:t>
            </a:r>
          </a:p>
        </p:txBody>
      </p:sp>
      <p:sp>
        <p:nvSpPr>
          <p:cNvPr id="161820" name="Text Box 28"/>
          <p:cNvSpPr txBox="1">
            <a:spLocks noChangeArrowheads="1"/>
          </p:cNvSpPr>
          <p:nvPr/>
        </p:nvSpPr>
        <p:spPr bwMode="gray">
          <a:xfrm>
            <a:off x="6289675" y="2125663"/>
            <a:ext cx="132600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sz="1800" i="1">
                <a:solidFill>
                  <a:schemeClr val="tx2"/>
                </a:solidFill>
                <a:latin typeface="Lucida Sans" pitchFamily="34" charset="0"/>
              </a:rPr>
              <a:t>connecteur</a:t>
            </a:r>
          </a:p>
        </p:txBody>
      </p:sp>
      <p:sp>
        <p:nvSpPr>
          <p:cNvPr id="161821" name="Line 29"/>
          <p:cNvSpPr>
            <a:spLocks noChangeShapeType="1"/>
          </p:cNvSpPr>
          <p:nvPr/>
        </p:nvSpPr>
        <p:spPr bwMode="gray">
          <a:xfrm flipH="1">
            <a:off x="5791200" y="2428875"/>
            <a:ext cx="514350" cy="804863"/>
          </a:xfrm>
          <a:prstGeom prst="line">
            <a:avLst/>
          </a:prstGeom>
          <a:noFill/>
          <a:ln w="12700">
            <a:solidFill>
              <a:schemeClr val="tx1"/>
            </a:solidFill>
            <a:prstDash val="dash"/>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fr-FR">
              <a:solidFill>
                <a:schemeClr val="tx2"/>
              </a:solidFill>
            </a:endParaRPr>
          </a:p>
        </p:txBody>
      </p:sp>
    </p:spTree>
    <p:extLst>
      <p:ext uri="{BB962C8B-B14F-4D97-AF65-F5344CB8AC3E}">
        <p14:creationId xmlns:p14="http://schemas.microsoft.com/office/powerpoint/2010/main" val="303789601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p:txBody>
          <a:bodyPr/>
          <a:lstStyle/>
          <a:p>
            <a:r>
              <a:rPr lang="fr-FR" altLang="fr-FR"/>
              <a:t>Diagrammes globaux d'interaction</a:t>
            </a:r>
          </a:p>
        </p:txBody>
      </p:sp>
      <p:sp>
        <p:nvSpPr>
          <p:cNvPr id="162819" name="Rectangle 3"/>
          <p:cNvSpPr>
            <a:spLocks noGrp="1" noChangeArrowheads="1"/>
          </p:cNvSpPr>
          <p:nvPr>
            <p:ph type="body" idx="1"/>
          </p:nvPr>
        </p:nvSpPr>
        <p:spPr>
          <a:xfrm>
            <a:off x="279400" y="1312863"/>
            <a:ext cx="8599488" cy="4657725"/>
          </a:xfrm>
        </p:spPr>
        <p:txBody>
          <a:bodyPr/>
          <a:lstStyle/>
          <a:p>
            <a:r>
              <a:rPr lang="fr-FR" altLang="fr-FR"/>
              <a:t>Le </a:t>
            </a:r>
            <a:r>
              <a:rPr lang="fr-FR" altLang="fr-FR" b="0" i="1">
                <a:latin typeface="Century Schoolbook" pitchFamily="18" charset="0"/>
              </a:rPr>
              <a:t>diagramme global d'interaction</a:t>
            </a:r>
            <a:r>
              <a:rPr lang="fr-FR" altLang="fr-FR"/>
              <a:t> (</a:t>
            </a:r>
            <a:r>
              <a:rPr lang="fr-FR" altLang="fr-FR">
                <a:latin typeface="Times New Roman" panose="02020603050405020304" pitchFamily="18" charset="0"/>
              </a:rPr>
              <a:t>interaction overview diagram</a:t>
            </a:r>
            <a:r>
              <a:rPr lang="fr-FR" altLang="fr-FR"/>
              <a:t>) est nouveau dans UML 2.0</a:t>
            </a:r>
          </a:p>
          <a:p>
            <a:pPr lvl="1"/>
            <a:r>
              <a:rPr lang="fr-FR" altLang="fr-FR"/>
              <a:t>Un diagramme d'activité dans lequel une ou plusieurs des activités sont détaillées sous forme de diagramme de séquences</a:t>
            </a:r>
          </a:p>
          <a:p>
            <a:endParaRPr lang="fr-FR" altLang="fr-FR"/>
          </a:p>
          <a:p>
            <a:endParaRPr lang="fr-FR" altLang="fr-FR"/>
          </a:p>
          <a:p>
            <a:endParaRPr lang="fr-FR" altLang="fr-FR"/>
          </a:p>
          <a:p>
            <a:endParaRPr lang="fr-FR" altLang="fr-FR"/>
          </a:p>
          <a:p>
            <a:endParaRPr lang="fr-FR" altLang="fr-FR"/>
          </a:p>
          <a:p>
            <a:endParaRPr lang="fr-FR" altLang="fr-FR"/>
          </a:p>
          <a:p>
            <a:r>
              <a:rPr lang="fr-FR" altLang="fr-FR"/>
              <a:t>Peut être émulé dans les AGL actuels en liant certaines actions d’un diagramme d’activité à des diagrammes de séquence existant par ailleurs</a:t>
            </a:r>
          </a:p>
        </p:txBody>
      </p:sp>
      <p:sp>
        <p:nvSpPr>
          <p:cNvPr id="162820" name="Oval 4"/>
          <p:cNvSpPr>
            <a:spLocks noChangeArrowheads="1"/>
          </p:cNvSpPr>
          <p:nvPr/>
        </p:nvSpPr>
        <p:spPr bwMode="gray">
          <a:xfrm>
            <a:off x="4176713" y="5084763"/>
            <a:ext cx="266700" cy="23495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fr-FR"/>
          </a:p>
        </p:txBody>
      </p:sp>
      <p:sp>
        <p:nvSpPr>
          <p:cNvPr id="162821" name="AutoShape 5"/>
          <p:cNvSpPr>
            <a:spLocks noChangeArrowheads="1"/>
          </p:cNvSpPr>
          <p:nvPr/>
        </p:nvSpPr>
        <p:spPr bwMode="gray">
          <a:xfrm>
            <a:off x="2832100" y="3771900"/>
            <a:ext cx="1062038" cy="987425"/>
          </a:xfrm>
          <a:prstGeom prst="roundRect">
            <a:avLst>
              <a:gd name="adj" fmla="val 16667"/>
            </a:avLst>
          </a:prstGeom>
          <a:solidFill>
            <a:schemeClr val="accent1"/>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fr-FR"/>
          </a:p>
        </p:txBody>
      </p:sp>
      <p:sp>
        <p:nvSpPr>
          <p:cNvPr id="162822" name="AutoShape 6"/>
          <p:cNvSpPr>
            <a:spLocks noChangeArrowheads="1"/>
          </p:cNvSpPr>
          <p:nvPr/>
        </p:nvSpPr>
        <p:spPr bwMode="gray">
          <a:xfrm>
            <a:off x="4665663" y="3776663"/>
            <a:ext cx="1062037" cy="987425"/>
          </a:xfrm>
          <a:prstGeom prst="roundRect">
            <a:avLst>
              <a:gd name="adj" fmla="val 16667"/>
            </a:avLst>
          </a:prstGeom>
          <a:solidFill>
            <a:schemeClr val="accent1"/>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fr-FR"/>
          </a:p>
        </p:txBody>
      </p:sp>
      <p:sp>
        <p:nvSpPr>
          <p:cNvPr id="162823" name="AutoShape 7"/>
          <p:cNvSpPr>
            <a:spLocks noChangeArrowheads="1"/>
          </p:cNvSpPr>
          <p:nvPr/>
        </p:nvSpPr>
        <p:spPr bwMode="gray">
          <a:xfrm>
            <a:off x="3822700" y="2954338"/>
            <a:ext cx="855663" cy="442912"/>
          </a:xfrm>
          <a:prstGeom prst="roundRect">
            <a:avLst>
              <a:gd name="adj" fmla="val 30106"/>
            </a:avLst>
          </a:prstGeom>
          <a:solidFill>
            <a:schemeClr val="accent1"/>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fr-FR"/>
          </a:p>
        </p:txBody>
      </p:sp>
      <p:sp>
        <p:nvSpPr>
          <p:cNvPr id="162824" name="Oval 8"/>
          <p:cNvSpPr>
            <a:spLocks noChangeArrowheads="1"/>
          </p:cNvSpPr>
          <p:nvPr/>
        </p:nvSpPr>
        <p:spPr bwMode="gray">
          <a:xfrm>
            <a:off x="4178300" y="2541588"/>
            <a:ext cx="147638" cy="147637"/>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fr-FR"/>
          </a:p>
        </p:txBody>
      </p:sp>
      <p:sp>
        <p:nvSpPr>
          <p:cNvPr id="162825" name="Line 9"/>
          <p:cNvSpPr>
            <a:spLocks noChangeShapeType="1"/>
          </p:cNvSpPr>
          <p:nvPr/>
        </p:nvSpPr>
        <p:spPr bwMode="gray">
          <a:xfrm flipH="1">
            <a:off x="3373438" y="3398838"/>
            <a:ext cx="585787" cy="374650"/>
          </a:xfrm>
          <a:prstGeom prst="line">
            <a:avLst/>
          </a:prstGeom>
          <a:noFill/>
          <a:ln w="12700">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fr-FR"/>
          </a:p>
        </p:txBody>
      </p:sp>
      <p:sp>
        <p:nvSpPr>
          <p:cNvPr id="162826" name="Line 10"/>
          <p:cNvSpPr>
            <a:spLocks noChangeShapeType="1"/>
          </p:cNvSpPr>
          <p:nvPr/>
        </p:nvSpPr>
        <p:spPr bwMode="gray">
          <a:xfrm>
            <a:off x="4651375" y="3389313"/>
            <a:ext cx="534988" cy="387350"/>
          </a:xfrm>
          <a:prstGeom prst="line">
            <a:avLst/>
          </a:prstGeom>
          <a:noFill/>
          <a:ln w="12700">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fr-FR"/>
          </a:p>
        </p:txBody>
      </p:sp>
      <p:sp>
        <p:nvSpPr>
          <p:cNvPr id="162827" name="Line 11"/>
          <p:cNvSpPr>
            <a:spLocks noChangeShapeType="1"/>
          </p:cNvSpPr>
          <p:nvPr/>
        </p:nvSpPr>
        <p:spPr bwMode="gray">
          <a:xfrm>
            <a:off x="4254500" y="2632075"/>
            <a:ext cx="0" cy="311150"/>
          </a:xfrm>
          <a:prstGeom prst="line">
            <a:avLst/>
          </a:prstGeom>
          <a:noFill/>
          <a:ln w="12700">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fr-FR"/>
          </a:p>
        </p:txBody>
      </p:sp>
      <p:sp>
        <p:nvSpPr>
          <p:cNvPr id="162828" name="Oval 12"/>
          <p:cNvSpPr>
            <a:spLocks noChangeArrowheads="1"/>
          </p:cNvSpPr>
          <p:nvPr/>
        </p:nvSpPr>
        <p:spPr bwMode="gray">
          <a:xfrm>
            <a:off x="4237038" y="5126038"/>
            <a:ext cx="147637" cy="147637"/>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fr-FR"/>
          </a:p>
        </p:txBody>
      </p:sp>
      <p:sp>
        <p:nvSpPr>
          <p:cNvPr id="162829" name="Line 13"/>
          <p:cNvSpPr>
            <a:spLocks noChangeShapeType="1"/>
          </p:cNvSpPr>
          <p:nvPr/>
        </p:nvSpPr>
        <p:spPr bwMode="gray">
          <a:xfrm>
            <a:off x="3694113" y="4779963"/>
            <a:ext cx="511175" cy="361950"/>
          </a:xfrm>
          <a:prstGeom prst="line">
            <a:avLst/>
          </a:prstGeom>
          <a:noFill/>
          <a:ln w="12700">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fr-FR"/>
          </a:p>
        </p:txBody>
      </p:sp>
      <p:sp>
        <p:nvSpPr>
          <p:cNvPr id="162830" name="Line 14"/>
          <p:cNvSpPr>
            <a:spLocks noChangeShapeType="1"/>
          </p:cNvSpPr>
          <p:nvPr/>
        </p:nvSpPr>
        <p:spPr bwMode="gray">
          <a:xfrm flipH="1">
            <a:off x="4406900" y="4784725"/>
            <a:ext cx="485775" cy="338138"/>
          </a:xfrm>
          <a:prstGeom prst="line">
            <a:avLst/>
          </a:prstGeom>
          <a:noFill/>
          <a:ln w="12700">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fr-FR"/>
          </a:p>
        </p:txBody>
      </p:sp>
      <p:grpSp>
        <p:nvGrpSpPr>
          <p:cNvPr id="162831" name="Group 15"/>
          <p:cNvGrpSpPr>
            <a:grpSpLocks/>
          </p:cNvGrpSpPr>
          <p:nvPr/>
        </p:nvGrpSpPr>
        <p:grpSpPr bwMode="auto">
          <a:xfrm>
            <a:off x="3098800" y="3968750"/>
            <a:ext cx="517525" cy="563563"/>
            <a:chOff x="3182" y="9028"/>
            <a:chExt cx="1184" cy="1110"/>
          </a:xfrm>
        </p:grpSpPr>
        <p:sp>
          <p:nvSpPr>
            <p:cNvPr id="162832" name="Rectangle 16"/>
            <p:cNvSpPr>
              <a:spLocks noChangeArrowheads="1"/>
            </p:cNvSpPr>
            <p:nvPr/>
          </p:nvSpPr>
          <p:spPr bwMode="gray">
            <a:xfrm>
              <a:off x="3182" y="9028"/>
              <a:ext cx="370" cy="222"/>
            </a:xfrm>
            <a:prstGeom prst="rect">
              <a:avLst/>
            </a:prstGeom>
            <a:solidFill>
              <a:schemeClr val="tx2"/>
            </a:solidFill>
            <a:ln w="12700">
              <a:solidFill>
                <a:schemeClr val="bg2"/>
              </a:solidFill>
              <a:miter lim="800000"/>
              <a:headEnd/>
              <a:tailEnd/>
            </a:ln>
          </p:spPr>
          <p:txBody>
            <a:bodyPr/>
            <a:lstStyle/>
            <a:p>
              <a:endParaRPr lang="fr-FR"/>
            </a:p>
          </p:txBody>
        </p:sp>
        <p:sp>
          <p:nvSpPr>
            <p:cNvPr id="162833" name="Rectangle 17"/>
            <p:cNvSpPr>
              <a:spLocks noChangeArrowheads="1"/>
            </p:cNvSpPr>
            <p:nvPr/>
          </p:nvSpPr>
          <p:spPr bwMode="gray">
            <a:xfrm>
              <a:off x="3330" y="9250"/>
              <a:ext cx="74" cy="888"/>
            </a:xfrm>
            <a:prstGeom prst="rect">
              <a:avLst/>
            </a:prstGeom>
            <a:solidFill>
              <a:schemeClr val="tx2"/>
            </a:solidFill>
            <a:ln w="12700">
              <a:solidFill>
                <a:schemeClr val="bg2"/>
              </a:solidFill>
              <a:miter lim="800000"/>
              <a:headEnd/>
              <a:tailEnd/>
            </a:ln>
          </p:spPr>
          <p:txBody>
            <a:bodyPr/>
            <a:lstStyle/>
            <a:p>
              <a:endParaRPr lang="fr-FR"/>
            </a:p>
          </p:txBody>
        </p:sp>
        <p:sp>
          <p:nvSpPr>
            <p:cNvPr id="162834" name="Rectangle 18"/>
            <p:cNvSpPr>
              <a:spLocks noChangeArrowheads="1"/>
            </p:cNvSpPr>
            <p:nvPr/>
          </p:nvSpPr>
          <p:spPr bwMode="gray">
            <a:xfrm>
              <a:off x="3996" y="9028"/>
              <a:ext cx="370" cy="222"/>
            </a:xfrm>
            <a:prstGeom prst="rect">
              <a:avLst/>
            </a:prstGeom>
            <a:solidFill>
              <a:schemeClr val="tx2"/>
            </a:solidFill>
            <a:ln w="12700">
              <a:solidFill>
                <a:schemeClr val="bg2"/>
              </a:solidFill>
              <a:miter lim="800000"/>
              <a:headEnd/>
              <a:tailEnd/>
            </a:ln>
          </p:spPr>
          <p:txBody>
            <a:bodyPr/>
            <a:lstStyle/>
            <a:p>
              <a:endParaRPr lang="fr-FR"/>
            </a:p>
          </p:txBody>
        </p:sp>
        <p:sp>
          <p:nvSpPr>
            <p:cNvPr id="162835" name="Rectangle 19"/>
            <p:cNvSpPr>
              <a:spLocks noChangeArrowheads="1"/>
            </p:cNvSpPr>
            <p:nvPr/>
          </p:nvSpPr>
          <p:spPr bwMode="gray">
            <a:xfrm>
              <a:off x="4144" y="9250"/>
              <a:ext cx="74" cy="888"/>
            </a:xfrm>
            <a:prstGeom prst="rect">
              <a:avLst/>
            </a:prstGeom>
            <a:solidFill>
              <a:schemeClr val="tx2"/>
            </a:solidFill>
            <a:ln w="12700">
              <a:solidFill>
                <a:schemeClr val="bg2"/>
              </a:solidFill>
              <a:miter lim="800000"/>
              <a:headEnd/>
              <a:tailEnd/>
            </a:ln>
          </p:spPr>
          <p:txBody>
            <a:bodyPr/>
            <a:lstStyle/>
            <a:p>
              <a:endParaRPr lang="fr-FR"/>
            </a:p>
          </p:txBody>
        </p:sp>
        <p:sp>
          <p:nvSpPr>
            <p:cNvPr id="162836" name="Line 20"/>
            <p:cNvSpPr>
              <a:spLocks noChangeShapeType="1"/>
            </p:cNvSpPr>
            <p:nvPr/>
          </p:nvSpPr>
          <p:spPr bwMode="gray">
            <a:xfrm>
              <a:off x="3404" y="9546"/>
              <a:ext cx="740" cy="0"/>
            </a:xfrm>
            <a:prstGeom prst="line">
              <a:avLst/>
            </a:prstGeom>
            <a:noFill/>
            <a:ln w="12700">
              <a:solidFill>
                <a:schemeClr val="bg2"/>
              </a:solidFill>
              <a:round/>
              <a:headEnd/>
              <a:tailEnd type="arrow" w="med" len="med"/>
            </a:ln>
            <a:extLst>
              <a:ext uri="{909E8E84-426E-40DD-AFC4-6F175D3DCCD1}">
                <a14:hiddenFill xmlns:a14="http://schemas.microsoft.com/office/drawing/2010/main">
                  <a:noFill/>
                </a14:hiddenFill>
              </a:ext>
            </a:extLst>
          </p:spPr>
          <p:txBody>
            <a:bodyPr/>
            <a:lstStyle/>
            <a:p>
              <a:endParaRPr lang="fr-FR"/>
            </a:p>
          </p:txBody>
        </p:sp>
        <p:sp>
          <p:nvSpPr>
            <p:cNvPr id="162837" name="Line 21"/>
            <p:cNvSpPr>
              <a:spLocks noChangeShapeType="1"/>
            </p:cNvSpPr>
            <p:nvPr/>
          </p:nvSpPr>
          <p:spPr bwMode="gray">
            <a:xfrm flipH="1" flipV="1">
              <a:off x="3404" y="9842"/>
              <a:ext cx="740" cy="0"/>
            </a:xfrm>
            <a:prstGeom prst="line">
              <a:avLst/>
            </a:prstGeom>
            <a:noFill/>
            <a:ln w="12700">
              <a:solidFill>
                <a:schemeClr val="bg2"/>
              </a:solidFill>
              <a:round/>
              <a:headEnd/>
              <a:tailEnd type="arrow" w="med" len="med"/>
            </a:ln>
            <a:extLst>
              <a:ext uri="{909E8E84-426E-40DD-AFC4-6F175D3DCCD1}">
                <a14:hiddenFill xmlns:a14="http://schemas.microsoft.com/office/drawing/2010/main">
                  <a:noFill/>
                </a14:hiddenFill>
              </a:ext>
            </a:extLst>
          </p:spPr>
          <p:txBody>
            <a:bodyPr/>
            <a:lstStyle/>
            <a:p>
              <a:endParaRPr lang="fr-FR"/>
            </a:p>
          </p:txBody>
        </p:sp>
      </p:grpSp>
      <p:grpSp>
        <p:nvGrpSpPr>
          <p:cNvPr id="162838" name="Group 22"/>
          <p:cNvGrpSpPr>
            <a:grpSpLocks/>
          </p:cNvGrpSpPr>
          <p:nvPr/>
        </p:nvGrpSpPr>
        <p:grpSpPr bwMode="auto">
          <a:xfrm>
            <a:off x="4946650" y="3973513"/>
            <a:ext cx="517525" cy="563562"/>
            <a:chOff x="3182" y="9028"/>
            <a:chExt cx="1184" cy="1110"/>
          </a:xfrm>
        </p:grpSpPr>
        <p:sp>
          <p:nvSpPr>
            <p:cNvPr id="162839" name="Rectangle 23"/>
            <p:cNvSpPr>
              <a:spLocks noChangeArrowheads="1"/>
            </p:cNvSpPr>
            <p:nvPr/>
          </p:nvSpPr>
          <p:spPr bwMode="gray">
            <a:xfrm>
              <a:off x="3182" y="9028"/>
              <a:ext cx="370" cy="222"/>
            </a:xfrm>
            <a:prstGeom prst="rect">
              <a:avLst/>
            </a:prstGeom>
            <a:solidFill>
              <a:schemeClr val="tx2"/>
            </a:solidFill>
            <a:ln w="12700">
              <a:solidFill>
                <a:schemeClr val="bg2"/>
              </a:solidFill>
              <a:miter lim="800000"/>
              <a:headEnd/>
              <a:tailEnd/>
            </a:ln>
          </p:spPr>
          <p:txBody>
            <a:bodyPr/>
            <a:lstStyle/>
            <a:p>
              <a:endParaRPr lang="fr-FR"/>
            </a:p>
          </p:txBody>
        </p:sp>
        <p:sp>
          <p:nvSpPr>
            <p:cNvPr id="162840" name="Rectangle 24"/>
            <p:cNvSpPr>
              <a:spLocks noChangeArrowheads="1"/>
            </p:cNvSpPr>
            <p:nvPr/>
          </p:nvSpPr>
          <p:spPr bwMode="gray">
            <a:xfrm>
              <a:off x="3330" y="9250"/>
              <a:ext cx="74" cy="888"/>
            </a:xfrm>
            <a:prstGeom prst="rect">
              <a:avLst/>
            </a:prstGeom>
            <a:solidFill>
              <a:schemeClr val="tx2"/>
            </a:solidFill>
            <a:ln w="12700">
              <a:solidFill>
                <a:schemeClr val="bg2"/>
              </a:solidFill>
              <a:miter lim="800000"/>
              <a:headEnd/>
              <a:tailEnd/>
            </a:ln>
          </p:spPr>
          <p:txBody>
            <a:bodyPr/>
            <a:lstStyle/>
            <a:p>
              <a:endParaRPr lang="fr-FR"/>
            </a:p>
          </p:txBody>
        </p:sp>
        <p:sp>
          <p:nvSpPr>
            <p:cNvPr id="162841" name="Rectangle 25"/>
            <p:cNvSpPr>
              <a:spLocks noChangeArrowheads="1"/>
            </p:cNvSpPr>
            <p:nvPr/>
          </p:nvSpPr>
          <p:spPr bwMode="gray">
            <a:xfrm>
              <a:off x="3996" y="9028"/>
              <a:ext cx="370" cy="222"/>
            </a:xfrm>
            <a:prstGeom prst="rect">
              <a:avLst/>
            </a:prstGeom>
            <a:solidFill>
              <a:schemeClr val="tx2"/>
            </a:solidFill>
            <a:ln w="12700">
              <a:solidFill>
                <a:schemeClr val="bg2"/>
              </a:solidFill>
              <a:miter lim="800000"/>
              <a:headEnd/>
              <a:tailEnd/>
            </a:ln>
          </p:spPr>
          <p:txBody>
            <a:bodyPr/>
            <a:lstStyle/>
            <a:p>
              <a:endParaRPr lang="fr-FR"/>
            </a:p>
          </p:txBody>
        </p:sp>
        <p:sp>
          <p:nvSpPr>
            <p:cNvPr id="162842" name="Rectangle 26"/>
            <p:cNvSpPr>
              <a:spLocks noChangeArrowheads="1"/>
            </p:cNvSpPr>
            <p:nvPr/>
          </p:nvSpPr>
          <p:spPr bwMode="gray">
            <a:xfrm>
              <a:off x="4144" y="9250"/>
              <a:ext cx="74" cy="888"/>
            </a:xfrm>
            <a:prstGeom prst="rect">
              <a:avLst/>
            </a:prstGeom>
            <a:solidFill>
              <a:schemeClr val="tx2"/>
            </a:solidFill>
            <a:ln w="12700">
              <a:solidFill>
                <a:schemeClr val="bg2"/>
              </a:solidFill>
              <a:miter lim="800000"/>
              <a:headEnd/>
              <a:tailEnd/>
            </a:ln>
          </p:spPr>
          <p:txBody>
            <a:bodyPr/>
            <a:lstStyle/>
            <a:p>
              <a:endParaRPr lang="fr-FR"/>
            </a:p>
          </p:txBody>
        </p:sp>
        <p:sp>
          <p:nvSpPr>
            <p:cNvPr id="162843" name="Line 27"/>
            <p:cNvSpPr>
              <a:spLocks noChangeShapeType="1"/>
            </p:cNvSpPr>
            <p:nvPr/>
          </p:nvSpPr>
          <p:spPr bwMode="gray">
            <a:xfrm>
              <a:off x="3404" y="9546"/>
              <a:ext cx="740" cy="0"/>
            </a:xfrm>
            <a:prstGeom prst="line">
              <a:avLst/>
            </a:prstGeom>
            <a:noFill/>
            <a:ln w="12700">
              <a:solidFill>
                <a:schemeClr val="bg2"/>
              </a:solidFill>
              <a:round/>
              <a:headEnd/>
              <a:tailEnd type="arrow" w="med" len="med"/>
            </a:ln>
            <a:extLst>
              <a:ext uri="{909E8E84-426E-40DD-AFC4-6F175D3DCCD1}">
                <a14:hiddenFill xmlns:a14="http://schemas.microsoft.com/office/drawing/2010/main">
                  <a:noFill/>
                </a14:hiddenFill>
              </a:ext>
            </a:extLst>
          </p:spPr>
          <p:txBody>
            <a:bodyPr/>
            <a:lstStyle/>
            <a:p>
              <a:endParaRPr lang="fr-FR"/>
            </a:p>
          </p:txBody>
        </p:sp>
        <p:sp>
          <p:nvSpPr>
            <p:cNvPr id="162844" name="Line 28"/>
            <p:cNvSpPr>
              <a:spLocks noChangeShapeType="1"/>
            </p:cNvSpPr>
            <p:nvPr/>
          </p:nvSpPr>
          <p:spPr bwMode="gray">
            <a:xfrm flipH="1" flipV="1">
              <a:off x="3404" y="9842"/>
              <a:ext cx="740" cy="0"/>
            </a:xfrm>
            <a:prstGeom prst="line">
              <a:avLst/>
            </a:prstGeom>
            <a:noFill/>
            <a:ln w="12700">
              <a:solidFill>
                <a:schemeClr val="bg2"/>
              </a:solidFill>
              <a:round/>
              <a:headEnd/>
              <a:tailEnd type="arrow" w="med" len="med"/>
            </a:ln>
            <a:extLst>
              <a:ext uri="{909E8E84-426E-40DD-AFC4-6F175D3DCCD1}">
                <a14:hiddenFill xmlns:a14="http://schemas.microsoft.com/office/drawing/2010/main">
                  <a:noFill/>
                </a14:hiddenFill>
              </a:ext>
            </a:extLst>
          </p:spPr>
          <p:txBody>
            <a:bodyPr/>
            <a:lstStyle/>
            <a:p>
              <a:endParaRPr lang="fr-FR"/>
            </a:p>
          </p:txBody>
        </p:sp>
      </p:grpSp>
    </p:spTree>
    <p:extLst>
      <p:ext uri="{BB962C8B-B14F-4D97-AF65-F5344CB8AC3E}">
        <p14:creationId xmlns:p14="http://schemas.microsoft.com/office/powerpoint/2010/main" val="1778561738"/>
      </p:ext>
    </p:extLst>
  </p:cSld>
  <p:clrMapOvr>
    <a:masterClrMapping/>
  </p:clrMapOvr>
</p:sld>
</file>

<file path=ppt/theme/theme1.xml><?xml version="1.0" encoding="utf-8"?>
<a:theme xmlns:a="http://schemas.openxmlformats.org/drawingml/2006/main" name="EPIC">
  <a:themeElements>
    <a:clrScheme name="EPIC 3">
      <a:dk1>
        <a:srgbClr val="000080"/>
      </a:dk1>
      <a:lt1>
        <a:srgbClr val="BCD507"/>
      </a:lt1>
      <a:dk2>
        <a:srgbClr val="FFFFFF"/>
      </a:dk2>
      <a:lt2>
        <a:srgbClr val="000000"/>
      </a:lt2>
      <a:accent1>
        <a:srgbClr val="FFFFCC"/>
      </a:accent1>
      <a:accent2>
        <a:srgbClr val="B90117"/>
      </a:accent2>
      <a:accent3>
        <a:srgbClr val="DAE7AA"/>
      </a:accent3>
      <a:accent4>
        <a:srgbClr val="00006C"/>
      </a:accent4>
      <a:accent5>
        <a:srgbClr val="FFFFE2"/>
      </a:accent5>
      <a:accent6>
        <a:srgbClr val="A70114"/>
      </a:accent6>
      <a:hlink>
        <a:srgbClr val="FFCCCC"/>
      </a:hlink>
      <a:folHlink>
        <a:srgbClr val="99CCFF"/>
      </a:folHlink>
    </a:clrScheme>
    <a:fontScheme name="EPI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400" b="0" i="0" u="none" strike="noStrike" cap="none" normalizeH="0" baseline="0" smtClean="0">
            <a:ln>
              <a:noFill/>
            </a:ln>
            <a:solidFill>
              <a:schemeClr val="tx1"/>
            </a:solidFill>
            <a:effectLst/>
            <a:latin typeface="Arial" charset="0"/>
          </a:defRPr>
        </a:defPPr>
      </a:lstStyle>
    </a:lnDef>
  </a:objectDefaults>
  <a:extraClrSchemeLst>
    <a:extraClrScheme>
      <a:clrScheme name="EPIC 1">
        <a:dk1>
          <a:srgbClr val="000080"/>
        </a:dk1>
        <a:lt1>
          <a:srgbClr val="BAB600"/>
        </a:lt1>
        <a:dk2>
          <a:srgbClr val="FFFFFF"/>
        </a:dk2>
        <a:lt2>
          <a:srgbClr val="000000"/>
        </a:lt2>
        <a:accent1>
          <a:srgbClr val="FFFF66"/>
        </a:accent1>
        <a:accent2>
          <a:srgbClr val="B90117"/>
        </a:accent2>
        <a:accent3>
          <a:srgbClr val="D9D7AA"/>
        </a:accent3>
        <a:accent4>
          <a:srgbClr val="00006C"/>
        </a:accent4>
        <a:accent5>
          <a:srgbClr val="FFFFB8"/>
        </a:accent5>
        <a:accent6>
          <a:srgbClr val="A70114"/>
        </a:accent6>
        <a:hlink>
          <a:srgbClr val="3333FF"/>
        </a:hlink>
        <a:folHlink>
          <a:srgbClr val="6699FF"/>
        </a:folHlink>
      </a:clrScheme>
      <a:clrMap bg1="lt1" tx1="dk1" bg2="lt2" tx2="dk2" accent1="accent1" accent2="accent2" accent3="accent3" accent4="accent4" accent5="accent5" accent6="accent6" hlink="hlink" folHlink="folHlink"/>
    </a:extraClrScheme>
    <a:extraClrScheme>
      <a:clrScheme name="EPIC 2">
        <a:dk1>
          <a:srgbClr val="000080"/>
        </a:dk1>
        <a:lt1>
          <a:srgbClr val="BCD507"/>
        </a:lt1>
        <a:dk2>
          <a:srgbClr val="FFFFFF"/>
        </a:dk2>
        <a:lt2>
          <a:srgbClr val="000000"/>
        </a:lt2>
        <a:accent1>
          <a:srgbClr val="FFFF66"/>
        </a:accent1>
        <a:accent2>
          <a:srgbClr val="B90117"/>
        </a:accent2>
        <a:accent3>
          <a:srgbClr val="DAE7AA"/>
        </a:accent3>
        <a:accent4>
          <a:srgbClr val="00006C"/>
        </a:accent4>
        <a:accent5>
          <a:srgbClr val="FFFFB8"/>
        </a:accent5>
        <a:accent6>
          <a:srgbClr val="A70114"/>
        </a:accent6>
        <a:hlink>
          <a:srgbClr val="FFCCCC"/>
        </a:hlink>
        <a:folHlink>
          <a:srgbClr val="99CCFF"/>
        </a:folHlink>
      </a:clrScheme>
      <a:clrMap bg1="lt1" tx1="dk1" bg2="lt2" tx2="dk2" accent1="accent1" accent2="accent2" accent3="accent3" accent4="accent4" accent5="accent5" accent6="accent6" hlink="hlink" folHlink="folHlink"/>
    </a:extraClrScheme>
    <a:extraClrScheme>
      <a:clrScheme name="EPIC 3">
        <a:dk1>
          <a:srgbClr val="000080"/>
        </a:dk1>
        <a:lt1>
          <a:srgbClr val="BCD507"/>
        </a:lt1>
        <a:dk2>
          <a:srgbClr val="FFFFFF"/>
        </a:dk2>
        <a:lt2>
          <a:srgbClr val="000000"/>
        </a:lt2>
        <a:accent1>
          <a:srgbClr val="FFFFCC"/>
        </a:accent1>
        <a:accent2>
          <a:srgbClr val="B90117"/>
        </a:accent2>
        <a:accent3>
          <a:srgbClr val="DAE7AA"/>
        </a:accent3>
        <a:accent4>
          <a:srgbClr val="00006C"/>
        </a:accent4>
        <a:accent5>
          <a:srgbClr val="FFFFE2"/>
        </a:accent5>
        <a:accent6>
          <a:srgbClr val="A70114"/>
        </a:accent6>
        <a:hlink>
          <a:srgbClr val="FFCCCC"/>
        </a:hlink>
        <a:folHlink>
          <a:srgbClr val="99CCF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5935</TotalTime>
  <Words>4527</Words>
  <Application>Microsoft Office PowerPoint</Application>
  <PresentationFormat>Affichage à l'écran (4:3)</PresentationFormat>
  <Paragraphs>579</Paragraphs>
  <Slides>80</Slides>
  <Notes>75</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80</vt:i4>
      </vt:variant>
    </vt:vector>
  </HeadingPairs>
  <TitlesOfParts>
    <vt:vector size="86" baseType="lpstr">
      <vt:lpstr>Arial</vt:lpstr>
      <vt:lpstr>Century Schoolbook</vt:lpstr>
      <vt:lpstr>Courier New</vt:lpstr>
      <vt:lpstr>Lucida Sans</vt:lpstr>
      <vt:lpstr>Times New Roman</vt:lpstr>
      <vt:lpstr>EPIC</vt:lpstr>
      <vt:lpstr>Présentation PowerPoint</vt:lpstr>
      <vt:lpstr>Déroulement</vt:lpstr>
      <vt:lpstr>Diagramme de séquences : Exemple simple</vt:lpstr>
      <vt:lpstr>Diagramme de communications : Exemple simple</vt:lpstr>
      <vt:lpstr>Qu’est-ce qu’un diagramme d’interaction ?</vt:lpstr>
      <vt:lpstr>Diagrammes de séquence et de communication</vt:lpstr>
      <vt:lpstr>Objets et temps</vt:lpstr>
      <vt:lpstr>Objets et temps : Exemple</vt:lpstr>
      <vt:lpstr>Messages et stimulus</vt:lpstr>
      <vt:lpstr>Stimulus : Exemple</vt:lpstr>
      <vt:lpstr>Étiquettes de description</vt:lpstr>
      <vt:lpstr>Étiquettes de description : Exemple</vt:lpstr>
      <vt:lpstr>Flux procédural </vt:lpstr>
      <vt:lpstr>Flux asynchrone </vt:lpstr>
      <vt:lpstr>Flux procéduraux et asynchrones</vt:lpstr>
      <vt:lpstr>Création d’objets</vt:lpstr>
      <vt:lpstr>Création d’objets : Exemple</vt:lpstr>
      <vt:lpstr>Destruction d’objets</vt:lpstr>
      <vt:lpstr>Destruction d’objets : Exemple</vt:lpstr>
      <vt:lpstr>Messages perdus et trouvés</vt:lpstr>
      <vt:lpstr>Messages perdus et trouvés : Exemple</vt:lpstr>
      <vt:lpstr>Concurrence</vt:lpstr>
      <vt:lpstr>Récursion</vt:lpstr>
      <vt:lpstr>Récursion : Exemple</vt:lpstr>
      <vt:lpstr>Branchement et convergence</vt:lpstr>
      <vt:lpstr>Branchement et convergence : Exemple</vt:lpstr>
      <vt:lpstr>Branchement conditionnel</vt:lpstr>
      <vt:lpstr>Branchement conditionnel : Exemple</vt:lpstr>
      <vt:lpstr>L’itération</vt:lpstr>
      <vt:lpstr>L’itération : Exemple</vt:lpstr>
      <vt:lpstr>Buts et utilisations</vt:lpstr>
      <vt:lpstr>Objets et interactions</vt:lpstr>
      <vt:lpstr>Diagramme de communication : Exemple montrant uniquement la partie statique </vt:lpstr>
      <vt:lpstr>Messages </vt:lpstr>
      <vt:lpstr>Diagramme de communication : Exemple montrant des interactions</vt:lpstr>
      <vt:lpstr>Création et destruction</vt:lpstr>
      <vt:lpstr>Diagramme de communication ou de séquence ?</vt:lpstr>
      <vt:lpstr>Identifier une collaboration</vt:lpstr>
      <vt:lpstr>Réalisation de cas d’utilisation</vt:lpstr>
      <vt:lpstr>Patrons, mécanismes et patrons d’architecture</vt:lpstr>
      <vt:lpstr>Le patron de l’Observateur : Un patron de conception</vt:lpstr>
      <vt:lpstr>Le patron de l’Observateur : Diagramme de classes</vt:lpstr>
      <vt:lpstr>Le patron de l’Observateur : Diagramme de séquence</vt:lpstr>
      <vt:lpstr>Le patron de l’Observateur : Une collaboration paramétrée</vt:lpstr>
      <vt:lpstr>Utiliser un patron</vt:lpstr>
      <vt:lpstr>Qu’est-ce qu’un diagramme d’états ?</vt:lpstr>
      <vt:lpstr>Pourquoi utiliser des diagrammes d’états ?</vt:lpstr>
      <vt:lpstr>États</vt:lpstr>
      <vt:lpstr>États : Exemple</vt:lpstr>
      <vt:lpstr>États : Notation</vt:lpstr>
      <vt:lpstr>Actions et activités</vt:lpstr>
      <vt:lpstr>États initial et final</vt:lpstr>
      <vt:lpstr>Syntaxe des événements</vt:lpstr>
      <vt:lpstr>Syntaxe des événements  (suite)</vt:lpstr>
      <vt:lpstr>Événements temporels et de changement : Exemple</vt:lpstr>
      <vt:lpstr>Notation</vt:lpstr>
      <vt:lpstr>Déclenchement et levée d’une transition</vt:lpstr>
      <vt:lpstr>Déclenchement et levée d’une transition  (suite)</vt:lpstr>
      <vt:lpstr>États composites</vt:lpstr>
      <vt:lpstr>Sous-états séquentiels : Exemple</vt:lpstr>
      <vt:lpstr>Sous-états séquentiels : Exemple  (suite)</vt:lpstr>
      <vt:lpstr>Régions concurrentes</vt:lpstr>
      <vt:lpstr>Transitions complexes</vt:lpstr>
      <vt:lpstr>Transitions complexes : Exemple</vt:lpstr>
      <vt:lpstr>Système d’affectation des ambulances :  Diagramme d’états pour la classe Appel</vt:lpstr>
      <vt:lpstr>Qu’est-ce qu’un diagramme d’activité ?</vt:lpstr>
      <vt:lpstr>Diagramme d’activité : Exemple</vt:lpstr>
      <vt:lpstr>Pourquoi utiliser un diagramme d’activité ?</vt:lpstr>
      <vt:lpstr>Actions</vt:lpstr>
      <vt:lpstr>États sous-activité</vt:lpstr>
      <vt:lpstr>Décisions</vt:lpstr>
      <vt:lpstr>Décisions : Nouvelle et ancienne notations</vt:lpstr>
      <vt:lpstr>Fork et join conditionnels</vt:lpstr>
      <vt:lpstr>Fork et join conditionnels : Exemple</vt:lpstr>
      <vt:lpstr>Partitions</vt:lpstr>
      <vt:lpstr>Partitions : Exemple</vt:lpstr>
      <vt:lpstr>Système d’affectation des ambulances : Diagramme d’activité</vt:lpstr>
      <vt:lpstr>Nouvelles fonctionnalités</vt:lpstr>
      <vt:lpstr>Nouvelles fonctionnalités : Exemple</vt:lpstr>
      <vt:lpstr>Diagrammes globaux d'interaction</vt:lpstr>
    </vt:vector>
  </TitlesOfParts>
  <Company>Rutlands.com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XSL Overview</dc:title>
  <dc:creator>Administrator</dc:creator>
  <cp:lastModifiedBy>Cyril Vincent</cp:lastModifiedBy>
  <cp:revision>256</cp:revision>
  <cp:lastPrinted>2001-10-05T18:03:23Z</cp:lastPrinted>
  <dcterms:created xsi:type="dcterms:W3CDTF">2001-05-13T21:09:34Z</dcterms:created>
  <dcterms:modified xsi:type="dcterms:W3CDTF">2016-09-17T15:16:05Z</dcterms:modified>
</cp:coreProperties>
</file>