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91" r:id="rId4"/>
    <p:sldId id="292" r:id="rId5"/>
    <p:sldId id="294" r:id="rId6"/>
    <p:sldId id="299" r:id="rId7"/>
    <p:sldId id="300" r:id="rId8"/>
    <p:sldId id="301" r:id="rId9"/>
    <p:sldId id="302" r:id="rId10"/>
    <p:sldId id="303" r:id="rId11"/>
    <p:sldId id="305" r:id="rId12"/>
    <p:sldId id="306" r:id="rId13"/>
    <p:sldId id="307" r:id="rId14"/>
    <p:sldId id="308" r:id="rId15"/>
    <p:sldId id="311" r:id="rId16"/>
    <p:sldId id="312" r:id="rId17"/>
    <p:sldId id="313" r:id="rId18"/>
    <p:sldId id="314" r:id="rId19"/>
    <p:sldId id="315" r:id="rId20"/>
  </p:sldIdLst>
  <p:sldSz cx="9144000" cy="6858000" type="screen4x3"/>
  <p:notesSz cx="6756400" cy="99298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2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660066"/>
    <a:srgbClr val="800080"/>
    <a:srgbClr val="800000"/>
    <a:srgbClr val="000000"/>
    <a:srgbClr val="292929"/>
    <a:srgbClr val="006600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27653" autoAdjust="0"/>
    <p:restoredTop sz="91331" autoAdjust="0"/>
  </p:normalViewPr>
  <p:slideViewPr>
    <p:cSldViewPr>
      <p:cViewPr varScale="1">
        <p:scale>
          <a:sx n="74" d="100"/>
          <a:sy n="74" d="100"/>
        </p:scale>
        <p:origin x="624" y="72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22"/>
    </p:cViewPr>
  </p:sorterViewPr>
  <p:notesViewPr>
    <p:cSldViewPr>
      <p:cViewPr>
        <p:scale>
          <a:sx n="100" d="100"/>
          <a:sy n="100" d="100"/>
        </p:scale>
        <p:origin x="-1572" y="-72"/>
      </p:cViewPr>
      <p:guideLst>
        <p:guide orient="horz" pos="3127"/>
        <p:guide pos="2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5.xml"/><Relationship Id="rId3" Type="http://schemas.openxmlformats.org/officeDocument/2006/relationships/slide" Target="slides/slide9.xml"/><Relationship Id="rId7" Type="http://schemas.openxmlformats.org/officeDocument/2006/relationships/slide" Target="slides/slide14.xml"/><Relationship Id="rId2" Type="http://schemas.openxmlformats.org/officeDocument/2006/relationships/slide" Target="slides/slide8.xml"/><Relationship Id="rId1" Type="http://schemas.openxmlformats.org/officeDocument/2006/relationships/slide" Target="slides/slide7.xml"/><Relationship Id="rId6" Type="http://schemas.openxmlformats.org/officeDocument/2006/relationships/slide" Target="slides/slide13.xml"/><Relationship Id="rId5" Type="http://schemas.openxmlformats.org/officeDocument/2006/relationships/slide" Target="slides/slide12.xml"/><Relationship Id="rId10" Type="http://schemas.openxmlformats.org/officeDocument/2006/relationships/slide" Target="slides/slide17.xml"/><Relationship Id="rId4" Type="http://schemas.openxmlformats.org/officeDocument/2006/relationships/slide" Target="slides/slide10.xml"/><Relationship Id="rId9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t" anchorCtr="0" compatLnSpc="1">
            <a:prstTxWarp prst="textNoShape">
              <a:avLst/>
            </a:prstTxWarp>
          </a:bodyPr>
          <a:lstStyle>
            <a:lvl1pPr defTabSz="927100">
              <a:defRPr sz="1200" b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7463" y="0"/>
            <a:ext cx="29289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t" anchorCtr="0" compatLnSpc="1">
            <a:prstTxWarp prst="textNoShape">
              <a:avLst/>
            </a:prstTxWarp>
          </a:bodyPr>
          <a:lstStyle>
            <a:lvl1pPr algn="r" defTabSz="927100">
              <a:defRPr sz="1200" b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513"/>
            <a:ext cx="29289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b" anchorCtr="0" compatLnSpc="1">
            <a:prstTxWarp prst="textNoShape">
              <a:avLst/>
            </a:prstTxWarp>
          </a:bodyPr>
          <a:lstStyle>
            <a:lvl1pPr defTabSz="927100">
              <a:defRPr sz="1200" b="1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7463" y="9434513"/>
            <a:ext cx="29289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42" tIns="46321" rIns="92642" bIns="46321" numCol="1" anchor="b" anchorCtr="0" compatLnSpc="1">
            <a:prstTxWarp prst="textNoShape">
              <a:avLst/>
            </a:prstTxWarp>
          </a:bodyPr>
          <a:lstStyle>
            <a:lvl1pPr algn="r" defTabSz="927100">
              <a:defRPr sz="1200" b="1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ADDDA595-6434-4780-8F23-F6A1177F52B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63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92118" y="607188"/>
            <a:ext cx="5620362" cy="421484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223989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663" y="4238625"/>
            <a:ext cx="6265862" cy="52990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6916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663" y="4238625"/>
            <a:ext cx="6265862" cy="5299075"/>
          </a:xfrm>
          <a:prstGeom prst="rect">
            <a:avLst/>
          </a:prstGeo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556256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C3CA9811-2FB3-41DF-A259-658D0676B7E2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55750" y="95250"/>
            <a:ext cx="5243513" cy="393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3838" y="4140200"/>
            <a:ext cx="6321425" cy="53641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GB" altLang="fr-FR"/>
              <a:t>&lt;ipf&gt;R,44: What Is the MDA?&lt;/ipf&gt;</a:t>
            </a:r>
          </a:p>
          <a:p>
            <a:r>
              <a:rPr lang="en-GB" altLang="fr-FR"/>
              <a:t>MDA is still "work in progress".  The best I can do right now is give you a few slides to talk around.</a:t>
            </a:r>
          </a:p>
        </p:txBody>
      </p:sp>
    </p:spTree>
    <p:extLst>
      <p:ext uri="{BB962C8B-B14F-4D97-AF65-F5344CB8AC3E}">
        <p14:creationId xmlns:p14="http://schemas.microsoft.com/office/powerpoint/2010/main" val="3775248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FF8ED7D7-8A51-4CA8-8255-C12F56DDD75C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55750" y="95250"/>
            <a:ext cx="5243513" cy="393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3838" y="4140200"/>
            <a:ext cx="6321425" cy="53641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GB" altLang="fr-FR"/>
              <a:t>&lt;ipf&gt;L,45: MDA Standards&lt;/ipf&gt;</a:t>
            </a:r>
          </a:p>
          <a:p>
            <a:endParaRPr lang="en-GB" altLang="fr-FR"/>
          </a:p>
        </p:txBody>
      </p:sp>
    </p:spTree>
    <p:extLst>
      <p:ext uri="{BB962C8B-B14F-4D97-AF65-F5344CB8AC3E}">
        <p14:creationId xmlns:p14="http://schemas.microsoft.com/office/powerpoint/2010/main" val="2592533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9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21113" y="9410700"/>
            <a:ext cx="2922587" cy="495300"/>
          </a:xfrm>
          <a:prstGeom prst="rect">
            <a:avLst/>
          </a:prstGeom>
          <a:ln/>
        </p:spPr>
        <p:txBody>
          <a:bodyPr/>
          <a:lstStyle/>
          <a:p>
            <a:fld id="{CDC9BFCD-F728-4AB0-B678-C699869F779D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1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55750" y="95250"/>
            <a:ext cx="5243513" cy="393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3838" y="4140200"/>
            <a:ext cx="6321425" cy="53641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GB" altLang="fr-FR"/>
              <a:t>&lt;ipf&gt;L,47: MDA Model Transformation&lt;/ipf&gt;</a:t>
            </a:r>
          </a:p>
        </p:txBody>
      </p:sp>
    </p:spTree>
    <p:extLst>
      <p:ext uri="{BB962C8B-B14F-4D97-AF65-F5344CB8AC3E}">
        <p14:creationId xmlns:p14="http://schemas.microsoft.com/office/powerpoint/2010/main" val="3075520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&lt;*s*o*u*r*c*e*&gt;*1*8*0*1*a*1*b*-*1*-*5*&lt;*/*s*o*u*r*c*e*&gt;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2457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2457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750887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text: Activity</a:t>
            </a:r>
          </a:p>
          <a:p>
            <a:pPr eaLnBrk="1" hangingPunct="1"/>
            <a:r>
              <a:rPr lang="en-US" smtClean="0"/>
              <a:t>Direction: Right</a:t>
            </a:r>
          </a:p>
          <a:p>
            <a:pPr eaLnBrk="1" hangingPunct="1"/>
            <a:r>
              <a:rPr lang="en-US" smtClean="0"/>
              <a:t>Instructor notes:</a:t>
            </a:r>
          </a:p>
        </p:txBody>
      </p:sp>
    </p:spTree>
    <p:extLst>
      <p:ext uri="{BB962C8B-B14F-4D97-AF65-F5344CB8AC3E}">
        <p14:creationId xmlns:p14="http://schemas.microsoft.com/office/powerpoint/2010/main" val="4052057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&lt;*s*o*u*r*c*e*&gt;*1*8*0*1*a*1*b*-*1*-*6*&lt;*/*s*o*u*r*c*e*&gt;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26626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989012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</a:t>
            </a:r>
          </a:p>
          <a:p>
            <a:pPr eaLnBrk="1" hangingPunct="1"/>
            <a:r>
              <a:rPr lang="en-US" smtClean="0"/>
              <a:t>Direction: Left</a:t>
            </a:r>
          </a:p>
          <a:p>
            <a:pPr eaLnBrk="1" hangingPunct="1"/>
            <a:r>
              <a:rPr lang="en-US" smtClean="0"/>
              <a:t>Instructor notes: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78653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&lt;*s*o*u*r*c*e*&gt;*1*8*0*1*a*1*b*-*1*-*7*&lt;*/*s*o*u*r*c*e*&gt;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2867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92138" y="606425"/>
            <a:ext cx="5619750" cy="4214813"/>
          </a:xfrm>
          <a:ln/>
        </p:spPr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1227137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text:</a:t>
            </a:r>
          </a:p>
          <a:p>
            <a:pPr eaLnBrk="1" hangingPunct="1"/>
            <a:r>
              <a:rPr lang="en-US" smtClean="0"/>
              <a:t>Direction: Right</a:t>
            </a:r>
          </a:p>
          <a:p>
            <a:pPr eaLnBrk="1" hangingPunct="1"/>
            <a:r>
              <a:rPr lang="en-US" smtClean="0"/>
              <a:t>Instructor notes: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56905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&lt;*s*o*u*r*c*e*&gt;*1*8*0*1*a*1*b*-*1*-*8*&lt;*/*s*o*u*r*c*e*&gt;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3072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989012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</a:t>
            </a:r>
          </a:p>
          <a:p>
            <a:pPr eaLnBrk="1" hangingPunct="1"/>
            <a:r>
              <a:rPr lang="en-US" smtClean="0"/>
              <a:t>Direction: Left</a:t>
            </a:r>
          </a:p>
          <a:p>
            <a:pPr eaLnBrk="1" hangingPunct="1"/>
            <a:r>
              <a:rPr lang="en-US" smtClean="0"/>
              <a:t>Instructor notes: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90583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&lt;*s*o*u*r*c*e*&gt;*1*8*0*1*a*1*b*-*1*-*9*&lt;*/*s*o*u*r*c*e*&gt;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3277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989012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text:</a:t>
            </a:r>
          </a:p>
          <a:p>
            <a:pPr eaLnBrk="1" hangingPunct="1"/>
            <a:r>
              <a:rPr lang="en-US" smtClean="0"/>
              <a:t>Direction: Right</a:t>
            </a:r>
          </a:p>
          <a:p>
            <a:pPr eaLnBrk="1" hangingPunct="1"/>
            <a:r>
              <a:rPr lang="en-US" smtClean="0"/>
              <a:t>Instructor notes: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29939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&lt;*s*o*u*r*c*e*&gt;*1*8*0*1*a*1*b*-*1*-*1*3*&lt;*/*s*o*u*r*c*e*&gt;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40962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989012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</a:t>
            </a:r>
          </a:p>
          <a:p>
            <a:pPr eaLnBrk="1" hangingPunct="1"/>
            <a:r>
              <a:rPr lang="en-US" smtClean="0"/>
              <a:t>Direction: Left</a:t>
            </a:r>
          </a:p>
          <a:p>
            <a:pPr eaLnBrk="1" hangingPunct="1"/>
            <a:r>
              <a:rPr lang="en-US" smtClean="0"/>
              <a:t>Instructor notes: Tuning to match type, e.g. DB intensive versus Realtime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97553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&lt;*s*o*u*r*c*e*&gt;*1*8*0*1*a*1*b*-*1*-*1*0*&lt;*/*s*o*u*r*c*e*&gt;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3481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698500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1100" smtClean="0"/>
              <a:t>Jogger text:</a:t>
            </a:r>
          </a:p>
          <a:p>
            <a:pPr eaLnBrk="1" hangingPunct="1"/>
            <a:r>
              <a:rPr lang="en-US" sz="1100" smtClean="0"/>
              <a:t>Direction: Left</a:t>
            </a:r>
          </a:p>
          <a:p>
            <a:pPr eaLnBrk="1" hangingPunct="1"/>
            <a:r>
              <a:rPr lang="en-US" sz="1100" smtClean="0"/>
              <a:t>Instructor notes:</a:t>
            </a:r>
          </a:p>
        </p:txBody>
      </p:sp>
    </p:spTree>
    <p:extLst>
      <p:ext uri="{BB962C8B-B14F-4D97-AF65-F5344CB8AC3E}">
        <p14:creationId xmlns:p14="http://schemas.microsoft.com/office/powerpoint/2010/main" val="1264601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&lt;*s*o*u*r*c*e*&gt;*1*8*0*1*a*1*b*-*1*-*1*4*&lt;*/*s*o*u*r*c*e*&gt;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4301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989012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</a:t>
            </a:r>
          </a:p>
          <a:p>
            <a:pPr eaLnBrk="1" hangingPunct="1"/>
            <a:r>
              <a:rPr lang="en-US" smtClean="0"/>
              <a:t>Direction: Right</a:t>
            </a:r>
          </a:p>
          <a:p>
            <a:pPr eaLnBrk="1" hangingPunct="1"/>
            <a:r>
              <a:rPr lang="en-US" smtClean="0"/>
              <a:t>Instructor notes: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348165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&lt;*s*o*u*r*c*e*&gt;*1*8*0*1*a*1*b*-*1*-*1*5*&lt;*/*s*o*u*r*c*e*&gt;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45058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989012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text:</a:t>
            </a:r>
          </a:p>
          <a:p>
            <a:pPr eaLnBrk="1" hangingPunct="1"/>
            <a:r>
              <a:rPr lang="en-US" smtClean="0"/>
              <a:t>Direction: Right</a:t>
            </a:r>
          </a:p>
          <a:p>
            <a:pPr eaLnBrk="1" hangingPunct="1"/>
            <a:r>
              <a:rPr lang="en-US" smtClean="0"/>
              <a:t>Instructor notes:</a:t>
            </a:r>
            <a:endParaRPr lang="en-GB" smtClean="0"/>
          </a:p>
          <a:p>
            <a:pPr eaLnBrk="1" hangingPunct="1"/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17683509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&lt;*s*o*u*r*c*e*&gt;*1*8*0*1*a*1*b*-*1*-*1*9*&lt;*/*s*o*u*r*c*e*&gt;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53250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1227137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text:</a:t>
            </a:r>
          </a:p>
          <a:p>
            <a:pPr eaLnBrk="1" hangingPunct="1"/>
            <a:r>
              <a:rPr lang="en-US" smtClean="0"/>
              <a:t>Direction: Left</a:t>
            </a:r>
          </a:p>
          <a:p>
            <a:pPr eaLnBrk="1" hangingPunct="1"/>
            <a:r>
              <a:rPr lang="en-US" smtClean="0"/>
              <a:t>Instructor notes:</a:t>
            </a:r>
          </a:p>
          <a:p>
            <a:pPr lvl="2" eaLnBrk="1" hangingPunct="1"/>
            <a:endParaRPr lang="en-US" smtClean="0"/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30782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Box 5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&lt;*s*o*u*r*c*e*&gt;*1*8*0*1*a*1*b*-*1*-*2*0*&lt;*/*s*o*u*r*c*e*&gt;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55298" name="Rectangle 4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42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1116012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</a:t>
            </a:r>
          </a:p>
          <a:p>
            <a:pPr eaLnBrk="1" hangingPunct="1"/>
            <a:r>
              <a:rPr lang="en-US" smtClean="0"/>
              <a:t>Direction: Right</a:t>
            </a:r>
          </a:p>
          <a:p>
            <a:pPr eaLnBrk="1" hangingPunct="1"/>
            <a:r>
              <a:rPr lang="en-US" smtClean="0"/>
              <a:t>Instructor notes: Do some name dropping, e.g. Jeff Sutherland and Ken Schwaber who each arrived at a scrum like agile methodology in their separate companies, but then published and presented a paper at OOPSLA in 1995 together describing the approach.</a:t>
            </a:r>
          </a:p>
        </p:txBody>
      </p:sp>
    </p:spTree>
    <p:extLst>
      <p:ext uri="{BB962C8B-B14F-4D97-AF65-F5344CB8AC3E}">
        <p14:creationId xmlns:p14="http://schemas.microsoft.com/office/powerpoint/2010/main" val="3225289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Box 4" hidden="1"/>
          <p:cNvSpPr txBox="1">
            <a:spLocks noChangeArrowheads="1"/>
          </p:cNvSpPr>
          <p:nvPr/>
        </p:nvSpPr>
        <p:spPr bwMode="auto">
          <a:xfrm>
            <a:off x="2286000" y="381000"/>
            <a:ext cx="381000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pt-BR" sz="800">
                <a:solidFill>
                  <a:srgbClr val="000000"/>
                </a:solidFill>
              </a:rPr>
              <a:t>&lt;*s*o*u*r*c*e*&gt;*1*8*0*1*a*1*b*-*1*-*2*2*&lt;*/*s*o*u*r*c*e*&gt;</a:t>
            </a:r>
            <a:endParaRPr lang="en-US" sz="800">
              <a:solidFill>
                <a:srgbClr val="000000"/>
              </a:solidFill>
            </a:endParaRPr>
          </a:p>
        </p:txBody>
      </p:sp>
      <p:sp>
        <p:nvSpPr>
          <p:cNvPr id="59394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957638"/>
            <a:ext cx="6488113" cy="750887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mtClean="0"/>
              <a:t>Jogger text:</a:t>
            </a:r>
          </a:p>
          <a:p>
            <a:pPr eaLnBrk="1" hangingPunct="1"/>
            <a:r>
              <a:rPr lang="en-US" smtClean="0"/>
              <a:t>Direction: Right</a:t>
            </a:r>
          </a:p>
          <a:p>
            <a:pPr eaLnBrk="1" hangingPunct="1"/>
            <a:r>
              <a:rPr lang="en-US" smtClean="0"/>
              <a:t>Instructor notes: DSDM acronym</a:t>
            </a:r>
          </a:p>
        </p:txBody>
      </p:sp>
    </p:spTree>
    <p:extLst>
      <p:ext uri="{BB962C8B-B14F-4D97-AF65-F5344CB8AC3E}">
        <p14:creationId xmlns:p14="http://schemas.microsoft.com/office/powerpoint/2010/main" val="2805059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auto">
          <a:xfrm>
            <a:off x="0" y="6550223"/>
            <a:ext cx="9144000" cy="307777"/>
          </a:xfrm>
          <a:prstGeom prst="rect">
            <a:avLst/>
          </a:prstGeom>
          <a:solidFill>
            <a:schemeClr val="bg2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 userDrawn="1"/>
        </p:nvSpPr>
        <p:spPr bwMode="auto">
          <a:xfrm>
            <a:off x="0" y="0"/>
            <a:ext cx="360000" cy="6858000"/>
          </a:xfrm>
          <a:prstGeom prst="rect">
            <a:avLst/>
          </a:prstGeom>
          <a:solidFill>
            <a:schemeClr val="bg2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8312" name="Rectangle 8"/>
          <p:cNvSpPr>
            <a:spLocks noGrp="1" noChangeArrowheads="1"/>
          </p:cNvSpPr>
          <p:nvPr>
            <p:ph type="ctrTitle" sz="quarter"/>
          </p:nvPr>
        </p:nvSpPr>
        <p:spPr>
          <a:xfrm>
            <a:off x="285721" y="1363663"/>
            <a:ext cx="7572404" cy="1638300"/>
          </a:xfrm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chapter title style</a:t>
            </a:r>
          </a:p>
        </p:txBody>
      </p:sp>
      <p:sp>
        <p:nvSpPr>
          <p:cNvPr id="98313" name="Rectangle 9"/>
          <p:cNvSpPr>
            <a:spLocks noGrp="1" noChangeArrowheads="1"/>
          </p:cNvSpPr>
          <p:nvPr>
            <p:ph type="subTitle" sz="quarter" idx="1"/>
          </p:nvPr>
        </p:nvSpPr>
        <p:spPr bwMode="black">
          <a:xfrm>
            <a:off x="322263" y="398463"/>
            <a:ext cx="4267200" cy="381000"/>
          </a:xfrm>
          <a:effectLst>
            <a:outerShdw dist="3592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spcBef>
                <a:spcPct val="0"/>
              </a:spcBef>
              <a:buFont typeface="Arial" charset="0"/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Chapitre 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312863"/>
            <a:ext cx="8664606" cy="1277273"/>
          </a:xfrm>
        </p:spPr>
        <p:txBody>
          <a:bodyPr/>
          <a:lstStyle>
            <a:lvl4pPr>
              <a:defRPr/>
            </a:lvl4pPr>
            <a:lvl5pPr>
              <a:buNone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</a:t>
            </a:r>
            <a:r>
              <a:rPr lang="fr-FR" dirty="0" smtClean="0"/>
              <a:t>niveau</a:t>
            </a:r>
            <a:endParaRPr lang="fr-FR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79400" y="1312863"/>
            <a:ext cx="4222750" cy="126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54550" y="1312863"/>
            <a:ext cx="4224338" cy="1266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04013" y="160338"/>
            <a:ext cx="2174875" cy="241935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79388" y="160338"/>
            <a:ext cx="6372225" cy="24193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auto">
          <a:xfrm>
            <a:off x="0" y="0"/>
            <a:ext cx="360000" cy="6858000"/>
          </a:xfrm>
          <a:prstGeom prst="rect">
            <a:avLst/>
          </a:prstGeom>
          <a:solidFill>
            <a:schemeClr val="bg2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6550223"/>
            <a:ext cx="9144000" cy="307777"/>
          </a:xfrm>
          <a:prstGeom prst="rect">
            <a:avLst/>
          </a:prstGeom>
          <a:solidFill>
            <a:schemeClr val="bg2">
              <a:lumMod val="8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14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100013" y="6592888"/>
            <a:ext cx="718502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dirty="0" smtClean="0">
                <a:solidFill>
                  <a:schemeClr val="tx2"/>
                </a:solidFill>
              </a:rPr>
              <a:t>Version 1.0</a:t>
            </a:r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title"/>
          </p:nvPr>
        </p:nvSpPr>
        <p:spPr bwMode="black">
          <a:xfrm>
            <a:off x="179388" y="160338"/>
            <a:ext cx="7793037" cy="72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97286" name="Text Box 6"/>
          <p:cNvSpPr txBox="1">
            <a:spLocks noChangeArrowheads="1"/>
          </p:cNvSpPr>
          <p:nvPr/>
        </p:nvSpPr>
        <p:spPr bwMode="auto">
          <a:xfrm>
            <a:off x="6970713" y="6527800"/>
            <a:ext cx="1447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fld id="{B6CF8F43-D6BF-44C9-85E9-64DD9CECBDB3}" type="slidenum">
              <a:rPr lang="en-US" b="1" smtClean="0">
                <a:solidFill>
                  <a:schemeClr val="tx2"/>
                </a:solidFill>
              </a:rPr>
              <a:pPr algn="r">
                <a:spcBef>
                  <a:spcPct val="50000"/>
                </a:spcBef>
              </a:pPr>
              <a:t>‹N°›</a:t>
            </a:fld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728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282" y="1312863"/>
            <a:ext cx="8664606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230188" indent="-230188" algn="l" rtl="0" eaLnBrk="0" fontAlgn="base" hangingPunct="0">
        <a:spcBef>
          <a:spcPts val="1400"/>
        </a:spcBef>
        <a:spcAft>
          <a:spcPct val="0"/>
        </a:spcAft>
        <a:buClr>
          <a:schemeClr val="accent2"/>
        </a:buClr>
        <a:buSzPct val="115000"/>
        <a:buFont typeface="Arial" charset="0"/>
        <a:buChar char="•"/>
        <a:defRPr b="1">
          <a:solidFill>
            <a:schemeClr val="tx2"/>
          </a:solidFill>
          <a:latin typeface="+mn-lt"/>
          <a:ea typeface="+mn-ea"/>
          <a:cs typeface="+mn-cs"/>
        </a:defRPr>
      </a:lvl1pPr>
      <a:lvl2pPr marL="685800" indent="-341313" algn="l" rtl="0" eaLnBrk="0" fontAlgn="base" hangingPunct="0">
        <a:spcBef>
          <a:spcPts val="200"/>
        </a:spcBef>
        <a:spcAft>
          <a:spcPct val="0"/>
        </a:spcAft>
        <a:buClr>
          <a:schemeClr val="accent2"/>
        </a:buClr>
        <a:buFont typeface="Arial" charset="0"/>
        <a:buChar char="—"/>
        <a:defRPr>
          <a:solidFill>
            <a:schemeClr val="tx2"/>
          </a:solidFill>
          <a:latin typeface="+mn-lt"/>
        </a:defRPr>
      </a:lvl2pPr>
      <a:lvl3pPr marL="1017588" indent="-217488" algn="l" rtl="0" eaLnBrk="0" fontAlgn="base" hangingPunct="0">
        <a:spcBef>
          <a:spcPts val="200"/>
        </a:spcBef>
        <a:spcAft>
          <a:spcPct val="0"/>
        </a:spcAft>
        <a:buClr>
          <a:schemeClr val="accent2"/>
        </a:buClr>
        <a:buFont typeface="Arial" charset="0"/>
        <a:buChar char="–"/>
        <a:defRPr>
          <a:solidFill>
            <a:schemeClr val="tx2"/>
          </a:solidFill>
          <a:latin typeface="+mn-lt"/>
        </a:defRPr>
      </a:lvl3pPr>
      <a:lvl4pPr marL="1363663" indent="-231775" algn="l" rtl="0" eaLnBrk="0" fontAlgn="base" hangingPunct="0">
        <a:spcBef>
          <a:spcPts val="200"/>
        </a:spcBef>
        <a:spcAft>
          <a:spcPct val="0"/>
        </a:spcAft>
        <a:buClr>
          <a:schemeClr val="accent2"/>
        </a:buClr>
        <a:buFont typeface="Arial" charset="0"/>
        <a:buChar char="–"/>
        <a:defRPr>
          <a:solidFill>
            <a:schemeClr val="tx2"/>
          </a:solidFill>
          <a:latin typeface="+mn-lt"/>
        </a:defRPr>
      </a:lvl4pPr>
      <a:lvl5pPr marL="21653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6225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30797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5369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99415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 txBox="1">
            <a:spLocks noChangeArrowheads="1"/>
          </p:cNvSpPr>
          <p:nvPr/>
        </p:nvSpPr>
        <p:spPr bwMode="black">
          <a:xfrm>
            <a:off x="461963" y="1516063"/>
            <a:ext cx="7548562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>
              <a:defRPr/>
            </a:pPr>
            <a:r>
              <a:rPr lang="fr-FR" sz="36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UML </a:t>
            </a:r>
            <a:r>
              <a:rPr lang="fr-FR" sz="36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</a:t>
            </a:r>
          </a:p>
          <a:p>
            <a:pPr lvl="0" algn="ctr">
              <a:defRPr/>
            </a:pPr>
            <a:r>
              <a:rPr lang="fr-FR" sz="3600" b="1" kern="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Concepts avancés</a:t>
            </a:r>
            <a:endParaRPr lang="fr-FR" sz="3600" b="1" kern="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 algn="ctr">
              <a:defRPr/>
            </a:pPr>
            <a:endParaRPr lang="fr-FR" sz="3600" b="1" kern="0" dirty="0" smtClean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lvl="0" algn="ctr">
              <a:defRPr/>
            </a:pPr>
            <a:r>
              <a:rPr lang="fr-FR" sz="3600" dirty="0" smtClean="0">
                <a:solidFill>
                  <a:schemeClr val="tx2"/>
                </a:solidFill>
              </a:rPr>
              <a:t>Chapitre </a:t>
            </a:r>
            <a:r>
              <a:rPr lang="fr-FR" sz="3600" dirty="0">
                <a:solidFill>
                  <a:schemeClr val="tx2"/>
                </a:solidFill>
              </a:rPr>
              <a:t>7</a:t>
            </a:r>
            <a:endParaRPr lang="fr-FR" sz="3600" dirty="0" smtClean="0">
              <a:solidFill>
                <a:schemeClr val="tx2"/>
              </a:solidFill>
            </a:endParaRPr>
          </a:p>
          <a:p>
            <a:pPr lvl="0" algn="ctr"/>
            <a:endParaRPr lang="fr-FR" dirty="0" smtClean="0">
              <a:solidFill>
                <a:schemeClr val="tx2"/>
              </a:solidFill>
            </a:endParaRPr>
          </a:p>
          <a:p>
            <a:pPr lvl="0" algn="ctr"/>
            <a:r>
              <a:rPr lang="fr-FR" dirty="0" smtClean="0">
                <a:solidFill>
                  <a:schemeClr val="tx2"/>
                </a:solidFill>
              </a:rPr>
              <a:t>v1.0</a:t>
            </a:r>
          </a:p>
          <a:p>
            <a:pPr lvl="0" algn="ctr"/>
            <a:endParaRPr kumimoji="0" lang="fr-FR" sz="3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Grp="1" noChangeArrowheads="1"/>
          </p:cNvSpPr>
          <p:nvPr>
            <p:ph type="title"/>
          </p:nvPr>
        </p:nvSpPr>
        <p:spPr>
          <a:xfrm>
            <a:off x="179388" y="160338"/>
            <a:ext cx="7793037" cy="725487"/>
          </a:xfrm>
        </p:spPr>
        <p:txBody>
          <a:bodyPr/>
          <a:lstStyle/>
          <a:p>
            <a:r>
              <a:rPr lang="fr-FR" dirty="0" smtClean="0"/>
              <a:t>Déroulement</a:t>
            </a:r>
            <a:endParaRPr lang="fr-FR" dirty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idx="1"/>
          </p:nvPr>
        </p:nvSpPr>
        <p:spPr>
          <a:xfrm>
            <a:off x="928662" y="1312863"/>
            <a:ext cx="7950226" cy="3503523"/>
          </a:xfrm>
        </p:spPr>
        <p:txBody>
          <a:bodyPr/>
          <a:lstStyle/>
          <a:p>
            <a:r>
              <a:rPr lang="fr-FR" sz="1400" dirty="0"/>
              <a:t>Modèles de données. </a:t>
            </a:r>
            <a:r>
              <a:rPr lang="fr-FR" sz="1400" dirty="0" err="1"/>
              <a:t>Mapping</a:t>
            </a:r>
            <a:r>
              <a:rPr lang="fr-FR" sz="1400" dirty="0"/>
              <a:t> Objet/relationnel. Autres modèles.</a:t>
            </a:r>
          </a:p>
          <a:p>
            <a:r>
              <a:rPr lang="fr-FR" sz="1400" dirty="0"/>
              <a:t>Répondre à des problèmes récurrents : les Design Patterns (singleton, adaptateur...) et leur rôle.</a:t>
            </a:r>
          </a:p>
          <a:p>
            <a:r>
              <a:rPr lang="fr-FR" sz="1400" dirty="0" err="1"/>
              <a:t>Frameworks</a:t>
            </a:r>
            <a:r>
              <a:rPr lang="fr-FR" sz="1400" dirty="0"/>
              <a:t>, réutilisation.</a:t>
            </a:r>
          </a:p>
          <a:p>
            <a:r>
              <a:rPr lang="fr-FR" sz="1400" dirty="0"/>
              <a:t>Introduction au développement piloté par les modèles (MDA - MDD).</a:t>
            </a:r>
          </a:p>
          <a:p>
            <a:r>
              <a:rPr lang="fr-FR" sz="1400" dirty="0"/>
              <a:t>Ateliers de modélisation : génération de rapports, de code... Format XMI d'échange de modèles UML entre AGL.</a:t>
            </a:r>
          </a:p>
          <a:p>
            <a:r>
              <a:rPr lang="fr-FR" sz="1400" dirty="0"/>
              <a:t>UML et les méthodes projet. Les différentes approches. Intégration d'UML.</a:t>
            </a:r>
          </a:p>
          <a:p>
            <a:r>
              <a:rPr lang="fr-FR" sz="1400" dirty="0"/>
              <a:t>Introduction au processus unifié (UP), cycle en Y, itérations, phases et activités.</a:t>
            </a:r>
          </a:p>
          <a:p>
            <a:r>
              <a:rPr lang="fr-FR" sz="1400" dirty="0"/>
              <a:t>Autres possibilités (XP...)</a:t>
            </a:r>
            <a:endParaRPr lang="fr-FR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60338"/>
            <a:ext cx="8374062" cy="725487"/>
          </a:xfrm>
        </p:spPr>
        <p:txBody>
          <a:bodyPr/>
          <a:lstStyle/>
          <a:p>
            <a:pPr>
              <a:spcBef>
                <a:spcPts val="2000"/>
              </a:spcBef>
            </a:pPr>
            <a:r>
              <a:rPr lang="fr-FR" altLang="fr-FR"/>
              <a:t>Qu'est-ce que l'architecture pilotée par les modèles ?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1968500"/>
          </a:xfrm>
        </p:spPr>
        <p:txBody>
          <a:bodyPr/>
          <a:lstStyle/>
          <a:p>
            <a:r>
              <a:rPr lang="fr-FR" altLang="fr-FR"/>
              <a:t>L'architecture pilotée par les modèles (</a:t>
            </a:r>
            <a:r>
              <a:rPr lang="fr-FR" altLang="fr-FR">
                <a:latin typeface="Times New Roman" panose="02020603050405020304" pitchFamily="18" charset="0"/>
              </a:rPr>
              <a:t>Model Driven Architecture</a:t>
            </a:r>
            <a:r>
              <a:rPr lang="fr-FR" altLang="fr-FR"/>
              <a:t> – MDA) est la manière dont l'OMG envisage la réalisation et la production d'un logiciel interopérable, réutilisable et portable</a:t>
            </a:r>
          </a:p>
          <a:p>
            <a:r>
              <a:rPr lang="fr-FR" altLang="fr-FR"/>
              <a:t>L'architecture pilotée par les modèles contient</a:t>
            </a:r>
          </a:p>
          <a:p>
            <a:pPr lvl="1"/>
            <a:r>
              <a:rPr lang="fr-FR" altLang="fr-FR"/>
              <a:t>Un ensemble de standards</a:t>
            </a:r>
          </a:p>
          <a:p>
            <a:pPr lvl="1"/>
            <a:r>
              <a:rPr lang="fr-FR" altLang="fr-FR"/>
              <a:t>Un modèle pour transformer les besoins en logiciel</a:t>
            </a:r>
          </a:p>
        </p:txBody>
      </p:sp>
    </p:spTree>
    <p:extLst>
      <p:ext uri="{BB962C8B-B14F-4D97-AF65-F5344CB8AC3E}">
        <p14:creationId xmlns:p14="http://schemas.microsoft.com/office/powerpoint/2010/main" val="560592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Standards de l'architecture pilotée par les modèles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2088" y="1312863"/>
            <a:ext cx="8783637" cy="5126037"/>
          </a:xfrm>
        </p:spPr>
        <p:txBody>
          <a:bodyPr/>
          <a:lstStyle/>
          <a:p>
            <a:r>
              <a:rPr lang="fr-FR" altLang="fr-FR" u="sng"/>
              <a:t>M</a:t>
            </a:r>
            <a:r>
              <a:rPr lang="fr-FR" altLang="fr-FR"/>
              <a:t>eta-</a:t>
            </a:r>
            <a:r>
              <a:rPr lang="fr-FR" altLang="fr-FR" u="sng"/>
              <a:t>O</a:t>
            </a:r>
            <a:r>
              <a:rPr lang="fr-FR" altLang="fr-FR"/>
              <a:t>bject </a:t>
            </a:r>
            <a:r>
              <a:rPr lang="fr-FR" altLang="fr-FR" u="sng"/>
              <a:t>F</a:t>
            </a:r>
            <a:r>
              <a:rPr lang="fr-FR" altLang="fr-FR"/>
              <a:t>acility (MOF)</a:t>
            </a:r>
          </a:p>
          <a:p>
            <a:pPr lvl="1"/>
            <a:r>
              <a:rPr lang="fr-FR" altLang="fr-FR"/>
              <a:t>Définit de façon rigoureuse le modèle objet utilisé par les autres standards</a:t>
            </a:r>
          </a:p>
          <a:p>
            <a:r>
              <a:rPr lang="fr-FR" altLang="fr-FR"/>
              <a:t>UML</a:t>
            </a:r>
          </a:p>
          <a:p>
            <a:pPr lvl="1"/>
            <a:r>
              <a:rPr lang="fr-FR" altLang="fr-FR"/>
              <a:t>Langage de modélisation s'appuyant sur MOF</a:t>
            </a:r>
          </a:p>
          <a:p>
            <a:r>
              <a:rPr lang="fr-FR" altLang="fr-FR"/>
              <a:t>Des modèles MOF, par exemple :</a:t>
            </a:r>
          </a:p>
          <a:p>
            <a:pPr lvl="1"/>
            <a:r>
              <a:rPr lang="fr-FR" altLang="fr-FR" u="sng"/>
              <a:t>X</a:t>
            </a:r>
            <a:r>
              <a:rPr lang="fr-FR" altLang="fr-FR"/>
              <a:t>ML </a:t>
            </a:r>
            <a:r>
              <a:rPr lang="fr-FR" altLang="fr-FR" u="sng"/>
              <a:t>M</a:t>
            </a:r>
            <a:r>
              <a:rPr lang="fr-FR" altLang="fr-FR"/>
              <a:t>etadata </a:t>
            </a:r>
            <a:r>
              <a:rPr lang="fr-FR" altLang="fr-FR" u="sng"/>
              <a:t>I</a:t>
            </a:r>
            <a:r>
              <a:rPr lang="fr-FR" altLang="fr-FR"/>
              <a:t>nterchange (XMI)</a:t>
            </a:r>
          </a:p>
          <a:p>
            <a:pPr lvl="2"/>
            <a:r>
              <a:rPr lang="fr-FR" altLang="fr-FR"/>
              <a:t>Description en XML de modèles UML</a:t>
            </a:r>
          </a:p>
          <a:p>
            <a:pPr lvl="1"/>
            <a:r>
              <a:rPr lang="fr-FR" altLang="fr-FR" u="sng"/>
              <a:t>C</a:t>
            </a:r>
            <a:r>
              <a:rPr lang="fr-FR" altLang="fr-FR"/>
              <a:t>ommon </a:t>
            </a:r>
            <a:r>
              <a:rPr lang="fr-FR" altLang="fr-FR" u="sng"/>
              <a:t>W</a:t>
            </a:r>
            <a:r>
              <a:rPr lang="fr-FR" altLang="fr-FR"/>
              <a:t>arehouse </a:t>
            </a:r>
            <a:r>
              <a:rPr lang="fr-FR" altLang="fr-FR" u="sng"/>
              <a:t>M</a:t>
            </a:r>
            <a:r>
              <a:rPr lang="fr-FR" altLang="fr-FR"/>
              <a:t>etadata (CWM)</a:t>
            </a:r>
          </a:p>
          <a:p>
            <a:pPr lvl="2"/>
            <a:r>
              <a:rPr lang="fr-FR" altLang="fr-FR"/>
              <a:t>Un ensemble de métamodèles contenant une définition objet robuste des concepts utilisés dans de nombreux outils pour entrepôts de données</a:t>
            </a:r>
          </a:p>
          <a:p>
            <a:r>
              <a:rPr lang="fr-FR" altLang="fr-FR"/>
              <a:t>Des profils, par exemple :</a:t>
            </a:r>
          </a:p>
          <a:p>
            <a:pPr lvl="1"/>
            <a:r>
              <a:rPr lang="fr-FR" altLang="fr-FR" u="sng"/>
              <a:t>E</a:t>
            </a:r>
            <a:r>
              <a:rPr lang="fr-FR" altLang="fr-FR"/>
              <a:t>nterprise </a:t>
            </a:r>
            <a:r>
              <a:rPr lang="fr-FR" altLang="fr-FR" u="sng"/>
              <a:t>D</a:t>
            </a:r>
            <a:r>
              <a:rPr lang="fr-FR" altLang="fr-FR"/>
              <a:t>istributed </a:t>
            </a:r>
            <a:r>
              <a:rPr lang="fr-FR" altLang="fr-FR" u="sng"/>
              <a:t>O</a:t>
            </a:r>
            <a:r>
              <a:rPr lang="fr-FR" altLang="fr-FR"/>
              <a:t>bject </a:t>
            </a:r>
            <a:r>
              <a:rPr lang="fr-FR" altLang="fr-FR" u="sng"/>
              <a:t>C</a:t>
            </a:r>
            <a:r>
              <a:rPr lang="fr-FR" altLang="fr-FR"/>
              <a:t>omputing (EDOC), un profil pour le traitement des objets distribués</a:t>
            </a:r>
          </a:p>
          <a:p>
            <a:r>
              <a:rPr lang="fr-FR" altLang="fr-FR"/>
              <a:t>Des plates-formes, par exemple :</a:t>
            </a:r>
          </a:p>
          <a:p>
            <a:pPr lvl="1"/>
            <a:r>
              <a:rPr lang="fr-FR" altLang="fr-FR" u="sng"/>
              <a:t>C</a:t>
            </a:r>
            <a:r>
              <a:rPr lang="fr-FR" altLang="fr-FR"/>
              <a:t>ommon </a:t>
            </a:r>
            <a:r>
              <a:rPr lang="fr-FR" altLang="fr-FR" u="sng"/>
              <a:t>O</a:t>
            </a:r>
            <a:r>
              <a:rPr lang="fr-FR" altLang="fr-FR"/>
              <a:t>bject </a:t>
            </a:r>
            <a:r>
              <a:rPr lang="fr-FR" altLang="fr-FR" u="sng"/>
              <a:t>R</a:t>
            </a:r>
            <a:r>
              <a:rPr lang="fr-FR" altLang="fr-FR"/>
              <a:t>equest </a:t>
            </a:r>
            <a:r>
              <a:rPr lang="fr-FR" altLang="fr-FR" u="sng"/>
              <a:t>B</a:t>
            </a:r>
            <a:r>
              <a:rPr lang="fr-FR" altLang="fr-FR"/>
              <a:t>roker </a:t>
            </a:r>
            <a:r>
              <a:rPr lang="fr-FR" altLang="fr-FR" u="sng"/>
              <a:t>A</a:t>
            </a:r>
            <a:r>
              <a:rPr lang="fr-FR" altLang="fr-FR"/>
              <a:t>rchitecture (CORBA)</a:t>
            </a:r>
          </a:p>
        </p:txBody>
      </p:sp>
    </p:spTree>
    <p:extLst>
      <p:ext uri="{BB962C8B-B14F-4D97-AF65-F5344CB8AC3E}">
        <p14:creationId xmlns:p14="http://schemas.microsoft.com/office/powerpoint/2010/main" val="254177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2000"/>
              </a:spcBef>
            </a:pPr>
            <a:r>
              <a:rPr lang="fr-FR" altLang="fr-FR"/>
              <a:t>Transformation de modèles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400" y="1312863"/>
            <a:ext cx="8599488" cy="2665412"/>
          </a:xfrm>
        </p:spPr>
        <p:txBody>
          <a:bodyPr/>
          <a:lstStyle/>
          <a:p>
            <a:r>
              <a:rPr lang="fr-FR" altLang="fr-FR"/>
              <a:t>En utilisant des informations complémentaires un modèle indépendant des plates-formes (PIM) est transformé en modèle spécifique à une plate-forme (PSM)</a:t>
            </a:r>
          </a:p>
          <a:p>
            <a:pPr lvl="1"/>
            <a:r>
              <a:rPr lang="fr-FR" altLang="fr-FR"/>
              <a:t>La transformation peut être manuelle, par exemple : </a:t>
            </a:r>
          </a:p>
          <a:p>
            <a:pPr lvl="2"/>
            <a:r>
              <a:rPr lang="fr-FR" altLang="fr-FR"/>
              <a:t>Informations complémentaires = Connaissance de Java + Modèle UML des bibliothèques Java</a:t>
            </a:r>
          </a:p>
          <a:p>
            <a:pPr lvl="1"/>
            <a:r>
              <a:rPr lang="fr-FR" altLang="fr-FR"/>
              <a:t>Ou automatique, par exemple :</a:t>
            </a:r>
          </a:p>
          <a:p>
            <a:pPr lvl="2"/>
            <a:r>
              <a:rPr lang="fr-FR" altLang="fr-FR"/>
              <a:t>PSM spécifique à Java généré par un outil de mise en relation automatique</a:t>
            </a:r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blackWhite">
          <a:xfrm>
            <a:off x="4310063" y="3875088"/>
            <a:ext cx="823912" cy="3492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fr-FR" altLang="fr-FR" sz="1600" b="1">
                <a:solidFill>
                  <a:schemeClr val="tx2"/>
                </a:solidFill>
              </a:rPr>
              <a:t>PIM</a:t>
            </a:r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blackWhite">
          <a:xfrm>
            <a:off x="4257675" y="5857875"/>
            <a:ext cx="928688" cy="3492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fr-FR" altLang="fr-FR" sz="1600" b="1">
                <a:solidFill>
                  <a:schemeClr val="tx2"/>
                </a:solidFill>
              </a:rPr>
              <a:t>PSM</a:t>
            </a:r>
          </a:p>
        </p:txBody>
      </p:sp>
      <p:sp>
        <p:nvSpPr>
          <p:cNvPr id="186375" name="Oval 7"/>
          <p:cNvSpPr>
            <a:spLocks noChangeArrowheads="1"/>
          </p:cNvSpPr>
          <p:nvPr/>
        </p:nvSpPr>
        <p:spPr bwMode="blackWhite">
          <a:xfrm>
            <a:off x="3541848" y="4824503"/>
            <a:ext cx="2360342" cy="47607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fr-FR" altLang="fr-FR" sz="1600" b="1">
                <a:solidFill>
                  <a:schemeClr val="tx2"/>
                </a:solidFill>
              </a:rPr>
              <a:t>Transformation</a:t>
            </a:r>
          </a:p>
        </p:txBody>
      </p:sp>
      <p:sp>
        <p:nvSpPr>
          <p:cNvPr id="186378" name="AutoShape 10"/>
          <p:cNvSpPr>
            <a:spLocks noChangeArrowheads="1"/>
          </p:cNvSpPr>
          <p:nvPr/>
        </p:nvSpPr>
        <p:spPr bwMode="blackWhite">
          <a:xfrm>
            <a:off x="4457700" y="5433120"/>
            <a:ext cx="528638" cy="34944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260350" y="6011863"/>
            <a:ext cx="36083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fr-FR">
                <a:solidFill>
                  <a:schemeClr val="tx2"/>
                </a:solidFill>
              </a:rPr>
              <a:t>PIM = Platform-Independent Model</a:t>
            </a:r>
            <a:br>
              <a:rPr lang="en-GB" altLang="fr-FR">
                <a:solidFill>
                  <a:schemeClr val="tx2"/>
                </a:solidFill>
              </a:rPr>
            </a:br>
            <a:r>
              <a:rPr lang="en-GB" altLang="fr-FR">
                <a:solidFill>
                  <a:schemeClr val="tx2"/>
                </a:solidFill>
              </a:rPr>
              <a:t>PSM = Platform-Specific Model</a:t>
            </a:r>
          </a:p>
        </p:txBody>
      </p:sp>
      <p:sp>
        <p:nvSpPr>
          <p:cNvPr id="186380" name="AutoShape 12"/>
          <p:cNvSpPr>
            <a:spLocks noChangeArrowheads="1"/>
          </p:cNvSpPr>
          <p:nvPr/>
        </p:nvSpPr>
        <p:spPr bwMode="blackWhite">
          <a:xfrm>
            <a:off x="4457700" y="4380607"/>
            <a:ext cx="528638" cy="34944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86381" name="AutoShape 13"/>
          <p:cNvSpPr>
            <a:spLocks noChangeArrowheads="1"/>
          </p:cNvSpPr>
          <p:nvPr/>
        </p:nvSpPr>
        <p:spPr bwMode="blackWhite">
          <a:xfrm rot="-18293840">
            <a:off x="5840413" y="4691757"/>
            <a:ext cx="528637" cy="349448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186382" name="Rectangle 14"/>
          <p:cNvSpPr>
            <a:spLocks noChangeArrowheads="1"/>
          </p:cNvSpPr>
          <p:nvPr/>
        </p:nvSpPr>
        <p:spPr bwMode="blackWhite">
          <a:xfrm>
            <a:off x="6384925" y="4351338"/>
            <a:ext cx="577850" cy="3492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fr-FR" altLang="fr-FR" sz="1600" b="1">
                <a:solidFill>
                  <a:schemeClr val="tx2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06556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4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Approches classiques : Le cycle de vie en cascade</a:t>
            </a:r>
          </a:p>
        </p:txBody>
      </p:sp>
      <p:sp>
        <p:nvSpPr>
          <p:cNvPr id="23554" name="Rectangle 7"/>
          <p:cNvSpPr>
            <a:spLocks noGrp="1" noChangeArrowheads="1"/>
          </p:cNvSpPr>
          <p:nvPr>
            <p:ph idx="1"/>
          </p:nvPr>
        </p:nvSpPr>
        <p:spPr bwMode="gray">
          <a:xfrm>
            <a:off x="3449638" y="1312863"/>
            <a:ext cx="5694362" cy="1266825"/>
          </a:xfrm>
        </p:spPr>
        <p:txBody>
          <a:bodyPr/>
          <a:lstStyle/>
          <a:p>
            <a:r>
              <a:rPr lang="fr-FR" smtClean="0"/>
              <a:t>Les phases sont séparées par des transitions</a:t>
            </a:r>
          </a:p>
          <a:p>
            <a:pPr lvl="1"/>
            <a:r>
              <a:rPr lang="fr-FR" smtClean="0"/>
              <a:t>Les retours en arrière sont peu probables</a:t>
            </a:r>
          </a:p>
          <a:p>
            <a:pPr lvl="1"/>
            <a:r>
              <a:rPr lang="fr-FR" smtClean="0"/>
              <a:t>Traditionnellement utilisé pour les gros projets</a:t>
            </a:r>
          </a:p>
          <a:p>
            <a:pPr lvl="1"/>
            <a:r>
              <a:rPr lang="fr-FR" smtClean="0"/>
              <a:t>Exige une documentation importante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gray">
          <a:xfrm>
            <a:off x="833438" y="1858963"/>
            <a:ext cx="1381125" cy="530225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>
                <a:solidFill>
                  <a:schemeClr val="tx2"/>
                </a:solidFill>
              </a:rPr>
              <a:t>Recueil des besoins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gray">
          <a:xfrm>
            <a:off x="2163763" y="2844800"/>
            <a:ext cx="1016000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>
                <a:solidFill>
                  <a:schemeClr val="tx2"/>
                </a:solidFill>
              </a:rPr>
              <a:t>Analyse</a:t>
            </a:r>
          </a:p>
        </p:txBody>
      </p:sp>
      <p:sp>
        <p:nvSpPr>
          <p:cNvPr id="23557" name="Rectangle 5"/>
          <p:cNvSpPr>
            <a:spLocks noChangeArrowheads="1"/>
          </p:cNvSpPr>
          <p:nvPr/>
        </p:nvSpPr>
        <p:spPr bwMode="gray">
          <a:xfrm>
            <a:off x="3005138" y="3616325"/>
            <a:ext cx="1117600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>
                <a:solidFill>
                  <a:schemeClr val="tx2"/>
                </a:solidFill>
              </a:rPr>
              <a:t>Conception</a:t>
            </a:r>
          </a:p>
        </p:txBody>
      </p:sp>
      <p:sp>
        <p:nvSpPr>
          <p:cNvPr id="23558" name="Rectangle 6"/>
          <p:cNvSpPr>
            <a:spLocks noChangeArrowheads="1"/>
          </p:cNvSpPr>
          <p:nvPr/>
        </p:nvSpPr>
        <p:spPr bwMode="gray">
          <a:xfrm>
            <a:off x="3843338" y="4419600"/>
            <a:ext cx="1443037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>
                <a:solidFill>
                  <a:schemeClr val="tx2"/>
                </a:solidFill>
              </a:rPr>
              <a:t>Développement</a:t>
            </a:r>
          </a:p>
        </p:txBody>
      </p:sp>
      <p:sp>
        <p:nvSpPr>
          <p:cNvPr id="23559" name="Rectangle 7"/>
          <p:cNvSpPr>
            <a:spLocks noChangeArrowheads="1"/>
          </p:cNvSpPr>
          <p:nvPr/>
        </p:nvSpPr>
        <p:spPr bwMode="gray">
          <a:xfrm>
            <a:off x="5253038" y="5130800"/>
            <a:ext cx="914400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>
                <a:solidFill>
                  <a:schemeClr val="tx2"/>
                </a:solidFill>
              </a:rPr>
              <a:t>Test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gray">
          <a:xfrm>
            <a:off x="6065838" y="5883275"/>
            <a:ext cx="1290637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fr-FR">
                <a:solidFill>
                  <a:schemeClr val="tx2"/>
                </a:solidFill>
              </a:rPr>
              <a:t>Déploiement</a:t>
            </a:r>
          </a:p>
        </p:txBody>
      </p:sp>
      <p:cxnSp>
        <p:nvCxnSpPr>
          <p:cNvPr id="23561" name="Curved Connector 10"/>
          <p:cNvCxnSpPr>
            <a:cxnSpLocks noChangeShapeType="1"/>
            <a:stCxn id="23555" idx="3"/>
            <a:endCxn id="23556" idx="0"/>
          </p:cNvCxnSpPr>
          <p:nvPr/>
        </p:nvCxnSpPr>
        <p:spPr bwMode="gray">
          <a:xfrm>
            <a:off x="2214563" y="2124075"/>
            <a:ext cx="457200" cy="720725"/>
          </a:xfrm>
          <a:prstGeom prst="curved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3562" name="Curved Connector 10"/>
          <p:cNvCxnSpPr>
            <a:cxnSpLocks noChangeShapeType="1"/>
            <a:stCxn id="23556" idx="3"/>
            <a:endCxn id="23557" idx="0"/>
          </p:cNvCxnSpPr>
          <p:nvPr/>
        </p:nvCxnSpPr>
        <p:spPr bwMode="gray">
          <a:xfrm>
            <a:off x="3179763" y="3003550"/>
            <a:ext cx="384175" cy="612775"/>
          </a:xfrm>
          <a:prstGeom prst="curved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3563" name="Curved Connector 10"/>
          <p:cNvCxnSpPr>
            <a:cxnSpLocks noChangeShapeType="1"/>
            <a:stCxn id="23557" idx="3"/>
            <a:endCxn id="23558" idx="0"/>
          </p:cNvCxnSpPr>
          <p:nvPr/>
        </p:nvCxnSpPr>
        <p:spPr bwMode="gray">
          <a:xfrm>
            <a:off x="4122738" y="3775075"/>
            <a:ext cx="442912" cy="644525"/>
          </a:xfrm>
          <a:prstGeom prst="curved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3564" name="Curved Connector 10"/>
          <p:cNvCxnSpPr>
            <a:cxnSpLocks noChangeShapeType="1"/>
            <a:stCxn id="23558" idx="3"/>
            <a:endCxn id="23559" idx="0"/>
          </p:cNvCxnSpPr>
          <p:nvPr/>
        </p:nvCxnSpPr>
        <p:spPr bwMode="gray">
          <a:xfrm>
            <a:off x="5286375" y="4578350"/>
            <a:ext cx="423863" cy="552450"/>
          </a:xfrm>
          <a:prstGeom prst="curved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3565" name="Curved Connector 10"/>
          <p:cNvCxnSpPr>
            <a:cxnSpLocks noChangeShapeType="1"/>
            <a:stCxn id="23559" idx="3"/>
            <a:endCxn id="23560" idx="0"/>
          </p:cNvCxnSpPr>
          <p:nvPr/>
        </p:nvCxnSpPr>
        <p:spPr bwMode="gray">
          <a:xfrm>
            <a:off x="6167438" y="5289550"/>
            <a:ext cx="544512" cy="593725"/>
          </a:xfrm>
          <a:prstGeom prst="curved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40323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lang="fr-FR" smtClean="0"/>
              <a:t>Questions sur l’approche en cascade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292100" y="1312863"/>
            <a:ext cx="8599488" cy="4124325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dirty="0" smtClean="0"/>
              <a:t>Qu’advient-il des besoins des utilisateurs entre la signature et le déploiement ?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dirty="0" smtClean="0"/>
              <a:t>Laquelle de ces six phases souffre le plus en cas de dépassement des délais ou du budget ?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dirty="0" smtClean="0"/>
              <a:t>Dans cette approche, les gens tendent à intervenir dans une seule des six phases</a:t>
            </a:r>
          </a:p>
          <a:p>
            <a:pPr lvl="1"/>
            <a:r>
              <a:rPr lang="fr-FR" dirty="0" smtClean="0"/>
              <a:t>Exemples : développeur, analyste ou testeur</a:t>
            </a:r>
          </a:p>
          <a:p>
            <a:pPr lvl="1"/>
            <a:r>
              <a:rPr lang="fr-FR" dirty="0" smtClean="0"/>
              <a:t>Cela pose-t-il un problème ?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dirty="0" smtClean="0"/>
              <a:t>Qu’est-ce qui va être réellement testé dans la phase de test ?</a:t>
            </a:r>
          </a:p>
          <a:p>
            <a:pPr lvl="1"/>
            <a:r>
              <a:rPr lang="fr-FR" dirty="0" smtClean="0"/>
              <a:t>Le système dans son entier ?</a:t>
            </a:r>
          </a:p>
          <a:p>
            <a:pPr lvl="1"/>
            <a:r>
              <a:rPr lang="fr-FR" dirty="0" smtClean="0"/>
              <a:t>Chaque composant individuellement ?</a:t>
            </a:r>
          </a:p>
          <a:p>
            <a:pPr lvl="1"/>
            <a:r>
              <a:rPr lang="fr-FR" dirty="0" smtClean="0"/>
              <a:t>Les besoins 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6284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60338"/>
            <a:ext cx="8964612" cy="725487"/>
          </a:xfrm>
        </p:spPr>
        <p:txBody>
          <a:bodyPr/>
          <a:lstStyle/>
          <a:p>
            <a:pPr>
              <a:spcAft>
                <a:spcPts val="300"/>
              </a:spcAft>
            </a:pPr>
            <a:r>
              <a:rPr lang="fr-FR" dirty="0" smtClean="0"/>
              <a:t>Une meilleure prise en compte des tests : Le modèle en V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366712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smtClean="0"/>
              <a:t>Chaque phase de la cascade est validée par des tests spécifiques</a:t>
            </a:r>
            <a:endParaRPr lang="fr-FR" i="1" smtClean="0">
              <a:latin typeface="Century Schoolbook" pitchFamily="18" charset="0"/>
            </a:endParaRPr>
          </a:p>
        </p:txBody>
      </p:sp>
      <p:sp>
        <p:nvSpPr>
          <p:cNvPr id="27651" name="Text Box 53"/>
          <p:cNvSpPr txBox="1">
            <a:spLocks noChangeArrowheads="1"/>
          </p:cNvSpPr>
          <p:nvPr/>
        </p:nvSpPr>
        <p:spPr bwMode="gray">
          <a:xfrm>
            <a:off x="5710238" y="4849813"/>
            <a:ext cx="1101725" cy="430887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Tests du code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gray">
          <a:xfrm>
            <a:off x="274638" y="2298700"/>
            <a:ext cx="13906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>
                <a:solidFill>
                  <a:schemeClr val="tx2"/>
                </a:solidFill>
              </a:rPr>
              <a:t>Recueil des besoins</a:t>
            </a:r>
          </a:p>
        </p:txBody>
      </p:sp>
      <p:pic>
        <p:nvPicPr>
          <p:cNvPr id="27653" name="Picture 5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582738" y="2147888"/>
            <a:ext cx="6953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Text Box 6"/>
          <p:cNvSpPr txBox="1">
            <a:spLocks noChangeArrowheads="1"/>
          </p:cNvSpPr>
          <p:nvPr/>
        </p:nvSpPr>
        <p:spPr bwMode="gray">
          <a:xfrm>
            <a:off x="735013" y="3554413"/>
            <a:ext cx="815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>
                <a:solidFill>
                  <a:schemeClr val="tx2"/>
                </a:solidFill>
              </a:rPr>
              <a:t>Analyse</a:t>
            </a:r>
          </a:p>
        </p:txBody>
      </p:sp>
      <p:pic>
        <p:nvPicPr>
          <p:cNvPr id="27655" name="Picture 7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898650" y="3295650"/>
            <a:ext cx="69532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Picture 8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271713" y="4356100"/>
            <a:ext cx="69532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7" name="Text Box 9"/>
          <p:cNvSpPr txBox="1">
            <a:spLocks noChangeArrowheads="1"/>
          </p:cNvSpPr>
          <p:nvPr/>
        </p:nvSpPr>
        <p:spPr bwMode="gray">
          <a:xfrm>
            <a:off x="1174750" y="4518025"/>
            <a:ext cx="10810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>
                <a:solidFill>
                  <a:schemeClr val="tx2"/>
                </a:solidFill>
              </a:rPr>
              <a:t>Conception</a:t>
            </a:r>
          </a:p>
        </p:txBody>
      </p:sp>
      <p:pic>
        <p:nvPicPr>
          <p:cNvPr id="27658" name="Picture 10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608263" y="5457825"/>
            <a:ext cx="69532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9" name="Text Box 11"/>
          <p:cNvSpPr txBox="1">
            <a:spLocks noChangeArrowheads="1"/>
          </p:cNvSpPr>
          <p:nvPr/>
        </p:nvSpPr>
        <p:spPr bwMode="gray">
          <a:xfrm>
            <a:off x="1838325" y="5637213"/>
            <a:ext cx="804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>
                <a:solidFill>
                  <a:schemeClr val="tx2"/>
                </a:solidFill>
              </a:rPr>
              <a:t>Codage</a:t>
            </a:r>
          </a:p>
        </p:txBody>
      </p:sp>
      <p:grpSp>
        <p:nvGrpSpPr>
          <p:cNvPr id="27660" name="Group 14"/>
          <p:cNvGrpSpPr>
            <a:grpSpLocks/>
          </p:cNvGrpSpPr>
          <p:nvPr/>
        </p:nvGrpSpPr>
        <p:grpSpPr bwMode="gray">
          <a:xfrm>
            <a:off x="2865438" y="2135188"/>
            <a:ext cx="411162" cy="468312"/>
            <a:chOff x="2906" y="1736"/>
            <a:chExt cx="259" cy="295"/>
          </a:xfrm>
        </p:grpSpPr>
        <p:sp>
          <p:nvSpPr>
            <p:cNvPr id="27719" name="Rectangle 13"/>
            <p:cNvSpPr>
              <a:spLocks noChangeArrowheads="1"/>
            </p:cNvSpPr>
            <p:nvPr/>
          </p:nvSpPr>
          <p:spPr bwMode="gray">
            <a:xfrm>
              <a:off x="2906" y="1781"/>
              <a:ext cx="259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27720" name="AutoShape 12"/>
            <p:cNvSpPr>
              <a:spLocks noChangeArrowheads="1"/>
            </p:cNvSpPr>
            <p:nvPr/>
          </p:nvSpPr>
          <p:spPr bwMode="gray">
            <a:xfrm flipV="1">
              <a:off x="2906" y="1736"/>
              <a:ext cx="259" cy="295"/>
            </a:xfrm>
            <a:prstGeom prst="foldedCorner">
              <a:avLst>
                <a:gd name="adj" fmla="val 39245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</p:grpSp>
      <p:grpSp>
        <p:nvGrpSpPr>
          <p:cNvPr id="27661" name="Group 15"/>
          <p:cNvGrpSpPr>
            <a:grpSpLocks/>
          </p:cNvGrpSpPr>
          <p:nvPr/>
        </p:nvGrpSpPr>
        <p:grpSpPr bwMode="gray">
          <a:xfrm>
            <a:off x="3205163" y="3278188"/>
            <a:ext cx="411162" cy="468312"/>
            <a:chOff x="2906" y="1736"/>
            <a:chExt cx="259" cy="295"/>
          </a:xfrm>
        </p:grpSpPr>
        <p:sp>
          <p:nvSpPr>
            <p:cNvPr id="27717" name="Rectangle 16"/>
            <p:cNvSpPr>
              <a:spLocks noChangeArrowheads="1"/>
            </p:cNvSpPr>
            <p:nvPr/>
          </p:nvSpPr>
          <p:spPr bwMode="gray">
            <a:xfrm>
              <a:off x="2906" y="1781"/>
              <a:ext cx="259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27718" name="AutoShape 17"/>
            <p:cNvSpPr>
              <a:spLocks noChangeArrowheads="1"/>
            </p:cNvSpPr>
            <p:nvPr/>
          </p:nvSpPr>
          <p:spPr bwMode="gray">
            <a:xfrm flipV="1">
              <a:off x="2906" y="1736"/>
              <a:ext cx="259" cy="295"/>
            </a:xfrm>
            <a:prstGeom prst="foldedCorner">
              <a:avLst>
                <a:gd name="adj" fmla="val 39245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</p:grpSp>
      <p:grpSp>
        <p:nvGrpSpPr>
          <p:cNvPr id="27662" name="Group 18"/>
          <p:cNvGrpSpPr>
            <a:grpSpLocks/>
          </p:cNvGrpSpPr>
          <p:nvPr/>
        </p:nvGrpSpPr>
        <p:grpSpPr bwMode="gray">
          <a:xfrm>
            <a:off x="3543300" y="4292600"/>
            <a:ext cx="411163" cy="468313"/>
            <a:chOff x="2906" y="1736"/>
            <a:chExt cx="259" cy="295"/>
          </a:xfrm>
        </p:grpSpPr>
        <p:sp>
          <p:nvSpPr>
            <p:cNvPr id="27715" name="Rectangle 19"/>
            <p:cNvSpPr>
              <a:spLocks noChangeArrowheads="1"/>
            </p:cNvSpPr>
            <p:nvPr/>
          </p:nvSpPr>
          <p:spPr bwMode="gray">
            <a:xfrm>
              <a:off x="2906" y="1781"/>
              <a:ext cx="259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27716" name="AutoShape 20"/>
            <p:cNvSpPr>
              <a:spLocks noChangeArrowheads="1"/>
            </p:cNvSpPr>
            <p:nvPr/>
          </p:nvSpPr>
          <p:spPr bwMode="gray">
            <a:xfrm flipV="1">
              <a:off x="2906" y="1736"/>
              <a:ext cx="259" cy="295"/>
            </a:xfrm>
            <a:prstGeom prst="foldedCorner">
              <a:avLst>
                <a:gd name="adj" fmla="val 39245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</p:grpSp>
      <p:sp>
        <p:nvSpPr>
          <p:cNvPr id="27663" name="Text Box 24"/>
          <p:cNvSpPr txBox="1">
            <a:spLocks noChangeArrowheads="1"/>
          </p:cNvSpPr>
          <p:nvPr/>
        </p:nvSpPr>
        <p:spPr bwMode="gray">
          <a:xfrm>
            <a:off x="2405063" y="2536825"/>
            <a:ext cx="1365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Modèle des besoins</a:t>
            </a:r>
          </a:p>
        </p:txBody>
      </p:sp>
      <p:sp>
        <p:nvSpPr>
          <p:cNvPr id="27664" name="Text Box 25"/>
          <p:cNvSpPr txBox="1">
            <a:spLocks noChangeArrowheads="1"/>
          </p:cNvSpPr>
          <p:nvPr/>
        </p:nvSpPr>
        <p:spPr bwMode="gray">
          <a:xfrm>
            <a:off x="2784475" y="3722688"/>
            <a:ext cx="1365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Modèle d’analyse</a:t>
            </a:r>
          </a:p>
        </p:txBody>
      </p:sp>
      <p:sp>
        <p:nvSpPr>
          <p:cNvPr id="27666" name="Text Box 27"/>
          <p:cNvSpPr txBox="1">
            <a:spLocks noChangeArrowheads="1"/>
          </p:cNvSpPr>
          <p:nvPr/>
        </p:nvSpPr>
        <p:spPr bwMode="gray">
          <a:xfrm>
            <a:off x="3708400" y="5822950"/>
            <a:ext cx="8699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Code source</a:t>
            </a:r>
          </a:p>
        </p:txBody>
      </p:sp>
      <p:sp>
        <p:nvSpPr>
          <p:cNvPr id="27667" name="Line 28"/>
          <p:cNvSpPr>
            <a:spLocks noChangeShapeType="1"/>
          </p:cNvSpPr>
          <p:nvPr/>
        </p:nvSpPr>
        <p:spPr bwMode="gray">
          <a:xfrm>
            <a:off x="2363788" y="2416175"/>
            <a:ext cx="419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68" name="Line 29"/>
          <p:cNvSpPr>
            <a:spLocks noChangeShapeType="1"/>
          </p:cNvSpPr>
          <p:nvPr/>
        </p:nvSpPr>
        <p:spPr bwMode="gray">
          <a:xfrm>
            <a:off x="2682875" y="3662363"/>
            <a:ext cx="419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69" name="Line 30"/>
          <p:cNvSpPr>
            <a:spLocks noChangeShapeType="1"/>
          </p:cNvSpPr>
          <p:nvPr/>
        </p:nvSpPr>
        <p:spPr bwMode="gray">
          <a:xfrm>
            <a:off x="3043238" y="4640263"/>
            <a:ext cx="419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70" name="Line 31"/>
          <p:cNvSpPr>
            <a:spLocks noChangeShapeType="1"/>
          </p:cNvSpPr>
          <p:nvPr/>
        </p:nvSpPr>
        <p:spPr bwMode="gray">
          <a:xfrm>
            <a:off x="3413125" y="5737225"/>
            <a:ext cx="419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71" name="Line 32"/>
          <p:cNvSpPr>
            <a:spLocks noChangeShapeType="1"/>
          </p:cNvSpPr>
          <p:nvPr/>
        </p:nvSpPr>
        <p:spPr bwMode="gray">
          <a:xfrm flipH="1">
            <a:off x="2441575" y="2887663"/>
            <a:ext cx="250825" cy="2857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72" name="Line 33"/>
          <p:cNvSpPr>
            <a:spLocks noChangeShapeType="1"/>
          </p:cNvSpPr>
          <p:nvPr/>
        </p:nvSpPr>
        <p:spPr bwMode="gray">
          <a:xfrm flipH="1">
            <a:off x="2846388" y="4067175"/>
            <a:ext cx="250825" cy="2857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73" name="Line 34"/>
          <p:cNvSpPr>
            <a:spLocks noChangeShapeType="1"/>
          </p:cNvSpPr>
          <p:nvPr/>
        </p:nvSpPr>
        <p:spPr bwMode="gray">
          <a:xfrm flipH="1">
            <a:off x="3222625" y="5097463"/>
            <a:ext cx="250825" cy="2857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pic>
        <p:nvPicPr>
          <p:cNvPr id="27674" name="Picture 40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240213" y="2090738"/>
            <a:ext cx="6953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5" name="Text Box 41"/>
          <p:cNvSpPr txBox="1">
            <a:spLocks noChangeArrowheads="1"/>
          </p:cNvSpPr>
          <p:nvPr/>
        </p:nvSpPr>
        <p:spPr bwMode="gray">
          <a:xfrm>
            <a:off x="3581400" y="2730500"/>
            <a:ext cx="2103438" cy="430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Création des tests basés sur les besoins</a:t>
            </a:r>
          </a:p>
        </p:txBody>
      </p:sp>
      <p:grpSp>
        <p:nvGrpSpPr>
          <p:cNvPr id="27676" name="Group 42"/>
          <p:cNvGrpSpPr>
            <a:grpSpLocks/>
          </p:cNvGrpSpPr>
          <p:nvPr/>
        </p:nvGrpSpPr>
        <p:grpSpPr bwMode="gray">
          <a:xfrm>
            <a:off x="5962650" y="2127250"/>
            <a:ext cx="411163" cy="468313"/>
            <a:chOff x="2906" y="1736"/>
            <a:chExt cx="259" cy="295"/>
          </a:xfrm>
        </p:grpSpPr>
        <p:sp>
          <p:nvSpPr>
            <p:cNvPr id="27713" name="Rectangle 43"/>
            <p:cNvSpPr>
              <a:spLocks noChangeArrowheads="1"/>
            </p:cNvSpPr>
            <p:nvPr/>
          </p:nvSpPr>
          <p:spPr bwMode="gray">
            <a:xfrm>
              <a:off x="2906" y="1781"/>
              <a:ext cx="259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27714" name="AutoShape 44"/>
            <p:cNvSpPr>
              <a:spLocks noChangeArrowheads="1"/>
            </p:cNvSpPr>
            <p:nvPr/>
          </p:nvSpPr>
          <p:spPr bwMode="gray">
            <a:xfrm flipV="1">
              <a:off x="2906" y="1736"/>
              <a:ext cx="259" cy="295"/>
            </a:xfrm>
            <a:prstGeom prst="foldedCorner">
              <a:avLst>
                <a:gd name="adj" fmla="val 39245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</p:grpSp>
      <p:sp>
        <p:nvSpPr>
          <p:cNvPr id="27677" name="Text Box 45"/>
          <p:cNvSpPr txBox="1">
            <a:spLocks noChangeArrowheads="1"/>
          </p:cNvSpPr>
          <p:nvPr/>
        </p:nvSpPr>
        <p:spPr bwMode="gray">
          <a:xfrm>
            <a:off x="5419725" y="2597150"/>
            <a:ext cx="1812925" cy="430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Tests d’agrément utilisateur</a:t>
            </a:r>
          </a:p>
        </p:txBody>
      </p:sp>
      <p:sp>
        <p:nvSpPr>
          <p:cNvPr id="27678" name="Line 46"/>
          <p:cNvSpPr>
            <a:spLocks noChangeShapeType="1"/>
          </p:cNvSpPr>
          <p:nvPr/>
        </p:nvSpPr>
        <p:spPr bwMode="gray">
          <a:xfrm>
            <a:off x="3446463" y="2409825"/>
            <a:ext cx="419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79" name="Line 47"/>
          <p:cNvSpPr>
            <a:spLocks noChangeShapeType="1"/>
          </p:cNvSpPr>
          <p:nvPr/>
        </p:nvSpPr>
        <p:spPr bwMode="gray">
          <a:xfrm>
            <a:off x="5259388" y="2392363"/>
            <a:ext cx="4191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81" name="Text Box 49"/>
          <p:cNvSpPr txBox="1">
            <a:spLocks noChangeArrowheads="1"/>
          </p:cNvSpPr>
          <p:nvPr/>
        </p:nvSpPr>
        <p:spPr bwMode="gray">
          <a:xfrm>
            <a:off x="4267200" y="4919663"/>
            <a:ext cx="1554163" cy="646331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Création des tests unitaires et d’intégration</a:t>
            </a:r>
          </a:p>
        </p:txBody>
      </p:sp>
      <p:pic>
        <p:nvPicPr>
          <p:cNvPr id="27680" name="Picture 48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679950" y="4284663"/>
            <a:ext cx="6953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682" name="Group 50"/>
          <p:cNvGrpSpPr>
            <a:grpSpLocks/>
          </p:cNvGrpSpPr>
          <p:nvPr/>
        </p:nvGrpSpPr>
        <p:grpSpPr bwMode="gray">
          <a:xfrm>
            <a:off x="6027738" y="4387850"/>
            <a:ext cx="411162" cy="468313"/>
            <a:chOff x="2906" y="1736"/>
            <a:chExt cx="259" cy="295"/>
          </a:xfrm>
        </p:grpSpPr>
        <p:sp>
          <p:nvSpPr>
            <p:cNvPr id="27711" name="Rectangle 51"/>
            <p:cNvSpPr>
              <a:spLocks noChangeArrowheads="1"/>
            </p:cNvSpPr>
            <p:nvPr/>
          </p:nvSpPr>
          <p:spPr bwMode="gray">
            <a:xfrm>
              <a:off x="2906" y="1781"/>
              <a:ext cx="259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27712" name="AutoShape 52"/>
            <p:cNvSpPr>
              <a:spLocks noChangeArrowheads="1"/>
            </p:cNvSpPr>
            <p:nvPr/>
          </p:nvSpPr>
          <p:spPr bwMode="gray">
            <a:xfrm flipV="1">
              <a:off x="2906" y="1736"/>
              <a:ext cx="259" cy="295"/>
            </a:xfrm>
            <a:prstGeom prst="foldedCorner">
              <a:avLst>
                <a:gd name="adj" fmla="val 39245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</p:grpSp>
      <p:sp>
        <p:nvSpPr>
          <p:cNvPr id="27683" name="Line 54"/>
          <p:cNvSpPr>
            <a:spLocks noChangeShapeType="1"/>
          </p:cNvSpPr>
          <p:nvPr/>
        </p:nvSpPr>
        <p:spPr bwMode="gray">
          <a:xfrm flipV="1">
            <a:off x="4114800" y="4541838"/>
            <a:ext cx="4365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84" name="Line 55"/>
          <p:cNvSpPr>
            <a:spLocks noChangeShapeType="1"/>
          </p:cNvSpPr>
          <p:nvPr/>
        </p:nvSpPr>
        <p:spPr bwMode="gray">
          <a:xfrm>
            <a:off x="5507038" y="4562475"/>
            <a:ext cx="3857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pic>
        <p:nvPicPr>
          <p:cNvPr id="27685" name="Picture 64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480175" y="5310188"/>
            <a:ext cx="6953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86" name="Text Box 65"/>
          <p:cNvSpPr txBox="1">
            <a:spLocks noChangeArrowheads="1"/>
          </p:cNvSpPr>
          <p:nvPr/>
        </p:nvSpPr>
        <p:spPr bwMode="gray">
          <a:xfrm>
            <a:off x="6135688" y="6027738"/>
            <a:ext cx="1412875" cy="215444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dirty="0">
                <a:solidFill>
                  <a:schemeClr val="tx2"/>
                </a:solidFill>
              </a:rPr>
              <a:t>Test </a:t>
            </a:r>
            <a:r>
              <a:rPr lang="fr-FR" dirty="0" smtClean="0">
                <a:solidFill>
                  <a:schemeClr val="tx2"/>
                </a:solidFill>
              </a:rPr>
              <a:t>unitaire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27687" name="Line 66"/>
          <p:cNvSpPr>
            <a:spLocks noChangeShapeType="1"/>
          </p:cNvSpPr>
          <p:nvPr/>
        </p:nvSpPr>
        <p:spPr bwMode="gray">
          <a:xfrm flipV="1">
            <a:off x="4513263" y="5719763"/>
            <a:ext cx="1816100" cy="95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88" name="Line 67"/>
          <p:cNvSpPr>
            <a:spLocks noChangeShapeType="1"/>
          </p:cNvSpPr>
          <p:nvPr/>
        </p:nvSpPr>
        <p:spPr bwMode="gray">
          <a:xfrm>
            <a:off x="6250764" y="5276917"/>
            <a:ext cx="212725" cy="2635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pic>
        <p:nvPicPr>
          <p:cNvPr id="27689" name="Picture 68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940550" y="4156075"/>
            <a:ext cx="695325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90" name="Text Box 69"/>
          <p:cNvSpPr txBox="1">
            <a:spLocks noChangeArrowheads="1"/>
          </p:cNvSpPr>
          <p:nvPr/>
        </p:nvSpPr>
        <p:spPr bwMode="gray">
          <a:xfrm>
            <a:off x="6704013" y="4818063"/>
            <a:ext cx="1190625" cy="430887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Test d’intégration</a:t>
            </a:r>
          </a:p>
        </p:txBody>
      </p:sp>
      <p:sp>
        <p:nvSpPr>
          <p:cNvPr id="27691" name="Line 73"/>
          <p:cNvSpPr>
            <a:spLocks noChangeShapeType="1"/>
          </p:cNvSpPr>
          <p:nvPr/>
        </p:nvSpPr>
        <p:spPr bwMode="gray">
          <a:xfrm flipH="1">
            <a:off x="6511925" y="3454400"/>
            <a:ext cx="731838" cy="95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92" name="Line 74"/>
          <p:cNvSpPr>
            <a:spLocks noChangeShapeType="1"/>
          </p:cNvSpPr>
          <p:nvPr/>
        </p:nvSpPr>
        <p:spPr bwMode="gray">
          <a:xfrm>
            <a:off x="6611938" y="2384425"/>
            <a:ext cx="906462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pic>
        <p:nvPicPr>
          <p:cNvPr id="27693" name="Picture 70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794625" y="1935163"/>
            <a:ext cx="6953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94" name="Picture 70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391400" y="3071813"/>
            <a:ext cx="6953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95" name="Text Box 71"/>
          <p:cNvSpPr txBox="1">
            <a:spLocks noChangeArrowheads="1"/>
          </p:cNvSpPr>
          <p:nvPr/>
        </p:nvSpPr>
        <p:spPr bwMode="gray">
          <a:xfrm>
            <a:off x="7173913" y="3705225"/>
            <a:ext cx="1101725" cy="430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Test du système</a:t>
            </a:r>
          </a:p>
        </p:txBody>
      </p:sp>
      <p:sp>
        <p:nvSpPr>
          <p:cNvPr id="27696" name="Text Box 71"/>
          <p:cNvSpPr txBox="1">
            <a:spLocks noChangeArrowheads="1"/>
          </p:cNvSpPr>
          <p:nvPr/>
        </p:nvSpPr>
        <p:spPr bwMode="gray">
          <a:xfrm>
            <a:off x="7621588" y="2638425"/>
            <a:ext cx="1101725" cy="430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 dirty="0">
                <a:solidFill>
                  <a:schemeClr val="tx2"/>
                </a:solidFill>
              </a:rPr>
              <a:t>Test </a:t>
            </a:r>
            <a:r>
              <a:rPr lang="fr-FR" dirty="0" smtClean="0">
                <a:solidFill>
                  <a:schemeClr val="tx2"/>
                </a:solidFill>
              </a:rPr>
              <a:t>utilisateur</a:t>
            </a:r>
            <a:endParaRPr lang="fr-FR" dirty="0">
              <a:solidFill>
                <a:schemeClr val="tx2"/>
              </a:solidFill>
            </a:endParaRPr>
          </a:p>
        </p:txBody>
      </p:sp>
      <p:sp>
        <p:nvSpPr>
          <p:cNvPr id="27697" name="Line 30"/>
          <p:cNvSpPr>
            <a:spLocks noChangeShapeType="1"/>
          </p:cNvSpPr>
          <p:nvPr/>
        </p:nvSpPr>
        <p:spPr bwMode="gray">
          <a:xfrm>
            <a:off x="6507163" y="4538663"/>
            <a:ext cx="341312" cy="31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grpSp>
        <p:nvGrpSpPr>
          <p:cNvPr id="27698" name="Group 50"/>
          <p:cNvGrpSpPr>
            <a:grpSpLocks/>
          </p:cNvGrpSpPr>
          <p:nvPr/>
        </p:nvGrpSpPr>
        <p:grpSpPr bwMode="gray">
          <a:xfrm>
            <a:off x="5956300" y="3200400"/>
            <a:ext cx="411163" cy="468313"/>
            <a:chOff x="2906" y="1736"/>
            <a:chExt cx="259" cy="295"/>
          </a:xfrm>
        </p:grpSpPr>
        <p:sp>
          <p:nvSpPr>
            <p:cNvPr id="27709" name="Rectangle 51"/>
            <p:cNvSpPr>
              <a:spLocks noChangeArrowheads="1"/>
            </p:cNvSpPr>
            <p:nvPr/>
          </p:nvSpPr>
          <p:spPr bwMode="gray">
            <a:xfrm>
              <a:off x="2906" y="1781"/>
              <a:ext cx="259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27710" name="AutoShape 52"/>
            <p:cNvSpPr>
              <a:spLocks noChangeArrowheads="1"/>
            </p:cNvSpPr>
            <p:nvPr/>
          </p:nvSpPr>
          <p:spPr bwMode="gray">
            <a:xfrm flipV="1">
              <a:off x="2906" y="1736"/>
              <a:ext cx="259" cy="295"/>
            </a:xfrm>
            <a:prstGeom prst="foldedCorner">
              <a:avLst>
                <a:gd name="adj" fmla="val 39245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</p:grpSp>
      <p:sp>
        <p:nvSpPr>
          <p:cNvPr id="27699" name="Text Box 71"/>
          <p:cNvSpPr txBox="1">
            <a:spLocks noChangeArrowheads="1"/>
          </p:cNvSpPr>
          <p:nvPr/>
        </p:nvSpPr>
        <p:spPr bwMode="gray">
          <a:xfrm>
            <a:off x="5610225" y="3806825"/>
            <a:ext cx="1101725" cy="430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Tests système</a:t>
            </a:r>
          </a:p>
        </p:txBody>
      </p:sp>
      <p:sp>
        <p:nvSpPr>
          <p:cNvPr id="27700" name="Line 29"/>
          <p:cNvSpPr>
            <a:spLocks noChangeShapeType="1"/>
          </p:cNvSpPr>
          <p:nvPr/>
        </p:nvSpPr>
        <p:spPr bwMode="gray">
          <a:xfrm flipV="1">
            <a:off x="3770313" y="3495675"/>
            <a:ext cx="527050" cy="31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701" name="Text Box 41"/>
          <p:cNvSpPr txBox="1">
            <a:spLocks noChangeArrowheads="1"/>
          </p:cNvSpPr>
          <p:nvPr/>
        </p:nvSpPr>
        <p:spPr bwMode="gray">
          <a:xfrm>
            <a:off x="4035425" y="3767138"/>
            <a:ext cx="1412875" cy="43088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Création des tests système</a:t>
            </a:r>
          </a:p>
        </p:txBody>
      </p:sp>
      <p:pic>
        <p:nvPicPr>
          <p:cNvPr id="27702" name="Picture 40" descr="cog-icon-picture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4383088" y="3167063"/>
            <a:ext cx="69532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703" name="Line 29"/>
          <p:cNvSpPr>
            <a:spLocks noChangeShapeType="1"/>
          </p:cNvSpPr>
          <p:nvPr/>
        </p:nvSpPr>
        <p:spPr bwMode="gray">
          <a:xfrm>
            <a:off x="5314950" y="3470275"/>
            <a:ext cx="449263" cy="460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grpSp>
        <p:nvGrpSpPr>
          <p:cNvPr id="27704" name="Group 21"/>
          <p:cNvGrpSpPr>
            <a:grpSpLocks/>
          </p:cNvGrpSpPr>
          <p:nvPr/>
        </p:nvGrpSpPr>
        <p:grpSpPr bwMode="gray">
          <a:xfrm>
            <a:off x="3925888" y="5424488"/>
            <a:ext cx="411162" cy="468312"/>
            <a:chOff x="2906" y="1736"/>
            <a:chExt cx="259" cy="295"/>
          </a:xfrm>
        </p:grpSpPr>
        <p:sp>
          <p:nvSpPr>
            <p:cNvPr id="27707" name="Rectangle 22"/>
            <p:cNvSpPr>
              <a:spLocks noChangeArrowheads="1"/>
            </p:cNvSpPr>
            <p:nvPr/>
          </p:nvSpPr>
          <p:spPr bwMode="gray">
            <a:xfrm>
              <a:off x="2906" y="1781"/>
              <a:ext cx="259" cy="20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  <p:sp>
          <p:nvSpPr>
            <p:cNvPr id="27708" name="AutoShape 23"/>
            <p:cNvSpPr>
              <a:spLocks noChangeArrowheads="1"/>
            </p:cNvSpPr>
            <p:nvPr/>
          </p:nvSpPr>
          <p:spPr bwMode="gray">
            <a:xfrm flipV="1">
              <a:off x="2906" y="1736"/>
              <a:ext cx="259" cy="295"/>
            </a:xfrm>
            <a:prstGeom prst="foldedCorner">
              <a:avLst>
                <a:gd name="adj" fmla="val 39245"/>
              </a:avLst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0" hangingPunct="0"/>
              <a:endParaRPr lang="fr-FR">
                <a:solidFill>
                  <a:schemeClr val="tx2"/>
                </a:solidFill>
              </a:endParaRPr>
            </a:p>
          </p:txBody>
        </p:sp>
      </p:grpSp>
      <p:sp>
        <p:nvSpPr>
          <p:cNvPr id="27705" name="Line 66"/>
          <p:cNvSpPr>
            <a:spLocks noChangeShapeType="1"/>
          </p:cNvSpPr>
          <p:nvPr/>
        </p:nvSpPr>
        <p:spPr bwMode="gray">
          <a:xfrm>
            <a:off x="325438" y="3098800"/>
            <a:ext cx="1320800" cy="2743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706" name="Line 66"/>
          <p:cNvSpPr>
            <a:spLocks noChangeShapeType="1"/>
          </p:cNvSpPr>
          <p:nvPr/>
        </p:nvSpPr>
        <p:spPr bwMode="gray">
          <a:xfrm flipV="1">
            <a:off x="7508875" y="3006725"/>
            <a:ext cx="1219200" cy="29067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fr-FR">
              <a:solidFill>
                <a:schemeClr val="tx2"/>
              </a:solidFill>
            </a:endParaRPr>
          </a:p>
        </p:txBody>
      </p:sp>
      <p:sp>
        <p:nvSpPr>
          <p:cNvPr id="27665" name="Text Box 26"/>
          <p:cNvSpPr txBox="1">
            <a:spLocks noChangeArrowheads="1"/>
          </p:cNvSpPr>
          <p:nvPr/>
        </p:nvSpPr>
        <p:spPr bwMode="gray">
          <a:xfrm>
            <a:off x="3376613" y="4684713"/>
            <a:ext cx="10477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r>
              <a:rPr lang="fr-FR">
                <a:solidFill>
                  <a:schemeClr val="tx2"/>
                </a:solidFill>
              </a:rPr>
              <a:t>Modèle de conception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765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lang="fr-FR" smtClean="0"/>
              <a:t>Critique du modèle en V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1681162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dirty="0" smtClean="0"/>
              <a:t>Le cycle de vie du modèle en V implique un passage unique par chaque phase </a:t>
            </a:r>
            <a:r>
              <a:rPr lang="fr-FR" i="1" dirty="0" smtClean="0"/>
              <a:t>via</a:t>
            </a:r>
            <a:r>
              <a:rPr lang="fr-FR" dirty="0" smtClean="0"/>
              <a:t> des transitions bien identifiées</a:t>
            </a:r>
          </a:p>
          <a:p>
            <a:pPr lvl="1"/>
            <a:r>
              <a:rPr lang="fr-FR" dirty="0" smtClean="0"/>
              <a:t>Très proche de la cascade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dirty="0" smtClean="0"/>
              <a:t>Pouvez-vous désormais répondre différemment à certaines questions que vous vous êtes posées au sujet de la cascade 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987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lang="fr-FR" smtClean="0"/>
              <a:t>Développement incrémental et itératif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3506787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dirty="0" smtClean="0"/>
              <a:t>Incrémental</a:t>
            </a:r>
          </a:p>
          <a:p>
            <a:pPr lvl="1"/>
            <a:r>
              <a:rPr lang="fr-FR" dirty="0" smtClean="0"/>
              <a:t>Les parties prenantes valident les besoins par petits lots</a:t>
            </a:r>
          </a:p>
          <a:p>
            <a:pPr lvl="1"/>
            <a:r>
              <a:rPr lang="fr-FR" dirty="0" smtClean="0"/>
              <a:t>Le système se construit petit à petit</a:t>
            </a:r>
          </a:p>
          <a:p>
            <a:r>
              <a:rPr lang="fr-FR" dirty="0" smtClean="0"/>
              <a:t>Itératif</a:t>
            </a:r>
          </a:p>
          <a:p>
            <a:pPr lvl="1"/>
            <a:r>
              <a:rPr lang="fr-FR" dirty="0" smtClean="0"/>
              <a:t>Les parties prenantes choisissent ce qui sera réalisé à l’itération suivante</a:t>
            </a:r>
          </a:p>
          <a:p>
            <a:pPr lvl="1"/>
            <a:r>
              <a:rPr lang="fr-FR" dirty="0" smtClean="0"/>
              <a:t>Chaque itération comprend : recueil de besoins, analyse, conception, développement et test</a:t>
            </a:r>
          </a:p>
          <a:p>
            <a:pPr lvl="1"/>
            <a:r>
              <a:rPr lang="fr-FR" dirty="0" smtClean="0"/>
              <a:t>Chaque itération ajoute de la valeur fonctionnelle au produit fini</a:t>
            </a:r>
          </a:p>
          <a:p>
            <a:pPr lvl="1"/>
            <a:r>
              <a:rPr lang="fr-FR" dirty="0" smtClean="0"/>
              <a:t>On livre les fonctionnalités par ordre de priorité (la plus élevée d’abord)</a:t>
            </a:r>
          </a:p>
          <a:p>
            <a:pPr lvl="2"/>
            <a:r>
              <a:rPr lang="fr-FR" dirty="0" smtClean="0"/>
              <a:t>Si le temps ou le budget vient à manquer, seuls les points les moins critiques restent en suspens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782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Adapter la méthode au projet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292100" y="1312863"/>
            <a:ext cx="8851900" cy="3768725"/>
          </a:xfrm>
        </p:spPr>
        <p:txBody>
          <a:bodyPr/>
          <a:lstStyle/>
          <a:p>
            <a:r>
              <a:rPr lang="fr-FR" dirty="0" smtClean="0"/>
              <a:t>Il existe de nombreuses méthodes itératives de gestion du cycle de vie de développement des logiciels</a:t>
            </a:r>
          </a:p>
          <a:p>
            <a:pPr lvl="1"/>
            <a:r>
              <a:rPr lang="fr-FR" dirty="0" smtClean="0"/>
              <a:t>Le Processus Unifié (</a:t>
            </a:r>
            <a:r>
              <a:rPr lang="fr-FR" dirty="0" err="1" smtClean="0"/>
              <a:t>Unified</a:t>
            </a:r>
            <a:r>
              <a:rPr lang="fr-FR" dirty="0" smtClean="0"/>
              <a:t> </a:t>
            </a:r>
            <a:r>
              <a:rPr lang="fr-FR" dirty="0" err="1" smtClean="0"/>
              <a:t>Process</a:t>
            </a:r>
            <a:r>
              <a:rPr lang="fr-FR" dirty="0" smtClean="0"/>
              <a:t>), utilisé pour les gros projets</a:t>
            </a:r>
          </a:p>
          <a:p>
            <a:pPr lvl="2"/>
            <a:r>
              <a:rPr lang="fr-FR" dirty="0" err="1" smtClean="0"/>
              <a:t>Capability</a:t>
            </a:r>
            <a:r>
              <a:rPr lang="fr-FR" dirty="0" smtClean="0"/>
              <a:t> </a:t>
            </a:r>
            <a:r>
              <a:rPr lang="fr-FR" dirty="0" err="1" smtClean="0"/>
              <a:t>Maturity</a:t>
            </a:r>
            <a:r>
              <a:rPr lang="fr-FR" dirty="0" smtClean="0"/>
              <a:t> Model (CMM), processus de normalisation de la qualité </a:t>
            </a:r>
          </a:p>
          <a:p>
            <a:pPr lvl="1"/>
            <a:r>
              <a:rPr lang="fr-FR" dirty="0" smtClean="0"/>
              <a:t>Des méthodes informelles qui privilégient la productivité et la réactivité au changement</a:t>
            </a:r>
          </a:p>
          <a:p>
            <a:pPr lvl="2"/>
            <a:r>
              <a:rPr lang="fr-FR" dirty="0" smtClean="0"/>
              <a:t>Approches Agiles et semi agiles</a:t>
            </a:r>
          </a:p>
          <a:p>
            <a:pPr lvl="1"/>
            <a:r>
              <a:rPr lang="fr-FR" dirty="0" smtClean="0"/>
              <a:t>Des méthodes personnalisées à mi-chemin entre approches Agile et formelle</a:t>
            </a:r>
          </a:p>
          <a:p>
            <a:r>
              <a:rPr lang="fr-FR" dirty="0" smtClean="0"/>
              <a:t>On doit impérativement adapter la méthode à la taille du projet</a:t>
            </a:r>
          </a:p>
          <a:p>
            <a:pPr lvl="1"/>
            <a:r>
              <a:rPr lang="fr-FR" dirty="0" smtClean="0"/>
              <a:t>Les gros projets logiciels ont en général recours à des méthodes lourdes</a:t>
            </a:r>
          </a:p>
          <a:p>
            <a:pPr lvl="1"/>
            <a:r>
              <a:rPr lang="fr-FR" dirty="0" smtClean="0"/>
              <a:t>L’approche Agile est très efficace sur des petits projets indépendants</a:t>
            </a:r>
          </a:p>
          <a:p>
            <a:pPr lvl="1"/>
            <a:r>
              <a:rPr lang="fr-FR" dirty="0" smtClean="0"/>
              <a:t>Les deux approches utilisent UML</a:t>
            </a:r>
          </a:p>
        </p:txBody>
      </p:sp>
      <p:sp>
        <p:nvSpPr>
          <p:cNvPr id="39939" name="Text Box 4"/>
          <p:cNvSpPr txBox="1">
            <a:spLocks noChangeArrowheads="1"/>
          </p:cNvSpPr>
          <p:nvPr/>
        </p:nvSpPr>
        <p:spPr bwMode="auto">
          <a:xfrm>
            <a:off x="228600" y="6199188"/>
            <a:ext cx="55626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fr-FR" sz="1200">
                <a:solidFill>
                  <a:srgbClr val="000080"/>
                </a:solidFill>
              </a:rPr>
              <a:t>SDLC = Software Development Life Cycle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212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00" name="Rectangle 24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Une démarche lourde : Le Processus Unifié</a:t>
            </a:r>
          </a:p>
        </p:txBody>
      </p:sp>
      <p:sp>
        <p:nvSpPr>
          <p:cNvPr id="33794" name="Rectangle 249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641350"/>
          </a:xfrm>
        </p:spPr>
        <p:txBody>
          <a:bodyPr/>
          <a:lstStyle/>
          <a:p>
            <a:r>
              <a:rPr lang="fr-FR" smtClean="0"/>
              <a:t>Le Processus Unifié (Unified Process – UP) est une approche itérative et incrémentale de grande envergure</a:t>
            </a:r>
          </a:p>
        </p:txBody>
      </p:sp>
      <p:sp>
        <p:nvSpPr>
          <p:cNvPr id="33795" name="Rectangle 4"/>
          <p:cNvSpPr>
            <a:spLocks noChangeArrowheads="1"/>
          </p:cNvSpPr>
          <p:nvPr/>
        </p:nvSpPr>
        <p:spPr bwMode="gray">
          <a:xfrm>
            <a:off x="2755900" y="2363788"/>
            <a:ext cx="4791075" cy="4038600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796" name="Line 5"/>
          <p:cNvSpPr>
            <a:spLocks noChangeShapeType="1"/>
          </p:cNvSpPr>
          <p:nvPr/>
        </p:nvSpPr>
        <p:spPr bwMode="gray">
          <a:xfrm>
            <a:off x="3279775" y="2363788"/>
            <a:ext cx="0" cy="4029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33797" name="Group 6"/>
          <p:cNvGrpSpPr>
            <a:grpSpLocks/>
          </p:cNvGrpSpPr>
          <p:nvPr/>
        </p:nvGrpSpPr>
        <p:grpSpPr bwMode="gray">
          <a:xfrm>
            <a:off x="3803650" y="2363788"/>
            <a:ext cx="19050" cy="4029075"/>
            <a:chOff x="6690" y="4368"/>
            <a:chExt cx="30" cy="6345"/>
          </a:xfrm>
        </p:grpSpPr>
        <p:sp>
          <p:nvSpPr>
            <p:cNvPr id="33956" name="Rectangle 7"/>
            <p:cNvSpPr>
              <a:spLocks noChangeArrowheads="1"/>
            </p:cNvSpPr>
            <p:nvPr/>
          </p:nvSpPr>
          <p:spPr bwMode="gray">
            <a:xfrm>
              <a:off x="6690" y="436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57" name="Rectangle 8"/>
            <p:cNvSpPr>
              <a:spLocks noChangeArrowheads="1"/>
            </p:cNvSpPr>
            <p:nvPr/>
          </p:nvSpPr>
          <p:spPr bwMode="gray">
            <a:xfrm>
              <a:off x="6690" y="457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58" name="Rectangle 9"/>
            <p:cNvSpPr>
              <a:spLocks noChangeArrowheads="1"/>
            </p:cNvSpPr>
            <p:nvPr/>
          </p:nvSpPr>
          <p:spPr bwMode="gray">
            <a:xfrm>
              <a:off x="6690" y="478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59" name="Rectangle 10"/>
            <p:cNvSpPr>
              <a:spLocks noChangeArrowheads="1"/>
            </p:cNvSpPr>
            <p:nvPr/>
          </p:nvSpPr>
          <p:spPr bwMode="gray">
            <a:xfrm>
              <a:off x="6690" y="499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0" name="Rectangle 11"/>
            <p:cNvSpPr>
              <a:spLocks noChangeArrowheads="1"/>
            </p:cNvSpPr>
            <p:nvPr/>
          </p:nvSpPr>
          <p:spPr bwMode="gray">
            <a:xfrm>
              <a:off x="6690" y="520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1" name="Rectangle 12"/>
            <p:cNvSpPr>
              <a:spLocks noChangeArrowheads="1"/>
            </p:cNvSpPr>
            <p:nvPr/>
          </p:nvSpPr>
          <p:spPr bwMode="gray">
            <a:xfrm>
              <a:off x="6690" y="541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2" name="Rectangle 13"/>
            <p:cNvSpPr>
              <a:spLocks noChangeArrowheads="1"/>
            </p:cNvSpPr>
            <p:nvPr/>
          </p:nvSpPr>
          <p:spPr bwMode="gray">
            <a:xfrm>
              <a:off x="6690" y="562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3" name="Rectangle 14"/>
            <p:cNvSpPr>
              <a:spLocks noChangeArrowheads="1"/>
            </p:cNvSpPr>
            <p:nvPr/>
          </p:nvSpPr>
          <p:spPr bwMode="gray">
            <a:xfrm>
              <a:off x="6690" y="583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4" name="Rectangle 15"/>
            <p:cNvSpPr>
              <a:spLocks noChangeArrowheads="1"/>
            </p:cNvSpPr>
            <p:nvPr/>
          </p:nvSpPr>
          <p:spPr bwMode="gray">
            <a:xfrm>
              <a:off x="6690" y="604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5" name="Rectangle 16"/>
            <p:cNvSpPr>
              <a:spLocks noChangeArrowheads="1"/>
            </p:cNvSpPr>
            <p:nvPr/>
          </p:nvSpPr>
          <p:spPr bwMode="gray">
            <a:xfrm>
              <a:off x="6690" y="625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6" name="Rectangle 17"/>
            <p:cNvSpPr>
              <a:spLocks noChangeArrowheads="1"/>
            </p:cNvSpPr>
            <p:nvPr/>
          </p:nvSpPr>
          <p:spPr bwMode="gray">
            <a:xfrm>
              <a:off x="6690" y="646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7" name="Rectangle 18"/>
            <p:cNvSpPr>
              <a:spLocks noChangeArrowheads="1"/>
            </p:cNvSpPr>
            <p:nvPr/>
          </p:nvSpPr>
          <p:spPr bwMode="gray">
            <a:xfrm>
              <a:off x="6690" y="667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8" name="Rectangle 19"/>
            <p:cNvSpPr>
              <a:spLocks noChangeArrowheads="1"/>
            </p:cNvSpPr>
            <p:nvPr/>
          </p:nvSpPr>
          <p:spPr bwMode="gray">
            <a:xfrm>
              <a:off x="6690" y="688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69" name="Rectangle 20"/>
            <p:cNvSpPr>
              <a:spLocks noChangeArrowheads="1"/>
            </p:cNvSpPr>
            <p:nvPr/>
          </p:nvSpPr>
          <p:spPr bwMode="gray">
            <a:xfrm>
              <a:off x="6690" y="709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0" name="Rectangle 21"/>
            <p:cNvSpPr>
              <a:spLocks noChangeArrowheads="1"/>
            </p:cNvSpPr>
            <p:nvPr/>
          </p:nvSpPr>
          <p:spPr bwMode="gray">
            <a:xfrm>
              <a:off x="6690" y="730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1" name="Rectangle 22"/>
            <p:cNvSpPr>
              <a:spLocks noChangeArrowheads="1"/>
            </p:cNvSpPr>
            <p:nvPr/>
          </p:nvSpPr>
          <p:spPr bwMode="gray">
            <a:xfrm>
              <a:off x="6690" y="751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2" name="Rectangle 23"/>
            <p:cNvSpPr>
              <a:spLocks noChangeArrowheads="1"/>
            </p:cNvSpPr>
            <p:nvPr/>
          </p:nvSpPr>
          <p:spPr bwMode="gray">
            <a:xfrm>
              <a:off x="6690" y="772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3" name="Rectangle 24"/>
            <p:cNvSpPr>
              <a:spLocks noChangeArrowheads="1"/>
            </p:cNvSpPr>
            <p:nvPr/>
          </p:nvSpPr>
          <p:spPr bwMode="gray">
            <a:xfrm>
              <a:off x="6690" y="793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4" name="Rectangle 25"/>
            <p:cNvSpPr>
              <a:spLocks noChangeArrowheads="1"/>
            </p:cNvSpPr>
            <p:nvPr/>
          </p:nvSpPr>
          <p:spPr bwMode="gray">
            <a:xfrm>
              <a:off x="6690" y="814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5" name="Rectangle 26"/>
            <p:cNvSpPr>
              <a:spLocks noChangeArrowheads="1"/>
            </p:cNvSpPr>
            <p:nvPr/>
          </p:nvSpPr>
          <p:spPr bwMode="gray">
            <a:xfrm>
              <a:off x="6690" y="835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6" name="Rectangle 27"/>
            <p:cNvSpPr>
              <a:spLocks noChangeArrowheads="1"/>
            </p:cNvSpPr>
            <p:nvPr/>
          </p:nvSpPr>
          <p:spPr bwMode="gray">
            <a:xfrm>
              <a:off x="6690" y="856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7" name="Rectangle 28"/>
            <p:cNvSpPr>
              <a:spLocks noChangeArrowheads="1"/>
            </p:cNvSpPr>
            <p:nvPr/>
          </p:nvSpPr>
          <p:spPr bwMode="gray">
            <a:xfrm>
              <a:off x="6690" y="877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8" name="Rectangle 29"/>
            <p:cNvSpPr>
              <a:spLocks noChangeArrowheads="1"/>
            </p:cNvSpPr>
            <p:nvPr/>
          </p:nvSpPr>
          <p:spPr bwMode="gray">
            <a:xfrm>
              <a:off x="6690" y="898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79" name="Rectangle 30"/>
            <p:cNvSpPr>
              <a:spLocks noChangeArrowheads="1"/>
            </p:cNvSpPr>
            <p:nvPr/>
          </p:nvSpPr>
          <p:spPr bwMode="gray">
            <a:xfrm>
              <a:off x="6690" y="919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80" name="Rectangle 31"/>
            <p:cNvSpPr>
              <a:spLocks noChangeArrowheads="1"/>
            </p:cNvSpPr>
            <p:nvPr/>
          </p:nvSpPr>
          <p:spPr bwMode="gray">
            <a:xfrm>
              <a:off x="6690" y="940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81" name="Rectangle 32"/>
            <p:cNvSpPr>
              <a:spLocks noChangeArrowheads="1"/>
            </p:cNvSpPr>
            <p:nvPr/>
          </p:nvSpPr>
          <p:spPr bwMode="gray">
            <a:xfrm>
              <a:off x="6690" y="961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82" name="Rectangle 33"/>
            <p:cNvSpPr>
              <a:spLocks noChangeArrowheads="1"/>
            </p:cNvSpPr>
            <p:nvPr/>
          </p:nvSpPr>
          <p:spPr bwMode="gray">
            <a:xfrm>
              <a:off x="6690" y="982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83" name="Rectangle 34"/>
            <p:cNvSpPr>
              <a:spLocks noChangeArrowheads="1"/>
            </p:cNvSpPr>
            <p:nvPr/>
          </p:nvSpPr>
          <p:spPr bwMode="gray">
            <a:xfrm>
              <a:off x="6690" y="1003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84" name="Rectangle 35"/>
            <p:cNvSpPr>
              <a:spLocks noChangeArrowheads="1"/>
            </p:cNvSpPr>
            <p:nvPr/>
          </p:nvSpPr>
          <p:spPr bwMode="gray">
            <a:xfrm>
              <a:off x="6690" y="1024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85" name="Rectangle 36"/>
            <p:cNvSpPr>
              <a:spLocks noChangeArrowheads="1"/>
            </p:cNvSpPr>
            <p:nvPr/>
          </p:nvSpPr>
          <p:spPr bwMode="gray">
            <a:xfrm>
              <a:off x="6690" y="1045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86" name="Rectangle 37"/>
            <p:cNvSpPr>
              <a:spLocks noChangeArrowheads="1"/>
            </p:cNvSpPr>
            <p:nvPr/>
          </p:nvSpPr>
          <p:spPr bwMode="gray">
            <a:xfrm>
              <a:off x="6690" y="10668"/>
              <a:ext cx="30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</p:grpSp>
      <p:sp>
        <p:nvSpPr>
          <p:cNvPr id="33798" name="Line 38"/>
          <p:cNvSpPr>
            <a:spLocks noChangeShapeType="1"/>
          </p:cNvSpPr>
          <p:nvPr/>
        </p:nvSpPr>
        <p:spPr bwMode="gray">
          <a:xfrm>
            <a:off x="4346575" y="2363788"/>
            <a:ext cx="0" cy="4029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33799" name="Group 39"/>
          <p:cNvGrpSpPr>
            <a:grpSpLocks/>
          </p:cNvGrpSpPr>
          <p:nvPr/>
        </p:nvGrpSpPr>
        <p:grpSpPr bwMode="gray">
          <a:xfrm>
            <a:off x="4870450" y="2363788"/>
            <a:ext cx="19050" cy="4029075"/>
            <a:chOff x="8370" y="4368"/>
            <a:chExt cx="30" cy="6345"/>
          </a:xfrm>
        </p:grpSpPr>
        <p:sp>
          <p:nvSpPr>
            <p:cNvPr id="33925" name="Rectangle 40"/>
            <p:cNvSpPr>
              <a:spLocks noChangeArrowheads="1"/>
            </p:cNvSpPr>
            <p:nvPr/>
          </p:nvSpPr>
          <p:spPr bwMode="gray">
            <a:xfrm>
              <a:off x="8370" y="436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26" name="Rectangle 41"/>
            <p:cNvSpPr>
              <a:spLocks noChangeArrowheads="1"/>
            </p:cNvSpPr>
            <p:nvPr/>
          </p:nvSpPr>
          <p:spPr bwMode="gray">
            <a:xfrm>
              <a:off x="8370" y="457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27" name="Rectangle 42"/>
            <p:cNvSpPr>
              <a:spLocks noChangeArrowheads="1"/>
            </p:cNvSpPr>
            <p:nvPr/>
          </p:nvSpPr>
          <p:spPr bwMode="gray">
            <a:xfrm>
              <a:off x="8370" y="478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28" name="Rectangle 43"/>
            <p:cNvSpPr>
              <a:spLocks noChangeArrowheads="1"/>
            </p:cNvSpPr>
            <p:nvPr/>
          </p:nvSpPr>
          <p:spPr bwMode="gray">
            <a:xfrm>
              <a:off x="8370" y="499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29" name="Rectangle 44"/>
            <p:cNvSpPr>
              <a:spLocks noChangeArrowheads="1"/>
            </p:cNvSpPr>
            <p:nvPr/>
          </p:nvSpPr>
          <p:spPr bwMode="gray">
            <a:xfrm>
              <a:off x="8370" y="520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0" name="Rectangle 45"/>
            <p:cNvSpPr>
              <a:spLocks noChangeArrowheads="1"/>
            </p:cNvSpPr>
            <p:nvPr/>
          </p:nvSpPr>
          <p:spPr bwMode="gray">
            <a:xfrm>
              <a:off x="8370" y="541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1" name="Rectangle 46"/>
            <p:cNvSpPr>
              <a:spLocks noChangeArrowheads="1"/>
            </p:cNvSpPr>
            <p:nvPr/>
          </p:nvSpPr>
          <p:spPr bwMode="gray">
            <a:xfrm>
              <a:off x="8370" y="562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2" name="Rectangle 47"/>
            <p:cNvSpPr>
              <a:spLocks noChangeArrowheads="1"/>
            </p:cNvSpPr>
            <p:nvPr/>
          </p:nvSpPr>
          <p:spPr bwMode="gray">
            <a:xfrm>
              <a:off x="8370" y="583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3" name="Rectangle 48"/>
            <p:cNvSpPr>
              <a:spLocks noChangeArrowheads="1"/>
            </p:cNvSpPr>
            <p:nvPr/>
          </p:nvSpPr>
          <p:spPr bwMode="gray">
            <a:xfrm>
              <a:off x="8370" y="604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4" name="Rectangle 49"/>
            <p:cNvSpPr>
              <a:spLocks noChangeArrowheads="1"/>
            </p:cNvSpPr>
            <p:nvPr/>
          </p:nvSpPr>
          <p:spPr bwMode="gray">
            <a:xfrm>
              <a:off x="8370" y="625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5" name="Rectangle 50"/>
            <p:cNvSpPr>
              <a:spLocks noChangeArrowheads="1"/>
            </p:cNvSpPr>
            <p:nvPr/>
          </p:nvSpPr>
          <p:spPr bwMode="gray">
            <a:xfrm>
              <a:off x="8370" y="646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6" name="Rectangle 51"/>
            <p:cNvSpPr>
              <a:spLocks noChangeArrowheads="1"/>
            </p:cNvSpPr>
            <p:nvPr/>
          </p:nvSpPr>
          <p:spPr bwMode="gray">
            <a:xfrm>
              <a:off x="8370" y="667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7" name="Rectangle 52"/>
            <p:cNvSpPr>
              <a:spLocks noChangeArrowheads="1"/>
            </p:cNvSpPr>
            <p:nvPr/>
          </p:nvSpPr>
          <p:spPr bwMode="gray">
            <a:xfrm>
              <a:off x="8370" y="688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8" name="Rectangle 53"/>
            <p:cNvSpPr>
              <a:spLocks noChangeArrowheads="1"/>
            </p:cNvSpPr>
            <p:nvPr/>
          </p:nvSpPr>
          <p:spPr bwMode="gray">
            <a:xfrm>
              <a:off x="8370" y="709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39" name="Rectangle 54"/>
            <p:cNvSpPr>
              <a:spLocks noChangeArrowheads="1"/>
            </p:cNvSpPr>
            <p:nvPr/>
          </p:nvSpPr>
          <p:spPr bwMode="gray">
            <a:xfrm>
              <a:off x="8370" y="730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0" name="Rectangle 55"/>
            <p:cNvSpPr>
              <a:spLocks noChangeArrowheads="1"/>
            </p:cNvSpPr>
            <p:nvPr/>
          </p:nvSpPr>
          <p:spPr bwMode="gray">
            <a:xfrm>
              <a:off x="8370" y="751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1" name="Rectangle 56"/>
            <p:cNvSpPr>
              <a:spLocks noChangeArrowheads="1"/>
            </p:cNvSpPr>
            <p:nvPr/>
          </p:nvSpPr>
          <p:spPr bwMode="gray">
            <a:xfrm>
              <a:off x="8370" y="772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2" name="Rectangle 57"/>
            <p:cNvSpPr>
              <a:spLocks noChangeArrowheads="1"/>
            </p:cNvSpPr>
            <p:nvPr/>
          </p:nvSpPr>
          <p:spPr bwMode="gray">
            <a:xfrm>
              <a:off x="8370" y="793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3" name="Rectangle 58"/>
            <p:cNvSpPr>
              <a:spLocks noChangeArrowheads="1"/>
            </p:cNvSpPr>
            <p:nvPr/>
          </p:nvSpPr>
          <p:spPr bwMode="gray">
            <a:xfrm>
              <a:off x="8370" y="814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4" name="Rectangle 59"/>
            <p:cNvSpPr>
              <a:spLocks noChangeArrowheads="1"/>
            </p:cNvSpPr>
            <p:nvPr/>
          </p:nvSpPr>
          <p:spPr bwMode="gray">
            <a:xfrm>
              <a:off x="8370" y="835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5" name="Rectangle 60"/>
            <p:cNvSpPr>
              <a:spLocks noChangeArrowheads="1"/>
            </p:cNvSpPr>
            <p:nvPr/>
          </p:nvSpPr>
          <p:spPr bwMode="gray">
            <a:xfrm>
              <a:off x="8370" y="856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6" name="Rectangle 61"/>
            <p:cNvSpPr>
              <a:spLocks noChangeArrowheads="1"/>
            </p:cNvSpPr>
            <p:nvPr/>
          </p:nvSpPr>
          <p:spPr bwMode="gray">
            <a:xfrm>
              <a:off x="8370" y="877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7" name="Rectangle 62"/>
            <p:cNvSpPr>
              <a:spLocks noChangeArrowheads="1"/>
            </p:cNvSpPr>
            <p:nvPr/>
          </p:nvSpPr>
          <p:spPr bwMode="gray">
            <a:xfrm>
              <a:off x="8370" y="898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8" name="Rectangle 63"/>
            <p:cNvSpPr>
              <a:spLocks noChangeArrowheads="1"/>
            </p:cNvSpPr>
            <p:nvPr/>
          </p:nvSpPr>
          <p:spPr bwMode="gray">
            <a:xfrm>
              <a:off x="8370" y="919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49" name="Rectangle 64"/>
            <p:cNvSpPr>
              <a:spLocks noChangeArrowheads="1"/>
            </p:cNvSpPr>
            <p:nvPr/>
          </p:nvSpPr>
          <p:spPr bwMode="gray">
            <a:xfrm>
              <a:off x="8370" y="940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50" name="Rectangle 65"/>
            <p:cNvSpPr>
              <a:spLocks noChangeArrowheads="1"/>
            </p:cNvSpPr>
            <p:nvPr/>
          </p:nvSpPr>
          <p:spPr bwMode="gray">
            <a:xfrm>
              <a:off x="8370" y="961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51" name="Rectangle 66"/>
            <p:cNvSpPr>
              <a:spLocks noChangeArrowheads="1"/>
            </p:cNvSpPr>
            <p:nvPr/>
          </p:nvSpPr>
          <p:spPr bwMode="gray">
            <a:xfrm>
              <a:off x="8370" y="982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52" name="Rectangle 67"/>
            <p:cNvSpPr>
              <a:spLocks noChangeArrowheads="1"/>
            </p:cNvSpPr>
            <p:nvPr/>
          </p:nvSpPr>
          <p:spPr bwMode="gray">
            <a:xfrm>
              <a:off x="8370" y="1003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53" name="Rectangle 68"/>
            <p:cNvSpPr>
              <a:spLocks noChangeArrowheads="1"/>
            </p:cNvSpPr>
            <p:nvPr/>
          </p:nvSpPr>
          <p:spPr bwMode="gray">
            <a:xfrm>
              <a:off x="8370" y="1024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54" name="Rectangle 69"/>
            <p:cNvSpPr>
              <a:spLocks noChangeArrowheads="1"/>
            </p:cNvSpPr>
            <p:nvPr/>
          </p:nvSpPr>
          <p:spPr bwMode="gray">
            <a:xfrm>
              <a:off x="8370" y="1045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55" name="Rectangle 70"/>
            <p:cNvSpPr>
              <a:spLocks noChangeArrowheads="1"/>
            </p:cNvSpPr>
            <p:nvPr/>
          </p:nvSpPr>
          <p:spPr bwMode="gray">
            <a:xfrm>
              <a:off x="8370" y="10668"/>
              <a:ext cx="30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</p:grpSp>
      <p:sp>
        <p:nvSpPr>
          <p:cNvPr id="33800" name="Line 71"/>
          <p:cNvSpPr>
            <a:spLocks noChangeShapeType="1"/>
          </p:cNvSpPr>
          <p:nvPr/>
        </p:nvSpPr>
        <p:spPr bwMode="gray">
          <a:xfrm>
            <a:off x="5413375" y="2363788"/>
            <a:ext cx="0" cy="4029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01" name="Line 72"/>
          <p:cNvSpPr>
            <a:spLocks noChangeShapeType="1"/>
          </p:cNvSpPr>
          <p:nvPr/>
        </p:nvSpPr>
        <p:spPr bwMode="gray">
          <a:xfrm>
            <a:off x="5937250" y="2363788"/>
            <a:ext cx="0" cy="4029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33802" name="Group 73"/>
          <p:cNvGrpSpPr>
            <a:grpSpLocks/>
          </p:cNvGrpSpPr>
          <p:nvPr/>
        </p:nvGrpSpPr>
        <p:grpSpPr bwMode="gray">
          <a:xfrm>
            <a:off x="6461125" y="2363788"/>
            <a:ext cx="19050" cy="4029075"/>
            <a:chOff x="10875" y="4368"/>
            <a:chExt cx="30" cy="6345"/>
          </a:xfrm>
        </p:grpSpPr>
        <p:sp>
          <p:nvSpPr>
            <p:cNvPr id="33894" name="Rectangle 74"/>
            <p:cNvSpPr>
              <a:spLocks noChangeArrowheads="1"/>
            </p:cNvSpPr>
            <p:nvPr/>
          </p:nvSpPr>
          <p:spPr bwMode="gray">
            <a:xfrm>
              <a:off x="10875" y="436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895" name="Rectangle 75"/>
            <p:cNvSpPr>
              <a:spLocks noChangeArrowheads="1"/>
            </p:cNvSpPr>
            <p:nvPr/>
          </p:nvSpPr>
          <p:spPr bwMode="gray">
            <a:xfrm>
              <a:off x="10875" y="457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896" name="Rectangle 76"/>
            <p:cNvSpPr>
              <a:spLocks noChangeArrowheads="1"/>
            </p:cNvSpPr>
            <p:nvPr/>
          </p:nvSpPr>
          <p:spPr bwMode="gray">
            <a:xfrm>
              <a:off x="10875" y="478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897" name="Rectangle 77"/>
            <p:cNvSpPr>
              <a:spLocks noChangeArrowheads="1"/>
            </p:cNvSpPr>
            <p:nvPr/>
          </p:nvSpPr>
          <p:spPr bwMode="gray">
            <a:xfrm>
              <a:off x="10875" y="499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898" name="Rectangle 78"/>
            <p:cNvSpPr>
              <a:spLocks noChangeArrowheads="1"/>
            </p:cNvSpPr>
            <p:nvPr/>
          </p:nvSpPr>
          <p:spPr bwMode="gray">
            <a:xfrm>
              <a:off x="10875" y="520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899" name="Rectangle 79"/>
            <p:cNvSpPr>
              <a:spLocks noChangeArrowheads="1"/>
            </p:cNvSpPr>
            <p:nvPr/>
          </p:nvSpPr>
          <p:spPr bwMode="gray">
            <a:xfrm>
              <a:off x="10875" y="541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0" name="Rectangle 80"/>
            <p:cNvSpPr>
              <a:spLocks noChangeArrowheads="1"/>
            </p:cNvSpPr>
            <p:nvPr/>
          </p:nvSpPr>
          <p:spPr bwMode="gray">
            <a:xfrm>
              <a:off x="10875" y="562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1" name="Rectangle 81"/>
            <p:cNvSpPr>
              <a:spLocks noChangeArrowheads="1"/>
            </p:cNvSpPr>
            <p:nvPr/>
          </p:nvSpPr>
          <p:spPr bwMode="gray">
            <a:xfrm>
              <a:off x="10875" y="583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2" name="Rectangle 82"/>
            <p:cNvSpPr>
              <a:spLocks noChangeArrowheads="1"/>
            </p:cNvSpPr>
            <p:nvPr/>
          </p:nvSpPr>
          <p:spPr bwMode="gray">
            <a:xfrm>
              <a:off x="10875" y="604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3" name="Rectangle 83"/>
            <p:cNvSpPr>
              <a:spLocks noChangeArrowheads="1"/>
            </p:cNvSpPr>
            <p:nvPr/>
          </p:nvSpPr>
          <p:spPr bwMode="gray">
            <a:xfrm>
              <a:off x="10875" y="625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4" name="Rectangle 84"/>
            <p:cNvSpPr>
              <a:spLocks noChangeArrowheads="1"/>
            </p:cNvSpPr>
            <p:nvPr/>
          </p:nvSpPr>
          <p:spPr bwMode="gray">
            <a:xfrm>
              <a:off x="10875" y="646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5" name="Rectangle 85"/>
            <p:cNvSpPr>
              <a:spLocks noChangeArrowheads="1"/>
            </p:cNvSpPr>
            <p:nvPr/>
          </p:nvSpPr>
          <p:spPr bwMode="gray">
            <a:xfrm>
              <a:off x="10875" y="667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6" name="Rectangle 86"/>
            <p:cNvSpPr>
              <a:spLocks noChangeArrowheads="1"/>
            </p:cNvSpPr>
            <p:nvPr/>
          </p:nvSpPr>
          <p:spPr bwMode="gray">
            <a:xfrm>
              <a:off x="10875" y="688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7" name="Rectangle 87"/>
            <p:cNvSpPr>
              <a:spLocks noChangeArrowheads="1"/>
            </p:cNvSpPr>
            <p:nvPr/>
          </p:nvSpPr>
          <p:spPr bwMode="gray">
            <a:xfrm>
              <a:off x="10875" y="709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8" name="Rectangle 88"/>
            <p:cNvSpPr>
              <a:spLocks noChangeArrowheads="1"/>
            </p:cNvSpPr>
            <p:nvPr/>
          </p:nvSpPr>
          <p:spPr bwMode="gray">
            <a:xfrm>
              <a:off x="10875" y="730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09" name="Rectangle 89"/>
            <p:cNvSpPr>
              <a:spLocks noChangeArrowheads="1"/>
            </p:cNvSpPr>
            <p:nvPr/>
          </p:nvSpPr>
          <p:spPr bwMode="gray">
            <a:xfrm>
              <a:off x="10875" y="751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0" name="Rectangle 90"/>
            <p:cNvSpPr>
              <a:spLocks noChangeArrowheads="1"/>
            </p:cNvSpPr>
            <p:nvPr/>
          </p:nvSpPr>
          <p:spPr bwMode="gray">
            <a:xfrm>
              <a:off x="10875" y="772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1" name="Rectangle 91"/>
            <p:cNvSpPr>
              <a:spLocks noChangeArrowheads="1"/>
            </p:cNvSpPr>
            <p:nvPr/>
          </p:nvSpPr>
          <p:spPr bwMode="gray">
            <a:xfrm>
              <a:off x="10875" y="793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2" name="Rectangle 92"/>
            <p:cNvSpPr>
              <a:spLocks noChangeArrowheads="1"/>
            </p:cNvSpPr>
            <p:nvPr/>
          </p:nvSpPr>
          <p:spPr bwMode="gray">
            <a:xfrm>
              <a:off x="10875" y="814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3" name="Rectangle 93"/>
            <p:cNvSpPr>
              <a:spLocks noChangeArrowheads="1"/>
            </p:cNvSpPr>
            <p:nvPr/>
          </p:nvSpPr>
          <p:spPr bwMode="gray">
            <a:xfrm>
              <a:off x="10875" y="835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4" name="Rectangle 94"/>
            <p:cNvSpPr>
              <a:spLocks noChangeArrowheads="1"/>
            </p:cNvSpPr>
            <p:nvPr/>
          </p:nvSpPr>
          <p:spPr bwMode="gray">
            <a:xfrm>
              <a:off x="10875" y="856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5" name="Rectangle 95"/>
            <p:cNvSpPr>
              <a:spLocks noChangeArrowheads="1"/>
            </p:cNvSpPr>
            <p:nvPr/>
          </p:nvSpPr>
          <p:spPr bwMode="gray">
            <a:xfrm>
              <a:off x="10875" y="877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6" name="Rectangle 96"/>
            <p:cNvSpPr>
              <a:spLocks noChangeArrowheads="1"/>
            </p:cNvSpPr>
            <p:nvPr/>
          </p:nvSpPr>
          <p:spPr bwMode="gray">
            <a:xfrm>
              <a:off x="10875" y="898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7" name="Rectangle 97"/>
            <p:cNvSpPr>
              <a:spLocks noChangeArrowheads="1"/>
            </p:cNvSpPr>
            <p:nvPr/>
          </p:nvSpPr>
          <p:spPr bwMode="gray">
            <a:xfrm>
              <a:off x="10875" y="919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8" name="Rectangle 98"/>
            <p:cNvSpPr>
              <a:spLocks noChangeArrowheads="1"/>
            </p:cNvSpPr>
            <p:nvPr/>
          </p:nvSpPr>
          <p:spPr bwMode="gray">
            <a:xfrm>
              <a:off x="10875" y="940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19" name="Rectangle 99"/>
            <p:cNvSpPr>
              <a:spLocks noChangeArrowheads="1"/>
            </p:cNvSpPr>
            <p:nvPr/>
          </p:nvSpPr>
          <p:spPr bwMode="gray">
            <a:xfrm>
              <a:off x="10875" y="961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20" name="Rectangle 100"/>
            <p:cNvSpPr>
              <a:spLocks noChangeArrowheads="1"/>
            </p:cNvSpPr>
            <p:nvPr/>
          </p:nvSpPr>
          <p:spPr bwMode="gray">
            <a:xfrm>
              <a:off x="10875" y="982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21" name="Rectangle 101"/>
            <p:cNvSpPr>
              <a:spLocks noChangeArrowheads="1"/>
            </p:cNvSpPr>
            <p:nvPr/>
          </p:nvSpPr>
          <p:spPr bwMode="gray">
            <a:xfrm>
              <a:off x="10875" y="1003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22" name="Rectangle 102"/>
            <p:cNvSpPr>
              <a:spLocks noChangeArrowheads="1"/>
            </p:cNvSpPr>
            <p:nvPr/>
          </p:nvSpPr>
          <p:spPr bwMode="gray">
            <a:xfrm>
              <a:off x="10875" y="1024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23" name="Rectangle 103"/>
            <p:cNvSpPr>
              <a:spLocks noChangeArrowheads="1"/>
            </p:cNvSpPr>
            <p:nvPr/>
          </p:nvSpPr>
          <p:spPr bwMode="gray">
            <a:xfrm>
              <a:off x="10875" y="10458"/>
              <a:ext cx="30" cy="12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  <p:sp>
          <p:nvSpPr>
            <p:cNvPr id="33924" name="Rectangle 104"/>
            <p:cNvSpPr>
              <a:spLocks noChangeArrowheads="1"/>
            </p:cNvSpPr>
            <p:nvPr/>
          </p:nvSpPr>
          <p:spPr bwMode="gray">
            <a:xfrm>
              <a:off x="10875" y="10668"/>
              <a:ext cx="30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hangingPunct="0"/>
              <a:endParaRPr lang="fr-FR"/>
            </a:p>
          </p:txBody>
        </p:sp>
      </p:grpSp>
      <p:sp>
        <p:nvSpPr>
          <p:cNvPr id="33803" name="Line 105"/>
          <p:cNvSpPr>
            <a:spLocks noChangeShapeType="1"/>
          </p:cNvSpPr>
          <p:nvPr/>
        </p:nvSpPr>
        <p:spPr bwMode="gray">
          <a:xfrm>
            <a:off x="7004050" y="2363788"/>
            <a:ext cx="0" cy="4029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04" name="Rectangle 106"/>
          <p:cNvSpPr>
            <a:spLocks noChangeArrowheads="1"/>
          </p:cNvSpPr>
          <p:nvPr/>
        </p:nvSpPr>
        <p:spPr bwMode="gray">
          <a:xfrm>
            <a:off x="2755900" y="2058988"/>
            <a:ext cx="10668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05" name="Rectangle 107"/>
          <p:cNvSpPr>
            <a:spLocks noChangeArrowheads="1"/>
          </p:cNvSpPr>
          <p:nvPr/>
        </p:nvSpPr>
        <p:spPr bwMode="gray">
          <a:xfrm>
            <a:off x="2984500" y="1941513"/>
            <a:ext cx="7175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dirty="0"/>
              <a:t>Amorçage</a:t>
            </a:r>
            <a:br>
              <a:rPr lang="fr-FR" sz="1200" dirty="0"/>
            </a:br>
            <a:r>
              <a:rPr lang="fr-FR" sz="1200" dirty="0"/>
              <a:t>(Inception)</a:t>
            </a:r>
          </a:p>
        </p:txBody>
      </p:sp>
      <p:sp>
        <p:nvSpPr>
          <p:cNvPr id="33806" name="Rectangle 108"/>
          <p:cNvSpPr>
            <a:spLocks noChangeArrowheads="1"/>
          </p:cNvSpPr>
          <p:nvPr/>
        </p:nvSpPr>
        <p:spPr bwMode="gray">
          <a:xfrm>
            <a:off x="3603625" y="2106613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 </a:t>
            </a:r>
          </a:p>
        </p:txBody>
      </p:sp>
      <p:sp>
        <p:nvSpPr>
          <p:cNvPr id="33807" name="Rectangle 109"/>
          <p:cNvSpPr>
            <a:spLocks noChangeArrowheads="1"/>
          </p:cNvSpPr>
          <p:nvPr/>
        </p:nvSpPr>
        <p:spPr bwMode="gray">
          <a:xfrm>
            <a:off x="3813175" y="2058988"/>
            <a:ext cx="10763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08" name="Rectangle 110"/>
          <p:cNvSpPr>
            <a:spLocks noChangeArrowheads="1"/>
          </p:cNvSpPr>
          <p:nvPr/>
        </p:nvSpPr>
        <p:spPr bwMode="gray">
          <a:xfrm>
            <a:off x="3965575" y="2106613"/>
            <a:ext cx="7667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Élaboration</a:t>
            </a:r>
          </a:p>
        </p:txBody>
      </p:sp>
      <p:sp>
        <p:nvSpPr>
          <p:cNvPr id="33809" name="Rectangle 111"/>
          <p:cNvSpPr>
            <a:spLocks noChangeArrowheads="1"/>
          </p:cNvSpPr>
          <p:nvPr/>
        </p:nvSpPr>
        <p:spPr bwMode="gray">
          <a:xfrm>
            <a:off x="4737100" y="2106613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 </a:t>
            </a:r>
          </a:p>
        </p:txBody>
      </p:sp>
      <p:sp>
        <p:nvSpPr>
          <p:cNvPr id="33810" name="Rectangle 112"/>
          <p:cNvSpPr>
            <a:spLocks noChangeArrowheads="1"/>
          </p:cNvSpPr>
          <p:nvPr/>
        </p:nvSpPr>
        <p:spPr bwMode="gray">
          <a:xfrm>
            <a:off x="5184775" y="2058988"/>
            <a:ext cx="10668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11" name="Rectangle 113"/>
          <p:cNvSpPr>
            <a:spLocks noChangeArrowheads="1"/>
          </p:cNvSpPr>
          <p:nvPr/>
        </p:nvSpPr>
        <p:spPr bwMode="gray">
          <a:xfrm>
            <a:off x="5289550" y="2106613"/>
            <a:ext cx="8524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Construction</a:t>
            </a:r>
          </a:p>
        </p:txBody>
      </p:sp>
      <p:sp>
        <p:nvSpPr>
          <p:cNvPr id="33812" name="Rectangle 114"/>
          <p:cNvSpPr>
            <a:spLocks noChangeArrowheads="1"/>
          </p:cNvSpPr>
          <p:nvPr/>
        </p:nvSpPr>
        <p:spPr bwMode="gray">
          <a:xfrm>
            <a:off x="6146800" y="2106613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 </a:t>
            </a:r>
          </a:p>
        </p:txBody>
      </p:sp>
      <p:sp>
        <p:nvSpPr>
          <p:cNvPr id="33813" name="Rectangle 115"/>
          <p:cNvSpPr>
            <a:spLocks noChangeArrowheads="1"/>
          </p:cNvSpPr>
          <p:nvPr/>
        </p:nvSpPr>
        <p:spPr bwMode="gray">
          <a:xfrm>
            <a:off x="6470650" y="2058988"/>
            <a:ext cx="10763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14" name="Rectangle 116"/>
          <p:cNvSpPr>
            <a:spLocks noChangeArrowheads="1"/>
          </p:cNvSpPr>
          <p:nvPr/>
        </p:nvSpPr>
        <p:spPr bwMode="gray">
          <a:xfrm>
            <a:off x="6670675" y="2106613"/>
            <a:ext cx="66675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Transition</a:t>
            </a:r>
          </a:p>
        </p:txBody>
      </p:sp>
      <p:sp>
        <p:nvSpPr>
          <p:cNvPr id="33815" name="Rectangle 117"/>
          <p:cNvSpPr>
            <a:spLocks noChangeArrowheads="1"/>
          </p:cNvSpPr>
          <p:nvPr/>
        </p:nvSpPr>
        <p:spPr bwMode="gray">
          <a:xfrm>
            <a:off x="7346950" y="2106613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 </a:t>
            </a:r>
          </a:p>
        </p:txBody>
      </p:sp>
      <p:sp>
        <p:nvSpPr>
          <p:cNvPr id="33816" name="Rectangle 118"/>
          <p:cNvSpPr>
            <a:spLocks noChangeArrowheads="1"/>
          </p:cNvSpPr>
          <p:nvPr/>
        </p:nvSpPr>
        <p:spPr bwMode="gray">
          <a:xfrm>
            <a:off x="1536700" y="5478463"/>
            <a:ext cx="10763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17" name="Rectangle 119"/>
          <p:cNvSpPr>
            <a:spLocks noChangeArrowheads="1"/>
          </p:cNvSpPr>
          <p:nvPr/>
        </p:nvSpPr>
        <p:spPr bwMode="gray">
          <a:xfrm>
            <a:off x="1927225" y="5526088"/>
            <a:ext cx="296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Test</a:t>
            </a:r>
          </a:p>
        </p:txBody>
      </p:sp>
      <p:sp>
        <p:nvSpPr>
          <p:cNvPr id="33818" name="Rectangle 120"/>
          <p:cNvSpPr>
            <a:spLocks noChangeArrowheads="1"/>
          </p:cNvSpPr>
          <p:nvPr/>
        </p:nvSpPr>
        <p:spPr bwMode="gray">
          <a:xfrm>
            <a:off x="2222500" y="55260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 </a:t>
            </a:r>
          </a:p>
        </p:txBody>
      </p:sp>
      <p:sp>
        <p:nvSpPr>
          <p:cNvPr id="33819" name="Rectangle 121"/>
          <p:cNvSpPr>
            <a:spLocks noChangeArrowheads="1"/>
          </p:cNvSpPr>
          <p:nvPr/>
        </p:nvSpPr>
        <p:spPr bwMode="gray">
          <a:xfrm>
            <a:off x="1460500" y="4773613"/>
            <a:ext cx="12287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20" name="Rectangle 122"/>
          <p:cNvSpPr>
            <a:spLocks noChangeArrowheads="1"/>
          </p:cNvSpPr>
          <p:nvPr/>
        </p:nvSpPr>
        <p:spPr bwMode="gray">
          <a:xfrm>
            <a:off x="1708150" y="4821238"/>
            <a:ext cx="7493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Réalisation</a:t>
            </a:r>
          </a:p>
        </p:txBody>
      </p:sp>
      <p:sp>
        <p:nvSpPr>
          <p:cNvPr id="33821" name="Rectangle 123"/>
          <p:cNvSpPr>
            <a:spLocks noChangeArrowheads="1"/>
          </p:cNvSpPr>
          <p:nvPr/>
        </p:nvSpPr>
        <p:spPr bwMode="gray">
          <a:xfrm>
            <a:off x="1536700" y="4068763"/>
            <a:ext cx="10763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22" name="Rectangle 124"/>
          <p:cNvSpPr>
            <a:spLocks noChangeArrowheads="1"/>
          </p:cNvSpPr>
          <p:nvPr/>
        </p:nvSpPr>
        <p:spPr bwMode="gray">
          <a:xfrm>
            <a:off x="1692275" y="4116388"/>
            <a:ext cx="7667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Conception</a:t>
            </a:r>
          </a:p>
        </p:txBody>
      </p:sp>
      <p:sp>
        <p:nvSpPr>
          <p:cNvPr id="33823" name="Rectangle 125"/>
          <p:cNvSpPr>
            <a:spLocks noChangeArrowheads="1"/>
          </p:cNvSpPr>
          <p:nvPr/>
        </p:nvSpPr>
        <p:spPr bwMode="gray">
          <a:xfrm>
            <a:off x="2308225" y="41163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 </a:t>
            </a:r>
          </a:p>
        </p:txBody>
      </p:sp>
      <p:sp>
        <p:nvSpPr>
          <p:cNvPr id="33824" name="Rectangle 126"/>
          <p:cNvSpPr>
            <a:spLocks noChangeArrowheads="1"/>
          </p:cNvSpPr>
          <p:nvPr/>
        </p:nvSpPr>
        <p:spPr bwMode="gray">
          <a:xfrm>
            <a:off x="1536700" y="3373438"/>
            <a:ext cx="10763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25" name="Rectangle 127"/>
          <p:cNvSpPr>
            <a:spLocks noChangeArrowheads="1"/>
          </p:cNvSpPr>
          <p:nvPr/>
        </p:nvSpPr>
        <p:spPr bwMode="gray">
          <a:xfrm>
            <a:off x="1784350" y="3411538"/>
            <a:ext cx="53975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Analyse</a:t>
            </a:r>
          </a:p>
        </p:txBody>
      </p:sp>
      <p:sp>
        <p:nvSpPr>
          <p:cNvPr id="33826" name="Rectangle 128"/>
          <p:cNvSpPr>
            <a:spLocks noChangeArrowheads="1"/>
          </p:cNvSpPr>
          <p:nvPr/>
        </p:nvSpPr>
        <p:spPr bwMode="gray">
          <a:xfrm>
            <a:off x="2355850" y="341153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 </a:t>
            </a:r>
          </a:p>
        </p:txBody>
      </p:sp>
      <p:sp>
        <p:nvSpPr>
          <p:cNvPr id="33827" name="Rectangle 129"/>
          <p:cNvSpPr>
            <a:spLocks noChangeArrowheads="1"/>
          </p:cNvSpPr>
          <p:nvPr/>
        </p:nvSpPr>
        <p:spPr bwMode="gray">
          <a:xfrm>
            <a:off x="1460500" y="2668588"/>
            <a:ext cx="12287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28" name="Rectangle 130"/>
          <p:cNvSpPr>
            <a:spLocks noChangeArrowheads="1"/>
          </p:cNvSpPr>
          <p:nvPr/>
        </p:nvSpPr>
        <p:spPr bwMode="gray">
          <a:xfrm>
            <a:off x="1784350" y="2716213"/>
            <a:ext cx="53975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Besoins</a:t>
            </a:r>
          </a:p>
        </p:txBody>
      </p:sp>
      <p:sp>
        <p:nvSpPr>
          <p:cNvPr id="33829" name="Rectangle 131"/>
          <p:cNvSpPr>
            <a:spLocks noChangeArrowheads="1"/>
          </p:cNvSpPr>
          <p:nvPr/>
        </p:nvSpPr>
        <p:spPr bwMode="gray">
          <a:xfrm>
            <a:off x="2546350" y="2716213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/>
              <a:t> </a:t>
            </a:r>
          </a:p>
        </p:txBody>
      </p:sp>
      <p:grpSp>
        <p:nvGrpSpPr>
          <p:cNvPr id="33830" name="Group 132"/>
          <p:cNvGrpSpPr>
            <a:grpSpLocks/>
          </p:cNvGrpSpPr>
          <p:nvPr/>
        </p:nvGrpSpPr>
        <p:grpSpPr bwMode="gray">
          <a:xfrm>
            <a:off x="2755900" y="2592388"/>
            <a:ext cx="3181350" cy="304800"/>
            <a:chOff x="5040" y="4728"/>
            <a:chExt cx="5010" cy="480"/>
          </a:xfrm>
        </p:grpSpPr>
        <p:sp>
          <p:nvSpPr>
            <p:cNvPr id="371" name="Freeform 133"/>
            <p:cNvSpPr>
              <a:spLocks/>
            </p:cNvSpPr>
            <p:nvPr/>
          </p:nvSpPr>
          <p:spPr bwMode="gray">
            <a:xfrm>
              <a:off x="5040" y="4728"/>
              <a:ext cx="5010" cy="480"/>
            </a:xfrm>
            <a:custGeom>
              <a:avLst/>
              <a:gdLst/>
              <a:ahLst/>
              <a:cxnLst>
                <a:cxn ang="0">
                  <a:pos x="0" y="480"/>
                </a:cxn>
                <a:cxn ang="0">
                  <a:pos x="4185" y="480"/>
                </a:cxn>
                <a:cxn ang="0">
                  <a:pos x="5010" y="480"/>
                </a:cxn>
                <a:cxn ang="0">
                  <a:pos x="4185" y="360"/>
                </a:cxn>
                <a:cxn ang="0">
                  <a:pos x="3345" y="0"/>
                </a:cxn>
                <a:cxn ang="0">
                  <a:pos x="1665" y="0"/>
                </a:cxn>
                <a:cxn ang="0">
                  <a:pos x="0" y="480"/>
                </a:cxn>
              </a:cxnLst>
              <a:rect l="0" t="0" r="r" b="b"/>
              <a:pathLst>
                <a:path w="5010" h="480">
                  <a:moveTo>
                    <a:pt x="0" y="480"/>
                  </a:moveTo>
                  <a:lnTo>
                    <a:pt x="4185" y="480"/>
                  </a:lnTo>
                  <a:lnTo>
                    <a:pt x="5010" y="480"/>
                  </a:lnTo>
                  <a:lnTo>
                    <a:pt x="4185" y="360"/>
                  </a:lnTo>
                  <a:lnTo>
                    <a:pt x="3345" y="0"/>
                  </a:lnTo>
                  <a:lnTo>
                    <a:pt x="1665" y="0"/>
                  </a:lnTo>
                  <a:lnTo>
                    <a:pt x="0" y="48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  <p:sp>
          <p:nvSpPr>
            <p:cNvPr id="372" name="Freeform 134"/>
            <p:cNvSpPr>
              <a:spLocks/>
            </p:cNvSpPr>
            <p:nvPr/>
          </p:nvSpPr>
          <p:spPr bwMode="gray">
            <a:xfrm>
              <a:off x="5040" y="4728"/>
              <a:ext cx="5010" cy="480"/>
            </a:xfrm>
            <a:custGeom>
              <a:avLst/>
              <a:gdLst/>
              <a:ahLst/>
              <a:cxnLst>
                <a:cxn ang="0">
                  <a:pos x="0" y="480"/>
                </a:cxn>
                <a:cxn ang="0">
                  <a:pos x="4185" y="480"/>
                </a:cxn>
                <a:cxn ang="0">
                  <a:pos x="5010" y="480"/>
                </a:cxn>
                <a:cxn ang="0">
                  <a:pos x="4185" y="360"/>
                </a:cxn>
                <a:cxn ang="0">
                  <a:pos x="3345" y="0"/>
                </a:cxn>
                <a:cxn ang="0">
                  <a:pos x="1665" y="0"/>
                </a:cxn>
                <a:cxn ang="0">
                  <a:pos x="0" y="480"/>
                </a:cxn>
              </a:cxnLst>
              <a:rect l="0" t="0" r="r" b="b"/>
              <a:pathLst>
                <a:path w="5010" h="480">
                  <a:moveTo>
                    <a:pt x="0" y="480"/>
                  </a:moveTo>
                  <a:lnTo>
                    <a:pt x="4185" y="480"/>
                  </a:lnTo>
                  <a:lnTo>
                    <a:pt x="5010" y="480"/>
                  </a:lnTo>
                  <a:lnTo>
                    <a:pt x="4185" y="360"/>
                  </a:lnTo>
                  <a:lnTo>
                    <a:pt x="3345" y="0"/>
                  </a:lnTo>
                  <a:lnTo>
                    <a:pt x="1665" y="0"/>
                  </a:lnTo>
                  <a:lnTo>
                    <a:pt x="0" y="48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</p:grpSp>
      <p:grpSp>
        <p:nvGrpSpPr>
          <p:cNvPr id="33831" name="Group 135"/>
          <p:cNvGrpSpPr>
            <a:grpSpLocks/>
          </p:cNvGrpSpPr>
          <p:nvPr/>
        </p:nvGrpSpPr>
        <p:grpSpPr bwMode="gray">
          <a:xfrm>
            <a:off x="3279775" y="3201988"/>
            <a:ext cx="4257675" cy="371475"/>
            <a:chOff x="5865" y="5688"/>
            <a:chExt cx="6705" cy="585"/>
          </a:xfrm>
        </p:grpSpPr>
        <p:sp>
          <p:nvSpPr>
            <p:cNvPr id="374" name="Freeform 136"/>
            <p:cNvSpPr>
              <a:spLocks/>
            </p:cNvSpPr>
            <p:nvPr/>
          </p:nvSpPr>
          <p:spPr bwMode="gray">
            <a:xfrm>
              <a:off x="5865" y="5688"/>
              <a:ext cx="6705" cy="585"/>
            </a:xfrm>
            <a:custGeom>
              <a:avLst/>
              <a:gdLst/>
              <a:ahLst/>
              <a:cxnLst>
                <a:cxn ang="0">
                  <a:pos x="0" y="585"/>
                </a:cxn>
                <a:cxn ang="0">
                  <a:pos x="6705" y="585"/>
                </a:cxn>
                <a:cxn ang="0">
                  <a:pos x="5025" y="480"/>
                </a:cxn>
                <a:cxn ang="0">
                  <a:pos x="3360" y="480"/>
                </a:cxn>
                <a:cxn ang="0">
                  <a:pos x="1680" y="240"/>
                </a:cxn>
                <a:cxn ang="0">
                  <a:pos x="840" y="0"/>
                </a:cxn>
                <a:cxn ang="0">
                  <a:pos x="0" y="585"/>
                </a:cxn>
              </a:cxnLst>
              <a:rect l="0" t="0" r="r" b="b"/>
              <a:pathLst>
                <a:path w="6705" h="585">
                  <a:moveTo>
                    <a:pt x="0" y="585"/>
                  </a:moveTo>
                  <a:lnTo>
                    <a:pt x="6705" y="585"/>
                  </a:lnTo>
                  <a:lnTo>
                    <a:pt x="5025" y="480"/>
                  </a:lnTo>
                  <a:lnTo>
                    <a:pt x="3360" y="480"/>
                  </a:lnTo>
                  <a:lnTo>
                    <a:pt x="1680" y="240"/>
                  </a:lnTo>
                  <a:lnTo>
                    <a:pt x="840" y="0"/>
                  </a:lnTo>
                  <a:lnTo>
                    <a:pt x="0" y="585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  <p:sp>
          <p:nvSpPr>
            <p:cNvPr id="375" name="Freeform 137"/>
            <p:cNvSpPr>
              <a:spLocks/>
            </p:cNvSpPr>
            <p:nvPr/>
          </p:nvSpPr>
          <p:spPr bwMode="gray">
            <a:xfrm>
              <a:off x="5865" y="5688"/>
              <a:ext cx="6705" cy="585"/>
            </a:xfrm>
            <a:custGeom>
              <a:avLst/>
              <a:gdLst/>
              <a:ahLst/>
              <a:cxnLst>
                <a:cxn ang="0">
                  <a:pos x="0" y="585"/>
                </a:cxn>
                <a:cxn ang="0">
                  <a:pos x="6705" y="585"/>
                </a:cxn>
                <a:cxn ang="0">
                  <a:pos x="5025" y="480"/>
                </a:cxn>
                <a:cxn ang="0">
                  <a:pos x="3360" y="480"/>
                </a:cxn>
                <a:cxn ang="0">
                  <a:pos x="1680" y="240"/>
                </a:cxn>
                <a:cxn ang="0">
                  <a:pos x="840" y="0"/>
                </a:cxn>
                <a:cxn ang="0">
                  <a:pos x="0" y="585"/>
                </a:cxn>
              </a:cxnLst>
              <a:rect l="0" t="0" r="r" b="b"/>
              <a:pathLst>
                <a:path w="6705" h="585">
                  <a:moveTo>
                    <a:pt x="0" y="585"/>
                  </a:moveTo>
                  <a:lnTo>
                    <a:pt x="6705" y="585"/>
                  </a:lnTo>
                  <a:lnTo>
                    <a:pt x="5025" y="480"/>
                  </a:lnTo>
                  <a:lnTo>
                    <a:pt x="3360" y="480"/>
                  </a:lnTo>
                  <a:lnTo>
                    <a:pt x="1680" y="240"/>
                  </a:lnTo>
                  <a:lnTo>
                    <a:pt x="840" y="0"/>
                  </a:lnTo>
                  <a:lnTo>
                    <a:pt x="0" y="585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</p:grpSp>
      <p:grpSp>
        <p:nvGrpSpPr>
          <p:cNvPr id="33832" name="Group 138"/>
          <p:cNvGrpSpPr>
            <a:grpSpLocks/>
          </p:cNvGrpSpPr>
          <p:nvPr/>
        </p:nvGrpSpPr>
        <p:grpSpPr bwMode="gray">
          <a:xfrm>
            <a:off x="3279775" y="3878263"/>
            <a:ext cx="4257675" cy="381000"/>
            <a:chOff x="5865" y="6753"/>
            <a:chExt cx="6705" cy="600"/>
          </a:xfrm>
        </p:grpSpPr>
        <p:sp>
          <p:nvSpPr>
            <p:cNvPr id="377" name="Freeform 139"/>
            <p:cNvSpPr>
              <a:spLocks/>
            </p:cNvSpPr>
            <p:nvPr/>
          </p:nvSpPr>
          <p:spPr bwMode="gray">
            <a:xfrm>
              <a:off x="5865" y="6753"/>
              <a:ext cx="6705" cy="600"/>
            </a:xfrm>
            <a:custGeom>
              <a:avLst/>
              <a:gdLst/>
              <a:ahLst/>
              <a:cxnLst>
                <a:cxn ang="0">
                  <a:pos x="0" y="600"/>
                </a:cxn>
                <a:cxn ang="0">
                  <a:pos x="6705" y="600"/>
                </a:cxn>
                <a:cxn ang="0">
                  <a:pos x="5865" y="480"/>
                </a:cxn>
                <a:cxn ang="0">
                  <a:pos x="5025" y="480"/>
                </a:cxn>
                <a:cxn ang="0">
                  <a:pos x="4185" y="360"/>
                </a:cxn>
                <a:cxn ang="0">
                  <a:pos x="3360" y="120"/>
                </a:cxn>
                <a:cxn ang="0">
                  <a:pos x="2520" y="0"/>
                </a:cxn>
                <a:cxn ang="0">
                  <a:pos x="1680" y="120"/>
                </a:cxn>
                <a:cxn ang="0">
                  <a:pos x="840" y="480"/>
                </a:cxn>
                <a:cxn ang="0">
                  <a:pos x="0" y="600"/>
                </a:cxn>
              </a:cxnLst>
              <a:rect l="0" t="0" r="r" b="b"/>
              <a:pathLst>
                <a:path w="6705" h="600">
                  <a:moveTo>
                    <a:pt x="0" y="600"/>
                  </a:moveTo>
                  <a:lnTo>
                    <a:pt x="6705" y="600"/>
                  </a:lnTo>
                  <a:lnTo>
                    <a:pt x="5865" y="480"/>
                  </a:lnTo>
                  <a:lnTo>
                    <a:pt x="5025" y="480"/>
                  </a:lnTo>
                  <a:lnTo>
                    <a:pt x="4185" y="360"/>
                  </a:lnTo>
                  <a:lnTo>
                    <a:pt x="3360" y="120"/>
                  </a:lnTo>
                  <a:lnTo>
                    <a:pt x="2520" y="0"/>
                  </a:lnTo>
                  <a:lnTo>
                    <a:pt x="1680" y="120"/>
                  </a:lnTo>
                  <a:lnTo>
                    <a:pt x="840" y="480"/>
                  </a:lnTo>
                  <a:lnTo>
                    <a:pt x="0" y="60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  <p:sp>
          <p:nvSpPr>
            <p:cNvPr id="378" name="Freeform 140"/>
            <p:cNvSpPr>
              <a:spLocks/>
            </p:cNvSpPr>
            <p:nvPr/>
          </p:nvSpPr>
          <p:spPr bwMode="gray">
            <a:xfrm>
              <a:off x="5865" y="6753"/>
              <a:ext cx="6705" cy="600"/>
            </a:xfrm>
            <a:custGeom>
              <a:avLst/>
              <a:gdLst/>
              <a:ahLst/>
              <a:cxnLst>
                <a:cxn ang="0">
                  <a:pos x="0" y="600"/>
                </a:cxn>
                <a:cxn ang="0">
                  <a:pos x="6705" y="600"/>
                </a:cxn>
                <a:cxn ang="0">
                  <a:pos x="5865" y="480"/>
                </a:cxn>
                <a:cxn ang="0">
                  <a:pos x="5025" y="480"/>
                </a:cxn>
                <a:cxn ang="0">
                  <a:pos x="4185" y="360"/>
                </a:cxn>
                <a:cxn ang="0">
                  <a:pos x="3360" y="120"/>
                </a:cxn>
                <a:cxn ang="0">
                  <a:pos x="2520" y="0"/>
                </a:cxn>
                <a:cxn ang="0">
                  <a:pos x="1680" y="120"/>
                </a:cxn>
                <a:cxn ang="0">
                  <a:pos x="840" y="480"/>
                </a:cxn>
                <a:cxn ang="0">
                  <a:pos x="0" y="600"/>
                </a:cxn>
              </a:cxnLst>
              <a:rect l="0" t="0" r="r" b="b"/>
              <a:pathLst>
                <a:path w="6705" h="600">
                  <a:moveTo>
                    <a:pt x="0" y="600"/>
                  </a:moveTo>
                  <a:lnTo>
                    <a:pt x="6705" y="600"/>
                  </a:lnTo>
                  <a:lnTo>
                    <a:pt x="5865" y="480"/>
                  </a:lnTo>
                  <a:lnTo>
                    <a:pt x="5025" y="480"/>
                  </a:lnTo>
                  <a:lnTo>
                    <a:pt x="4185" y="360"/>
                  </a:lnTo>
                  <a:lnTo>
                    <a:pt x="3360" y="120"/>
                  </a:lnTo>
                  <a:lnTo>
                    <a:pt x="2520" y="0"/>
                  </a:lnTo>
                  <a:lnTo>
                    <a:pt x="1680" y="120"/>
                  </a:lnTo>
                  <a:lnTo>
                    <a:pt x="840" y="480"/>
                  </a:lnTo>
                  <a:lnTo>
                    <a:pt x="0" y="60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</p:grpSp>
      <p:grpSp>
        <p:nvGrpSpPr>
          <p:cNvPr id="33833" name="Group 141"/>
          <p:cNvGrpSpPr>
            <a:grpSpLocks/>
          </p:cNvGrpSpPr>
          <p:nvPr/>
        </p:nvGrpSpPr>
        <p:grpSpPr bwMode="gray">
          <a:xfrm>
            <a:off x="3279775" y="4487863"/>
            <a:ext cx="4257675" cy="457200"/>
            <a:chOff x="5865" y="7713"/>
            <a:chExt cx="6705" cy="720"/>
          </a:xfrm>
        </p:grpSpPr>
        <p:sp>
          <p:nvSpPr>
            <p:cNvPr id="380" name="Freeform 142"/>
            <p:cNvSpPr>
              <a:spLocks/>
            </p:cNvSpPr>
            <p:nvPr/>
          </p:nvSpPr>
          <p:spPr bwMode="gray">
            <a:xfrm>
              <a:off x="5865" y="7713"/>
              <a:ext cx="6705" cy="720"/>
            </a:xfrm>
            <a:custGeom>
              <a:avLst/>
              <a:gdLst/>
              <a:ahLst/>
              <a:cxnLst>
                <a:cxn ang="0">
                  <a:pos x="0" y="720"/>
                </a:cxn>
                <a:cxn ang="0">
                  <a:pos x="6705" y="720"/>
                </a:cxn>
                <a:cxn ang="0">
                  <a:pos x="5865" y="600"/>
                </a:cxn>
                <a:cxn ang="0">
                  <a:pos x="5025" y="600"/>
                </a:cxn>
                <a:cxn ang="0">
                  <a:pos x="4185" y="0"/>
                </a:cxn>
                <a:cxn ang="0">
                  <a:pos x="2520" y="0"/>
                </a:cxn>
                <a:cxn ang="0">
                  <a:pos x="840" y="600"/>
                </a:cxn>
                <a:cxn ang="0">
                  <a:pos x="0" y="720"/>
                </a:cxn>
              </a:cxnLst>
              <a:rect l="0" t="0" r="r" b="b"/>
              <a:pathLst>
                <a:path w="6705" h="720">
                  <a:moveTo>
                    <a:pt x="0" y="720"/>
                  </a:moveTo>
                  <a:lnTo>
                    <a:pt x="6705" y="720"/>
                  </a:lnTo>
                  <a:lnTo>
                    <a:pt x="5865" y="600"/>
                  </a:lnTo>
                  <a:lnTo>
                    <a:pt x="5025" y="600"/>
                  </a:lnTo>
                  <a:lnTo>
                    <a:pt x="4185" y="0"/>
                  </a:lnTo>
                  <a:lnTo>
                    <a:pt x="2520" y="0"/>
                  </a:lnTo>
                  <a:lnTo>
                    <a:pt x="840" y="600"/>
                  </a:lnTo>
                  <a:lnTo>
                    <a:pt x="0" y="72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  <p:sp>
          <p:nvSpPr>
            <p:cNvPr id="381" name="Freeform 143"/>
            <p:cNvSpPr>
              <a:spLocks/>
            </p:cNvSpPr>
            <p:nvPr/>
          </p:nvSpPr>
          <p:spPr bwMode="gray">
            <a:xfrm>
              <a:off x="5865" y="7713"/>
              <a:ext cx="6705" cy="720"/>
            </a:xfrm>
            <a:custGeom>
              <a:avLst/>
              <a:gdLst/>
              <a:ahLst/>
              <a:cxnLst>
                <a:cxn ang="0">
                  <a:pos x="0" y="720"/>
                </a:cxn>
                <a:cxn ang="0">
                  <a:pos x="6705" y="720"/>
                </a:cxn>
                <a:cxn ang="0">
                  <a:pos x="5865" y="600"/>
                </a:cxn>
                <a:cxn ang="0">
                  <a:pos x="5025" y="600"/>
                </a:cxn>
                <a:cxn ang="0">
                  <a:pos x="4185" y="0"/>
                </a:cxn>
                <a:cxn ang="0">
                  <a:pos x="2520" y="0"/>
                </a:cxn>
                <a:cxn ang="0">
                  <a:pos x="840" y="600"/>
                </a:cxn>
                <a:cxn ang="0">
                  <a:pos x="0" y="720"/>
                </a:cxn>
              </a:cxnLst>
              <a:rect l="0" t="0" r="r" b="b"/>
              <a:pathLst>
                <a:path w="6705" h="720">
                  <a:moveTo>
                    <a:pt x="0" y="720"/>
                  </a:moveTo>
                  <a:lnTo>
                    <a:pt x="6705" y="720"/>
                  </a:lnTo>
                  <a:lnTo>
                    <a:pt x="5865" y="600"/>
                  </a:lnTo>
                  <a:lnTo>
                    <a:pt x="5025" y="600"/>
                  </a:lnTo>
                  <a:lnTo>
                    <a:pt x="4185" y="0"/>
                  </a:lnTo>
                  <a:lnTo>
                    <a:pt x="2520" y="0"/>
                  </a:lnTo>
                  <a:lnTo>
                    <a:pt x="840" y="600"/>
                  </a:lnTo>
                  <a:lnTo>
                    <a:pt x="0" y="72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</p:grpSp>
      <p:grpSp>
        <p:nvGrpSpPr>
          <p:cNvPr id="33834" name="Group 144"/>
          <p:cNvGrpSpPr>
            <a:grpSpLocks/>
          </p:cNvGrpSpPr>
          <p:nvPr/>
        </p:nvGrpSpPr>
        <p:grpSpPr bwMode="gray">
          <a:xfrm>
            <a:off x="3813175" y="5478463"/>
            <a:ext cx="3724275" cy="228600"/>
            <a:chOff x="6705" y="9273"/>
            <a:chExt cx="5865" cy="360"/>
          </a:xfrm>
        </p:grpSpPr>
        <p:sp>
          <p:nvSpPr>
            <p:cNvPr id="383" name="Freeform 145"/>
            <p:cNvSpPr>
              <a:spLocks/>
            </p:cNvSpPr>
            <p:nvPr/>
          </p:nvSpPr>
          <p:spPr bwMode="gray">
            <a:xfrm>
              <a:off x="6705" y="9273"/>
              <a:ext cx="5865" cy="360"/>
            </a:xfrm>
            <a:custGeom>
              <a:avLst/>
              <a:gdLst/>
              <a:ahLst/>
              <a:cxnLst>
                <a:cxn ang="0">
                  <a:pos x="0" y="360"/>
                </a:cxn>
                <a:cxn ang="0">
                  <a:pos x="5865" y="360"/>
                </a:cxn>
                <a:cxn ang="0">
                  <a:pos x="5025" y="240"/>
                </a:cxn>
                <a:cxn ang="0">
                  <a:pos x="4185" y="0"/>
                </a:cxn>
                <a:cxn ang="0">
                  <a:pos x="3345" y="360"/>
                </a:cxn>
                <a:cxn ang="0">
                  <a:pos x="2880" y="120"/>
                </a:cxn>
                <a:cxn ang="0">
                  <a:pos x="2520" y="360"/>
                </a:cxn>
                <a:cxn ang="0">
                  <a:pos x="2040" y="120"/>
                </a:cxn>
                <a:cxn ang="0">
                  <a:pos x="1680" y="360"/>
                </a:cxn>
                <a:cxn ang="0">
                  <a:pos x="1200" y="240"/>
                </a:cxn>
                <a:cxn ang="0">
                  <a:pos x="840" y="360"/>
                </a:cxn>
                <a:cxn ang="0">
                  <a:pos x="480" y="240"/>
                </a:cxn>
                <a:cxn ang="0">
                  <a:pos x="0" y="360"/>
                </a:cxn>
              </a:cxnLst>
              <a:rect l="0" t="0" r="r" b="b"/>
              <a:pathLst>
                <a:path w="5865" h="360">
                  <a:moveTo>
                    <a:pt x="0" y="360"/>
                  </a:moveTo>
                  <a:lnTo>
                    <a:pt x="5865" y="360"/>
                  </a:lnTo>
                  <a:lnTo>
                    <a:pt x="5025" y="240"/>
                  </a:lnTo>
                  <a:lnTo>
                    <a:pt x="4185" y="0"/>
                  </a:lnTo>
                  <a:lnTo>
                    <a:pt x="3345" y="360"/>
                  </a:lnTo>
                  <a:lnTo>
                    <a:pt x="2880" y="120"/>
                  </a:lnTo>
                  <a:lnTo>
                    <a:pt x="2520" y="360"/>
                  </a:lnTo>
                  <a:lnTo>
                    <a:pt x="2040" y="120"/>
                  </a:lnTo>
                  <a:lnTo>
                    <a:pt x="1680" y="360"/>
                  </a:lnTo>
                  <a:lnTo>
                    <a:pt x="1200" y="240"/>
                  </a:lnTo>
                  <a:lnTo>
                    <a:pt x="840" y="360"/>
                  </a:lnTo>
                  <a:lnTo>
                    <a:pt x="480" y="240"/>
                  </a:lnTo>
                  <a:lnTo>
                    <a:pt x="0" y="36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  <p:sp>
          <p:nvSpPr>
            <p:cNvPr id="384" name="Freeform 146"/>
            <p:cNvSpPr>
              <a:spLocks/>
            </p:cNvSpPr>
            <p:nvPr/>
          </p:nvSpPr>
          <p:spPr bwMode="gray">
            <a:xfrm>
              <a:off x="6705" y="9273"/>
              <a:ext cx="5865" cy="360"/>
            </a:xfrm>
            <a:custGeom>
              <a:avLst/>
              <a:gdLst/>
              <a:ahLst/>
              <a:cxnLst>
                <a:cxn ang="0">
                  <a:pos x="0" y="360"/>
                </a:cxn>
                <a:cxn ang="0">
                  <a:pos x="5865" y="360"/>
                </a:cxn>
                <a:cxn ang="0">
                  <a:pos x="5025" y="240"/>
                </a:cxn>
                <a:cxn ang="0">
                  <a:pos x="4185" y="0"/>
                </a:cxn>
                <a:cxn ang="0">
                  <a:pos x="3345" y="360"/>
                </a:cxn>
                <a:cxn ang="0">
                  <a:pos x="2880" y="120"/>
                </a:cxn>
                <a:cxn ang="0">
                  <a:pos x="2520" y="360"/>
                </a:cxn>
                <a:cxn ang="0">
                  <a:pos x="2040" y="120"/>
                </a:cxn>
                <a:cxn ang="0">
                  <a:pos x="1680" y="360"/>
                </a:cxn>
                <a:cxn ang="0">
                  <a:pos x="1200" y="240"/>
                </a:cxn>
                <a:cxn ang="0">
                  <a:pos x="840" y="360"/>
                </a:cxn>
                <a:cxn ang="0">
                  <a:pos x="480" y="240"/>
                </a:cxn>
                <a:cxn ang="0">
                  <a:pos x="0" y="360"/>
                </a:cxn>
              </a:cxnLst>
              <a:rect l="0" t="0" r="r" b="b"/>
              <a:pathLst>
                <a:path w="5865" h="360">
                  <a:moveTo>
                    <a:pt x="0" y="360"/>
                  </a:moveTo>
                  <a:lnTo>
                    <a:pt x="5865" y="360"/>
                  </a:lnTo>
                  <a:lnTo>
                    <a:pt x="5025" y="240"/>
                  </a:lnTo>
                  <a:lnTo>
                    <a:pt x="4185" y="0"/>
                  </a:lnTo>
                  <a:lnTo>
                    <a:pt x="3345" y="360"/>
                  </a:lnTo>
                  <a:lnTo>
                    <a:pt x="2880" y="120"/>
                  </a:lnTo>
                  <a:lnTo>
                    <a:pt x="2520" y="360"/>
                  </a:lnTo>
                  <a:lnTo>
                    <a:pt x="2040" y="120"/>
                  </a:lnTo>
                  <a:lnTo>
                    <a:pt x="1680" y="360"/>
                  </a:lnTo>
                  <a:lnTo>
                    <a:pt x="1200" y="240"/>
                  </a:lnTo>
                  <a:lnTo>
                    <a:pt x="840" y="360"/>
                  </a:lnTo>
                  <a:lnTo>
                    <a:pt x="480" y="240"/>
                  </a:lnTo>
                  <a:lnTo>
                    <a:pt x="0" y="36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72549"/>
                    <a:invGamma/>
                  </a:schemeClr>
                </a:gs>
              </a:gsLst>
              <a:lin ang="5400000" scaled="1"/>
            </a:gradFill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GB">
                <a:latin typeface="Arial" charset="0"/>
              </a:endParaRPr>
            </a:p>
          </p:txBody>
        </p:sp>
      </p:grpSp>
      <p:sp>
        <p:nvSpPr>
          <p:cNvPr id="33835" name="Rectangle 147"/>
          <p:cNvSpPr>
            <a:spLocks noChangeArrowheads="1"/>
          </p:cNvSpPr>
          <p:nvPr/>
        </p:nvSpPr>
        <p:spPr bwMode="gray">
          <a:xfrm>
            <a:off x="1384300" y="6011863"/>
            <a:ext cx="13811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36" name="Rectangle 148"/>
          <p:cNvSpPr>
            <a:spLocks noChangeArrowheads="1"/>
          </p:cNvSpPr>
          <p:nvPr/>
        </p:nvSpPr>
        <p:spPr bwMode="gray">
          <a:xfrm>
            <a:off x="1349375" y="6059488"/>
            <a:ext cx="13255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Numéro d’itération :</a:t>
            </a:r>
            <a:endParaRPr lang="fr-FR" sz="1200"/>
          </a:p>
        </p:txBody>
      </p:sp>
      <p:sp>
        <p:nvSpPr>
          <p:cNvPr id="33837" name="Rectangle 149"/>
          <p:cNvSpPr>
            <a:spLocks noChangeArrowheads="1"/>
          </p:cNvSpPr>
          <p:nvPr/>
        </p:nvSpPr>
        <p:spPr bwMode="gray">
          <a:xfrm>
            <a:off x="2670175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sp>
        <p:nvSpPr>
          <p:cNvPr id="33838" name="Rectangle 150"/>
          <p:cNvSpPr>
            <a:spLocks noChangeArrowheads="1"/>
          </p:cNvSpPr>
          <p:nvPr/>
        </p:nvSpPr>
        <p:spPr bwMode="gray">
          <a:xfrm>
            <a:off x="2755900" y="6011863"/>
            <a:ext cx="5334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39" name="Rectangle 151"/>
          <p:cNvSpPr>
            <a:spLocks noChangeArrowheads="1"/>
          </p:cNvSpPr>
          <p:nvPr/>
        </p:nvSpPr>
        <p:spPr bwMode="gray">
          <a:xfrm>
            <a:off x="2936875" y="605948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1</a:t>
            </a:r>
            <a:endParaRPr lang="fr-FR" sz="1200"/>
          </a:p>
        </p:txBody>
      </p:sp>
      <p:sp>
        <p:nvSpPr>
          <p:cNvPr id="33840" name="Rectangle 152"/>
          <p:cNvSpPr>
            <a:spLocks noChangeArrowheads="1"/>
          </p:cNvSpPr>
          <p:nvPr/>
        </p:nvSpPr>
        <p:spPr bwMode="gray">
          <a:xfrm>
            <a:off x="3108325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sp>
        <p:nvSpPr>
          <p:cNvPr id="33841" name="Rectangle 153"/>
          <p:cNvSpPr>
            <a:spLocks noChangeArrowheads="1"/>
          </p:cNvSpPr>
          <p:nvPr/>
        </p:nvSpPr>
        <p:spPr bwMode="gray">
          <a:xfrm>
            <a:off x="3279775" y="6011863"/>
            <a:ext cx="5429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42" name="Rectangle 154"/>
          <p:cNvSpPr>
            <a:spLocks noChangeArrowheads="1"/>
          </p:cNvSpPr>
          <p:nvPr/>
        </p:nvSpPr>
        <p:spPr bwMode="gray">
          <a:xfrm>
            <a:off x="3460750" y="605948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2</a:t>
            </a:r>
            <a:endParaRPr lang="fr-FR" sz="1200"/>
          </a:p>
        </p:txBody>
      </p:sp>
      <p:sp>
        <p:nvSpPr>
          <p:cNvPr id="33843" name="Rectangle 155"/>
          <p:cNvSpPr>
            <a:spLocks noChangeArrowheads="1"/>
          </p:cNvSpPr>
          <p:nvPr/>
        </p:nvSpPr>
        <p:spPr bwMode="gray">
          <a:xfrm>
            <a:off x="3632200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sp>
        <p:nvSpPr>
          <p:cNvPr id="33844" name="Rectangle 156"/>
          <p:cNvSpPr>
            <a:spLocks noChangeArrowheads="1"/>
          </p:cNvSpPr>
          <p:nvPr/>
        </p:nvSpPr>
        <p:spPr bwMode="gray">
          <a:xfrm>
            <a:off x="3813175" y="6011863"/>
            <a:ext cx="5429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45" name="Rectangle 157"/>
          <p:cNvSpPr>
            <a:spLocks noChangeArrowheads="1"/>
          </p:cNvSpPr>
          <p:nvPr/>
        </p:nvSpPr>
        <p:spPr bwMode="gray">
          <a:xfrm>
            <a:off x="3994150" y="605948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3</a:t>
            </a:r>
            <a:endParaRPr lang="fr-FR" sz="1200"/>
          </a:p>
        </p:txBody>
      </p:sp>
      <p:sp>
        <p:nvSpPr>
          <p:cNvPr id="33846" name="Rectangle 158"/>
          <p:cNvSpPr>
            <a:spLocks noChangeArrowheads="1"/>
          </p:cNvSpPr>
          <p:nvPr/>
        </p:nvSpPr>
        <p:spPr bwMode="gray">
          <a:xfrm>
            <a:off x="4165600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sp>
        <p:nvSpPr>
          <p:cNvPr id="33847" name="Rectangle 159"/>
          <p:cNvSpPr>
            <a:spLocks noChangeArrowheads="1"/>
          </p:cNvSpPr>
          <p:nvPr/>
        </p:nvSpPr>
        <p:spPr bwMode="gray">
          <a:xfrm>
            <a:off x="4346575" y="6011863"/>
            <a:ext cx="5429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48" name="Rectangle 160"/>
          <p:cNvSpPr>
            <a:spLocks noChangeArrowheads="1"/>
          </p:cNvSpPr>
          <p:nvPr/>
        </p:nvSpPr>
        <p:spPr bwMode="gray">
          <a:xfrm>
            <a:off x="4537075" y="6059488"/>
            <a:ext cx="1524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---</a:t>
            </a:r>
            <a:endParaRPr lang="fr-FR" sz="1200"/>
          </a:p>
        </p:txBody>
      </p:sp>
      <p:sp>
        <p:nvSpPr>
          <p:cNvPr id="33849" name="Rectangle 161"/>
          <p:cNvSpPr>
            <a:spLocks noChangeArrowheads="1"/>
          </p:cNvSpPr>
          <p:nvPr/>
        </p:nvSpPr>
        <p:spPr bwMode="gray">
          <a:xfrm>
            <a:off x="4689475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sp>
        <p:nvSpPr>
          <p:cNvPr id="33850" name="Rectangle 162"/>
          <p:cNvSpPr>
            <a:spLocks noChangeArrowheads="1"/>
          </p:cNvSpPr>
          <p:nvPr/>
        </p:nvSpPr>
        <p:spPr bwMode="gray">
          <a:xfrm>
            <a:off x="4879975" y="6011863"/>
            <a:ext cx="5429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51" name="Rectangle 163"/>
          <p:cNvSpPr>
            <a:spLocks noChangeArrowheads="1"/>
          </p:cNvSpPr>
          <p:nvPr/>
        </p:nvSpPr>
        <p:spPr bwMode="gray">
          <a:xfrm>
            <a:off x="5070475" y="6059488"/>
            <a:ext cx="1524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---</a:t>
            </a:r>
            <a:endParaRPr lang="fr-FR" sz="1200"/>
          </a:p>
        </p:txBody>
      </p:sp>
      <p:sp>
        <p:nvSpPr>
          <p:cNvPr id="33852" name="Rectangle 164"/>
          <p:cNvSpPr>
            <a:spLocks noChangeArrowheads="1"/>
          </p:cNvSpPr>
          <p:nvPr/>
        </p:nvSpPr>
        <p:spPr bwMode="gray">
          <a:xfrm>
            <a:off x="5222875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sp>
        <p:nvSpPr>
          <p:cNvPr id="33853" name="Rectangle 165"/>
          <p:cNvSpPr>
            <a:spLocks noChangeArrowheads="1"/>
          </p:cNvSpPr>
          <p:nvPr/>
        </p:nvSpPr>
        <p:spPr bwMode="gray">
          <a:xfrm>
            <a:off x="5413375" y="6011863"/>
            <a:ext cx="5334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54" name="Rectangle 166"/>
          <p:cNvSpPr>
            <a:spLocks noChangeArrowheads="1"/>
          </p:cNvSpPr>
          <p:nvPr/>
        </p:nvSpPr>
        <p:spPr bwMode="gray">
          <a:xfrm>
            <a:off x="5603875" y="6059488"/>
            <a:ext cx="1524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---</a:t>
            </a:r>
            <a:endParaRPr lang="fr-FR" sz="1200"/>
          </a:p>
        </p:txBody>
      </p:sp>
      <p:sp>
        <p:nvSpPr>
          <p:cNvPr id="33855" name="Rectangle 167"/>
          <p:cNvSpPr>
            <a:spLocks noChangeArrowheads="1"/>
          </p:cNvSpPr>
          <p:nvPr/>
        </p:nvSpPr>
        <p:spPr bwMode="gray">
          <a:xfrm>
            <a:off x="5756275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sp>
        <p:nvSpPr>
          <p:cNvPr id="33856" name="Rectangle 168"/>
          <p:cNvSpPr>
            <a:spLocks noChangeArrowheads="1"/>
          </p:cNvSpPr>
          <p:nvPr/>
        </p:nvSpPr>
        <p:spPr bwMode="gray">
          <a:xfrm>
            <a:off x="5937250" y="6011863"/>
            <a:ext cx="5429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57" name="Rectangle 169"/>
          <p:cNvSpPr>
            <a:spLocks noChangeArrowheads="1"/>
          </p:cNvSpPr>
          <p:nvPr/>
        </p:nvSpPr>
        <p:spPr bwMode="gray">
          <a:xfrm>
            <a:off x="6127750" y="6059488"/>
            <a:ext cx="1524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---</a:t>
            </a:r>
            <a:endParaRPr lang="fr-FR" sz="1200"/>
          </a:p>
        </p:txBody>
      </p:sp>
      <p:sp>
        <p:nvSpPr>
          <p:cNvPr id="33858" name="Rectangle 170"/>
          <p:cNvSpPr>
            <a:spLocks noChangeArrowheads="1"/>
          </p:cNvSpPr>
          <p:nvPr/>
        </p:nvSpPr>
        <p:spPr bwMode="gray">
          <a:xfrm>
            <a:off x="6280150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sp>
        <p:nvSpPr>
          <p:cNvPr id="33859" name="Rectangle 171"/>
          <p:cNvSpPr>
            <a:spLocks noChangeArrowheads="1"/>
          </p:cNvSpPr>
          <p:nvPr/>
        </p:nvSpPr>
        <p:spPr bwMode="gray">
          <a:xfrm>
            <a:off x="6470650" y="6011863"/>
            <a:ext cx="5429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60" name="Rectangle 172"/>
          <p:cNvSpPr>
            <a:spLocks noChangeArrowheads="1"/>
          </p:cNvSpPr>
          <p:nvPr/>
        </p:nvSpPr>
        <p:spPr bwMode="gray">
          <a:xfrm>
            <a:off x="6584950" y="605948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n</a:t>
            </a:r>
            <a:endParaRPr lang="fr-FR" sz="1200"/>
          </a:p>
        </p:txBody>
      </p:sp>
      <p:sp>
        <p:nvSpPr>
          <p:cNvPr id="33861" name="Rectangle 173"/>
          <p:cNvSpPr>
            <a:spLocks noChangeArrowheads="1"/>
          </p:cNvSpPr>
          <p:nvPr/>
        </p:nvSpPr>
        <p:spPr bwMode="gray">
          <a:xfrm>
            <a:off x="6756400" y="6059488"/>
            <a:ext cx="508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-</a:t>
            </a:r>
            <a:endParaRPr lang="fr-FR" sz="1200"/>
          </a:p>
        </p:txBody>
      </p:sp>
      <p:sp>
        <p:nvSpPr>
          <p:cNvPr id="33862" name="Rectangle 174"/>
          <p:cNvSpPr>
            <a:spLocks noChangeArrowheads="1"/>
          </p:cNvSpPr>
          <p:nvPr/>
        </p:nvSpPr>
        <p:spPr bwMode="gray">
          <a:xfrm>
            <a:off x="6804025" y="605948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1</a:t>
            </a:r>
            <a:endParaRPr lang="fr-FR" sz="1200"/>
          </a:p>
        </p:txBody>
      </p:sp>
      <p:sp>
        <p:nvSpPr>
          <p:cNvPr id="33863" name="Rectangle 175"/>
          <p:cNvSpPr>
            <a:spLocks noChangeArrowheads="1"/>
          </p:cNvSpPr>
          <p:nvPr/>
        </p:nvSpPr>
        <p:spPr bwMode="gray">
          <a:xfrm>
            <a:off x="6889750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sp>
        <p:nvSpPr>
          <p:cNvPr id="33864" name="Rectangle 176"/>
          <p:cNvSpPr>
            <a:spLocks noChangeArrowheads="1"/>
          </p:cNvSpPr>
          <p:nvPr/>
        </p:nvSpPr>
        <p:spPr bwMode="gray">
          <a:xfrm>
            <a:off x="7004050" y="6011863"/>
            <a:ext cx="5429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33865" name="Rectangle 177"/>
          <p:cNvSpPr>
            <a:spLocks noChangeArrowheads="1"/>
          </p:cNvSpPr>
          <p:nvPr/>
        </p:nvSpPr>
        <p:spPr bwMode="gray">
          <a:xfrm>
            <a:off x="7185025" y="6059488"/>
            <a:ext cx="841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n</a:t>
            </a:r>
            <a:endParaRPr lang="fr-FR" sz="1200"/>
          </a:p>
        </p:txBody>
      </p:sp>
      <p:sp>
        <p:nvSpPr>
          <p:cNvPr id="33866" name="Rectangle 178"/>
          <p:cNvSpPr>
            <a:spLocks noChangeArrowheads="1"/>
          </p:cNvSpPr>
          <p:nvPr/>
        </p:nvSpPr>
        <p:spPr bwMode="gray">
          <a:xfrm>
            <a:off x="7356475" y="605948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/>
              <a:t> </a:t>
            </a:r>
            <a:endParaRPr lang="fr-FR" sz="1200"/>
          </a:p>
        </p:txBody>
      </p:sp>
      <p:grpSp>
        <p:nvGrpSpPr>
          <p:cNvPr id="33867" name="Group 179"/>
          <p:cNvGrpSpPr>
            <a:grpSpLocks/>
          </p:cNvGrpSpPr>
          <p:nvPr/>
        </p:nvGrpSpPr>
        <p:grpSpPr bwMode="gray">
          <a:xfrm>
            <a:off x="2012950" y="2363788"/>
            <a:ext cx="104775" cy="304800"/>
            <a:chOff x="3870" y="4368"/>
            <a:chExt cx="165" cy="480"/>
          </a:xfrm>
        </p:grpSpPr>
        <p:sp>
          <p:nvSpPr>
            <p:cNvPr id="33882" name="Line 180"/>
            <p:cNvSpPr>
              <a:spLocks noChangeShapeType="1"/>
            </p:cNvSpPr>
            <p:nvPr/>
          </p:nvSpPr>
          <p:spPr bwMode="gray">
            <a:xfrm>
              <a:off x="3960" y="4368"/>
              <a:ext cx="1" cy="3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3883" name="Freeform 181"/>
            <p:cNvSpPr>
              <a:spLocks/>
            </p:cNvSpPr>
            <p:nvPr/>
          </p:nvSpPr>
          <p:spPr bwMode="gray">
            <a:xfrm>
              <a:off x="3870" y="4698"/>
              <a:ext cx="165" cy="150"/>
            </a:xfrm>
            <a:custGeom>
              <a:avLst/>
              <a:gdLst>
                <a:gd name="T0" fmla="*/ 0 w 165"/>
                <a:gd name="T1" fmla="*/ 0 h 150"/>
                <a:gd name="T2" fmla="*/ 90 w 165"/>
                <a:gd name="T3" fmla="*/ 150 h 150"/>
                <a:gd name="T4" fmla="*/ 165 w 165"/>
                <a:gd name="T5" fmla="*/ 0 h 150"/>
                <a:gd name="T6" fmla="*/ 0 w 165"/>
                <a:gd name="T7" fmla="*/ 0 h 1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5"/>
                <a:gd name="T13" fmla="*/ 0 h 150"/>
                <a:gd name="T14" fmla="*/ 165 w 165"/>
                <a:gd name="T15" fmla="*/ 150 h 1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5" h="150">
                  <a:moveTo>
                    <a:pt x="0" y="0"/>
                  </a:moveTo>
                  <a:lnTo>
                    <a:pt x="90" y="150"/>
                  </a:lnTo>
                  <a:lnTo>
                    <a:pt x="1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3868" name="Line 182"/>
          <p:cNvSpPr>
            <a:spLocks noChangeShapeType="1"/>
          </p:cNvSpPr>
          <p:nvPr/>
        </p:nvSpPr>
        <p:spPr bwMode="gray">
          <a:xfrm>
            <a:off x="2070100" y="29733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69" name="Freeform 183"/>
          <p:cNvSpPr>
            <a:spLocks/>
          </p:cNvSpPr>
          <p:nvPr/>
        </p:nvSpPr>
        <p:spPr bwMode="gray">
          <a:xfrm>
            <a:off x="2012950" y="3259138"/>
            <a:ext cx="104775" cy="95250"/>
          </a:xfrm>
          <a:custGeom>
            <a:avLst/>
            <a:gdLst>
              <a:gd name="T0" fmla="*/ 0 w 165"/>
              <a:gd name="T1" fmla="*/ 0 h 150"/>
              <a:gd name="T2" fmla="*/ 57150 w 165"/>
              <a:gd name="T3" fmla="*/ 95250 h 150"/>
              <a:gd name="T4" fmla="*/ 104775 w 165"/>
              <a:gd name="T5" fmla="*/ 0 h 150"/>
              <a:gd name="T6" fmla="*/ 0 w 165"/>
              <a:gd name="T7" fmla="*/ 0 h 150"/>
              <a:gd name="T8" fmla="*/ 0 60000 65536"/>
              <a:gd name="T9" fmla="*/ 0 60000 65536"/>
              <a:gd name="T10" fmla="*/ 0 60000 65536"/>
              <a:gd name="T11" fmla="*/ 0 60000 65536"/>
              <a:gd name="T12" fmla="*/ 0 w 165"/>
              <a:gd name="T13" fmla="*/ 0 h 150"/>
              <a:gd name="T14" fmla="*/ 165 w 165"/>
              <a:gd name="T15" fmla="*/ 150 h 1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5" h="150">
                <a:moveTo>
                  <a:pt x="0" y="0"/>
                </a:moveTo>
                <a:lnTo>
                  <a:pt x="90" y="150"/>
                </a:lnTo>
                <a:lnTo>
                  <a:pt x="16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3870" name="Line 184"/>
          <p:cNvSpPr>
            <a:spLocks noChangeShapeType="1"/>
          </p:cNvSpPr>
          <p:nvPr/>
        </p:nvSpPr>
        <p:spPr bwMode="gray">
          <a:xfrm>
            <a:off x="2070100" y="36496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71" name="Freeform 185"/>
          <p:cNvSpPr>
            <a:spLocks/>
          </p:cNvSpPr>
          <p:nvPr/>
        </p:nvSpPr>
        <p:spPr bwMode="gray">
          <a:xfrm>
            <a:off x="2012950" y="4011613"/>
            <a:ext cx="104775" cy="95250"/>
          </a:xfrm>
          <a:custGeom>
            <a:avLst/>
            <a:gdLst>
              <a:gd name="T0" fmla="*/ 0 w 165"/>
              <a:gd name="T1" fmla="*/ 0 h 150"/>
              <a:gd name="T2" fmla="*/ 57150 w 165"/>
              <a:gd name="T3" fmla="*/ 95250 h 150"/>
              <a:gd name="T4" fmla="*/ 104775 w 165"/>
              <a:gd name="T5" fmla="*/ 0 h 150"/>
              <a:gd name="T6" fmla="*/ 0 w 165"/>
              <a:gd name="T7" fmla="*/ 0 h 150"/>
              <a:gd name="T8" fmla="*/ 0 60000 65536"/>
              <a:gd name="T9" fmla="*/ 0 60000 65536"/>
              <a:gd name="T10" fmla="*/ 0 60000 65536"/>
              <a:gd name="T11" fmla="*/ 0 60000 65536"/>
              <a:gd name="T12" fmla="*/ 0 w 165"/>
              <a:gd name="T13" fmla="*/ 0 h 150"/>
              <a:gd name="T14" fmla="*/ 165 w 165"/>
              <a:gd name="T15" fmla="*/ 150 h 1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5" h="150">
                <a:moveTo>
                  <a:pt x="0" y="0"/>
                </a:moveTo>
                <a:lnTo>
                  <a:pt x="90" y="150"/>
                </a:lnTo>
                <a:lnTo>
                  <a:pt x="16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3872" name="Line 186"/>
          <p:cNvSpPr>
            <a:spLocks noChangeShapeType="1"/>
          </p:cNvSpPr>
          <p:nvPr/>
        </p:nvSpPr>
        <p:spPr bwMode="gray">
          <a:xfrm>
            <a:off x="2070100" y="43354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73" name="Freeform 187"/>
          <p:cNvSpPr>
            <a:spLocks/>
          </p:cNvSpPr>
          <p:nvPr/>
        </p:nvSpPr>
        <p:spPr bwMode="gray">
          <a:xfrm>
            <a:off x="2012950" y="4697413"/>
            <a:ext cx="104775" cy="95250"/>
          </a:xfrm>
          <a:custGeom>
            <a:avLst/>
            <a:gdLst>
              <a:gd name="T0" fmla="*/ 0 w 165"/>
              <a:gd name="T1" fmla="*/ 0 h 150"/>
              <a:gd name="T2" fmla="*/ 57150 w 165"/>
              <a:gd name="T3" fmla="*/ 95250 h 150"/>
              <a:gd name="T4" fmla="*/ 104775 w 165"/>
              <a:gd name="T5" fmla="*/ 0 h 150"/>
              <a:gd name="T6" fmla="*/ 0 w 165"/>
              <a:gd name="T7" fmla="*/ 0 h 150"/>
              <a:gd name="T8" fmla="*/ 0 60000 65536"/>
              <a:gd name="T9" fmla="*/ 0 60000 65536"/>
              <a:gd name="T10" fmla="*/ 0 60000 65536"/>
              <a:gd name="T11" fmla="*/ 0 60000 65536"/>
              <a:gd name="T12" fmla="*/ 0 w 165"/>
              <a:gd name="T13" fmla="*/ 0 h 150"/>
              <a:gd name="T14" fmla="*/ 165 w 165"/>
              <a:gd name="T15" fmla="*/ 150 h 1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5" h="150">
                <a:moveTo>
                  <a:pt x="0" y="0"/>
                </a:moveTo>
                <a:lnTo>
                  <a:pt x="90" y="150"/>
                </a:lnTo>
                <a:lnTo>
                  <a:pt x="16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3874" name="Line 188"/>
          <p:cNvSpPr>
            <a:spLocks noChangeShapeType="1"/>
          </p:cNvSpPr>
          <p:nvPr/>
        </p:nvSpPr>
        <p:spPr bwMode="gray">
          <a:xfrm>
            <a:off x="2070100" y="5021263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75" name="Freeform 189"/>
          <p:cNvSpPr>
            <a:spLocks/>
          </p:cNvSpPr>
          <p:nvPr/>
        </p:nvSpPr>
        <p:spPr bwMode="gray">
          <a:xfrm>
            <a:off x="2012950" y="5383213"/>
            <a:ext cx="104775" cy="95250"/>
          </a:xfrm>
          <a:custGeom>
            <a:avLst/>
            <a:gdLst>
              <a:gd name="T0" fmla="*/ 0 w 165"/>
              <a:gd name="T1" fmla="*/ 0 h 150"/>
              <a:gd name="T2" fmla="*/ 57150 w 165"/>
              <a:gd name="T3" fmla="*/ 95250 h 150"/>
              <a:gd name="T4" fmla="*/ 104775 w 165"/>
              <a:gd name="T5" fmla="*/ 0 h 150"/>
              <a:gd name="T6" fmla="*/ 0 w 165"/>
              <a:gd name="T7" fmla="*/ 0 h 150"/>
              <a:gd name="T8" fmla="*/ 0 60000 65536"/>
              <a:gd name="T9" fmla="*/ 0 60000 65536"/>
              <a:gd name="T10" fmla="*/ 0 60000 65536"/>
              <a:gd name="T11" fmla="*/ 0 60000 65536"/>
              <a:gd name="T12" fmla="*/ 0 w 165"/>
              <a:gd name="T13" fmla="*/ 0 h 150"/>
              <a:gd name="T14" fmla="*/ 165 w 165"/>
              <a:gd name="T15" fmla="*/ 150 h 1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5" h="150">
                <a:moveTo>
                  <a:pt x="0" y="0"/>
                </a:moveTo>
                <a:lnTo>
                  <a:pt x="90" y="150"/>
                </a:lnTo>
                <a:lnTo>
                  <a:pt x="16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33876" name="Line 190"/>
          <p:cNvSpPr>
            <a:spLocks noChangeShapeType="1"/>
          </p:cNvSpPr>
          <p:nvPr/>
        </p:nvSpPr>
        <p:spPr bwMode="gray">
          <a:xfrm>
            <a:off x="2070100" y="5783263"/>
            <a:ext cx="0" cy="76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77" name="Line 191"/>
          <p:cNvSpPr>
            <a:spLocks noChangeShapeType="1"/>
          </p:cNvSpPr>
          <p:nvPr/>
        </p:nvSpPr>
        <p:spPr bwMode="gray">
          <a:xfrm flipH="1">
            <a:off x="1460500" y="5859463"/>
            <a:ext cx="609600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78" name="Line 192"/>
          <p:cNvSpPr>
            <a:spLocks noChangeShapeType="1"/>
          </p:cNvSpPr>
          <p:nvPr/>
        </p:nvSpPr>
        <p:spPr bwMode="gray">
          <a:xfrm flipV="1">
            <a:off x="1460500" y="2363788"/>
            <a:ext cx="0" cy="3495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79" name="Line 193"/>
          <p:cNvSpPr>
            <a:spLocks noChangeShapeType="1"/>
          </p:cNvSpPr>
          <p:nvPr/>
        </p:nvSpPr>
        <p:spPr bwMode="gray">
          <a:xfrm>
            <a:off x="1460500" y="2363788"/>
            <a:ext cx="6096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3880" name="Rectangle 194"/>
          <p:cNvSpPr>
            <a:spLocks noChangeArrowheads="1"/>
          </p:cNvSpPr>
          <p:nvPr/>
        </p:nvSpPr>
        <p:spPr bwMode="auto">
          <a:xfrm>
            <a:off x="4692650" y="1868488"/>
            <a:ext cx="592138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i="1"/>
              <a:t>Phases</a:t>
            </a:r>
          </a:p>
        </p:txBody>
      </p:sp>
      <p:sp>
        <p:nvSpPr>
          <p:cNvPr id="33881" name="Rectangle 195"/>
          <p:cNvSpPr>
            <a:spLocks noChangeArrowheads="1"/>
          </p:cNvSpPr>
          <p:nvPr/>
        </p:nvSpPr>
        <p:spPr bwMode="gray">
          <a:xfrm>
            <a:off x="490538" y="3041650"/>
            <a:ext cx="8493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i="1"/>
              <a:t>Disciplines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401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Une démarche lourde : Le Processus Unifié</a:t>
            </a:r>
            <a:br>
              <a:rPr lang="fr-FR" smtClean="0"/>
            </a:br>
            <a:r>
              <a:rPr lang="fr-FR" smtClean="0"/>
              <a:t>(Suite)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3072636"/>
          </a:xfrm>
        </p:spPr>
        <p:txBody>
          <a:bodyPr/>
          <a:lstStyle/>
          <a:p>
            <a:r>
              <a:rPr lang="fr-FR" dirty="0" smtClean="0"/>
              <a:t>Dirigée par les cas d’utilisation</a:t>
            </a:r>
          </a:p>
          <a:p>
            <a:pPr lvl="1"/>
            <a:r>
              <a:rPr lang="fr-FR" dirty="0" smtClean="0"/>
              <a:t>On recueille les besoins en identifiant les cas d’utilisation (Use Case)</a:t>
            </a:r>
          </a:p>
          <a:p>
            <a:pPr lvl="2"/>
            <a:r>
              <a:rPr lang="fr-FR" dirty="0" smtClean="0"/>
              <a:t>Séquences d’événements qui correspondent à une utilisation typique d’un système, vu comme une boite noire</a:t>
            </a:r>
          </a:p>
          <a:p>
            <a:pPr lvl="1"/>
            <a:r>
              <a:rPr lang="fr-FR" dirty="0" smtClean="0"/>
              <a:t>Les cas d’utilisation dirigent toutes les étapes suivantes de la conception</a:t>
            </a:r>
          </a:p>
          <a:p>
            <a:r>
              <a:rPr lang="fr-FR" dirty="0" smtClean="0"/>
              <a:t>Centrée sur l’architecture</a:t>
            </a:r>
          </a:p>
          <a:p>
            <a:pPr lvl="1"/>
            <a:r>
              <a:rPr lang="fr-FR" dirty="0" smtClean="0"/>
              <a:t>L’architecture est imaginée et structurée dès les premières itérations</a:t>
            </a:r>
          </a:p>
          <a:p>
            <a:pPr lvl="1"/>
            <a:r>
              <a:rPr lang="fr-FR" dirty="0" smtClean="0"/>
              <a:t>Les cas d’utilisation aident à définir l’architecture</a:t>
            </a:r>
          </a:p>
          <a:p>
            <a:r>
              <a:rPr lang="fr-FR" dirty="0" smtClean="0"/>
              <a:t>Forte dépendance à UML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057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Les phases du cycle de vie du Processus Unifié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257778"/>
            <a:ext cx="8712200" cy="5024437"/>
          </a:xfrm>
        </p:spPr>
        <p:txBody>
          <a:bodyPr/>
          <a:lstStyle/>
          <a:p>
            <a:r>
              <a:rPr lang="fr-FR" dirty="0" smtClean="0"/>
              <a:t>Amorçage (inception)</a:t>
            </a:r>
          </a:p>
          <a:p>
            <a:pPr lvl="1"/>
            <a:r>
              <a:rPr lang="fr-FR" dirty="0" smtClean="0"/>
              <a:t>Identifier les principaux objectifs du système, pour chacun de ses utilisateurs</a:t>
            </a:r>
          </a:p>
          <a:p>
            <a:pPr lvl="1"/>
            <a:r>
              <a:rPr lang="fr-FR" dirty="0" smtClean="0"/>
              <a:t>Esquisser et étudier quelques architectures provisoires</a:t>
            </a:r>
          </a:p>
          <a:p>
            <a:pPr lvl="1"/>
            <a:r>
              <a:rPr lang="fr-FR" dirty="0" smtClean="0"/>
              <a:t>Planifier le développement et faire une estimation des coûts</a:t>
            </a:r>
          </a:p>
          <a:p>
            <a:r>
              <a:rPr lang="fr-FR" dirty="0" smtClean="0"/>
              <a:t>Élaboration</a:t>
            </a:r>
          </a:p>
          <a:p>
            <a:pPr lvl="1"/>
            <a:r>
              <a:rPr lang="fr-FR" dirty="0" smtClean="0"/>
              <a:t>Spécifier les cas d’utilisation et concevoir l’architecture système</a:t>
            </a:r>
          </a:p>
          <a:p>
            <a:pPr lvl="1"/>
            <a:r>
              <a:rPr lang="fr-FR" dirty="0" smtClean="0"/>
              <a:t>Développer les </a:t>
            </a:r>
            <a:r>
              <a:rPr lang="fr-FR" dirty="0"/>
              <a:t>c</a:t>
            </a:r>
            <a:r>
              <a:rPr lang="fr-FR" dirty="0" smtClean="0"/>
              <a:t>as d’utilisation critiques pour produire un système de base</a:t>
            </a:r>
          </a:p>
          <a:p>
            <a:pPr lvl="2"/>
            <a:r>
              <a:rPr lang="fr-FR" dirty="0" smtClean="0"/>
              <a:t>Permet d’estimer les ressources nécessaires pour finaliser le système</a:t>
            </a:r>
          </a:p>
          <a:p>
            <a:r>
              <a:rPr lang="fr-FR" dirty="0" smtClean="0"/>
              <a:t>Construction</a:t>
            </a:r>
          </a:p>
          <a:p>
            <a:pPr lvl="1"/>
            <a:r>
              <a:rPr lang="fr-FR" dirty="0" smtClean="0"/>
              <a:t>Concevoir et développer le reste du système</a:t>
            </a:r>
          </a:p>
          <a:p>
            <a:pPr lvl="1"/>
            <a:r>
              <a:rPr lang="fr-FR" dirty="0" smtClean="0"/>
              <a:t>Livrer les premières versions du système (bêta) à des utilisateurs choisis</a:t>
            </a:r>
          </a:p>
          <a:p>
            <a:r>
              <a:rPr lang="fr-FR" dirty="0" smtClean="0"/>
              <a:t>Transition</a:t>
            </a:r>
          </a:p>
          <a:p>
            <a:pPr lvl="1"/>
            <a:r>
              <a:rPr lang="fr-FR" dirty="0" smtClean="0"/>
              <a:t>Livrer de nouvelles bêtas pour corriger les carences et les défauts</a:t>
            </a:r>
          </a:p>
          <a:p>
            <a:pPr lvl="1"/>
            <a:r>
              <a:rPr lang="fr-FR" dirty="0" smtClean="0"/>
              <a:t>Constituer les équipes et les procédures de maintenance</a:t>
            </a:r>
          </a:p>
          <a:p>
            <a:pPr lvl="1"/>
            <a:r>
              <a:rPr lang="fr-FR" dirty="0" smtClean="0"/>
              <a:t>Livrer le produit à tous les utilisateurs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429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lang="fr-FR" smtClean="0"/>
              <a:t>Caractéristiques des approches Agiles</a:t>
            </a:r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599488" cy="3862387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dirty="0" smtClean="0"/>
              <a:t>Itératives et incrémentales</a:t>
            </a:r>
          </a:p>
          <a:p>
            <a:pPr lvl="1"/>
            <a:r>
              <a:rPr lang="fr-FR" dirty="0" smtClean="0"/>
              <a:t>Chaque itération transforme des besoins en code fonctionnel</a:t>
            </a:r>
          </a:p>
          <a:p>
            <a:r>
              <a:rPr lang="fr-FR" dirty="0" smtClean="0"/>
              <a:t>Pas d’étapes méthodologiques formelles</a:t>
            </a:r>
          </a:p>
          <a:p>
            <a:r>
              <a:rPr lang="fr-FR" dirty="0" smtClean="0"/>
              <a:t>De petites équipes soudées de développeurs motivés et expérimentés</a:t>
            </a:r>
          </a:p>
          <a:p>
            <a:pPr lvl="1"/>
            <a:r>
              <a:rPr lang="fr-FR" dirty="0" smtClean="0"/>
              <a:t>Compétences élargies des membres de l’équipe</a:t>
            </a:r>
          </a:p>
          <a:p>
            <a:pPr lvl="2"/>
            <a:r>
              <a:rPr lang="fr-FR" dirty="0" smtClean="0"/>
              <a:t>Analystes + UML ; UML + développeur ; développeur + testeur</a:t>
            </a:r>
          </a:p>
          <a:p>
            <a:pPr lvl="2"/>
            <a:r>
              <a:rPr lang="fr-FR" dirty="0" smtClean="0"/>
              <a:t>Les compétences partagées favorisent la communication</a:t>
            </a:r>
          </a:p>
          <a:p>
            <a:pPr lvl="1"/>
            <a:r>
              <a:rPr lang="fr-FR" dirty="0" smtClean="0"/>
              <a:t>Utilisation des processus et de la documentation avec parcimonie </a:t>
            </a:r>
          </a:p>
          <a:p>
            <a:r>
              <a:rPr lang="fr-FR" dirty="0" smtClean="0"/>
              <a:t>Les parties prenantes jouent un rôle actif en permanence</a:t>
            </a:r>
          </a:p>
          <a:p>
            <a:pPr lvl="1"/>
            <a:r>
              <a:rPr lang="fr-FR" dirty="0" smtClean="0"/>
              <a:t>Directement au sein de l’équipe</a:t>
            </a:r>
          </a:p>
          <a:p>
            <a:pPr lvl="1"/>
            <a:r>
              <a:rPr lang="fr-FR" i="1" dirty="0" smtClean="0"/>
              <a:t>Via</a:t>
            </a:r>
            <a:r>
              <a:rPr lang="fr-FR" dirty="0" smtClean="0"/>
              <a:t> l’analyste métier de l’équipe</a:t>
            </a:r>
          </a:p>
        </p:txBody>
      </p:sp>
      <p:sp>
        <p:nvSpPr>
          <p:cNvPr id="52227" name="Rectangle 25"/>
          <p:cNvSpPr>
            <a:spLocks noChangeArrowheads="1"/>
          </p:cNvSpPr>
          <p:nvPr/>
        </p:nvSpPr>
        <p:spPr bwMode="auto">
          <a:xfrm>
            <a:off x="2328863" y="2479675"/>
            <a:ext cx="920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>
                <a:latin typeface="Courier New" pitchFamily="49" charset="0"/>
              </a:rPr>
              <a:t> </a:t>
            </a:r>
            <a:endParaRPr lang="fr-FR"/>
          </a:p>
        </p:txBody>
      </p:sp>
      <p:sp>
        <p:nvSpPr>
          <p:cNvPr id="52228" name="Rectangle 26"/>
          <p:cNvSpPr>
            <a:spLocks noChangeArrowheads="1"/>
          </p:cNvSpPr>
          <p:nvPr/>
        </p:nvSpPr>
        <p:spPr bwMode="auto">
          <a:xfrm>
            <a:off x="3519488" y="2441575"/>
            <a:ext cx="13811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fr-FR"/>
          </a:p>
        </p:txBody>
      </p:sp>
      <p:sp>
        <p:nvSpPr>
          <p:cNvPr id="52229" name="Rectangle 28"/>
          <p:cNvSpPr>
            <a:spLocks noChangeArrowheads="1"/>
          </p:cNvSpPr>
          <p:nvPr/>
        </p:nvSpPr>
        <p:spPr bwMode="auto">
          <a:xfrm>
            <a:off x="4624388" y="2479675"/>
            <a:ext cx="92075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eaLnBrk="0" hangingPunct="0"/>
            <a:r>
              <a:rPr lang="fr-FR" sz="1200" i="1">
                <a:latin typeface="Courier New" pitchFamily="49" charset="0"/>
              </a:rPr>
              <a:t> </a:t>
            </a:r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4001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Exemple de méthode Agile : Scrum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224727"/>
            <a:ext cx="8599488" cy="1277273"/>
          </a:xfrm>
        </p:spPr>
        <p:txBody>
          <a:bodyPr/>
          <a:lstStyle/>
          <a:p>
            <a:r>
              <a:rPr lang="fr-FR" dirty="0" err="1" smtClean="0"/>
              <a:t>Scrum</a:t>
            </a:r>
            <a:r>
              <a:rPr lang="fr-FR" dirty="0" smtClean="0"/>
              <a:t> est une des méthodes agiles les plus connues</a:t>
            </a:r>
          </a:p>
          <a:p>
            <a:pPr lvl="1"/>
            <a:r>
              <a:rPr lang="fr-FR" dirty="0" smtClean="0"/>
              <a:t>Sprint de deux à quatre semaines</a:t>
            </a:r>
          </a:p>
          <a:p>
            <a:pPr lvl="1"/>
            <a:r>
              <a:rPr lang="fr-FR" dirty="0" smtClean="0"/>
              <a:t>Equipes de 5 à 9 personnes, comprenant</a:t>
            </a:r>
          </a:p>
          <a:p>
            <a:pPr lvl="2"/>
            <a:r>
              <a:rPr lang="fr-FR" dirty="0" smtClean="0"/>
              <a:t>Un « </a:t>
            </a:r>
            <a:r>
              <a:rPr lang="fr-FR" dirty="0" err="1" smtClean="0"/>
              <a:t>scrum</a:t>
            </a:r>
            <a:r>
              <a:rPr lang="fr-FR" dirty="0" smtClean="0"/>
              <a:t> master », chef de projet</a:t>
            </a:r>
          </a:p>
          <a:p>
            <a:pPr lvl="2"/>
            <a:r>
              <a:rPr lang="fr-FR" dirty="0" smtClean="0"/>
              <a:t>Un « </a:t>
            </a:r>
            <a:r>
              <a:rPr lang="fr-FR" dirty="0" err="1" smtClean="0"/>
              <a:t>poduct</a:t>
            </a:r>
            <a:r>
              <a:rPr lang="fr-FR" dirty="0" smtClean="0"/>
              <a:t> </a:t>
            </a:r>
            <a:r>
              <a:rPr lang="fr-FR" dirty="0" err="1" smtClean="0"/>
              <a:t>owner</a:t>
            </a:r>
            <a:r>
              <a:rPr lang="fr-FR" dirty="0" smtClean="0"/>
              <a:t> », analyste métier représentant des parties prenantes</a:t>
            </a:r>
          </a:p>
        </p:txBody>
      </p:sp>
      <p:pic>
        <p:nvPicPr>
          <p:cNvPr id="54279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2901950"/>
            <a:ext cx="8523288" cy="331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03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300"/>
              </a:spcAft>
            </a:pPr>
            <a:r>
              <a:rPr lang="fr-FR" dirty="0" smtClean="0"/>
              <a:t>L’approche semi Agile : Un bon compromis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>
          <a:xfrm>
            <a:off x="279400" y="1312863"/>
            <a:ext cx="8701088" cy="3519487"/>
          </a:xfrm>
        </p:spPr>
        <p:txBody>
          <a:bodyPr/>
          <a:lstStyle/>
          <a:p>
            <a:r>
              <a:rPr lang="fr-FR" dirty="0" smtClean="0"/>
              <a:t>On peut réduire certains risques liés à l’Agilité en hybridant les méthodes</a:t>
            </a:r>
          </a:p>
          <a:p>
            <a:pPr lvl="1"/>
            <a:r>
              <a:rPr lang="fr-FR" dirty="0" smtClean="0"/>
              <a:t>Éléments les plus complexes du système</a:t>
            </a:r>
          </a:p>
          <a:p>
            <a:pPr lvl="2"/>
            <a:r>
              <a:rPr lang="fr-FR" dirty="0" smtClean="0"/>
              <a:t>Utiliser des modèles UML et suivre les étapes définies par les processus</a:t>
            </a:r>
          </a:p>
          <a:p>
            <a:pPr lvl="2"/>
            <a:r>
              <a:rPr lang="fr-FR" dirty="0" smtClean="0"/>
              <a:t>Garder bien à jour la documentation des modèles</a:t>
            </a:r>
          </a:p>
          <a:p>
            <a:pPr lvl="1"/>
            <a:r>
              <a:rPr lang="fr-FR" dirty="0" smtClean="0"/>
              <a:t>Éléments les plus simples du système</a:t>
            </a:r>
          </a:p>
          <a:p>
            <a:pPr lvl="2"/>
            <a:r>
              <a:rPr lang="fr-FR" dirty="0" smtClean="0"/>
              <a:t>Concevoir en même temps que l’on code</a:t>
            </a:r>
          </a:p>
          <a:p>
            <a:pPr lvl="2"/>
            <a:r>
              <a:rPr lang="fr-FR" dirty="0" smtClean="0"/>
              <a:t>Suivre une approche pilotée par les tests (Test-</a:t>
            </a:r>
            <a:r>
              <a:rPr lang="fr-FR" dirty="0" err="1" smtClean="0"/>
              <a:t>Driven</a:t>
            </a:r>
            <a:r>
              <a:rPr lang="fr-FR" dirty="0" smtClean="0"/>
              <a:t>)</a:t>
            </a:r>
          </a:p>
          <a:p>
            <a:r>
              <a:rPr lang="fr-FR" dirty="0" smtClean="0"/>
              <a:t>Exemples d’approches semi agiles</a:t>
            </a:r>
          </a:p>
          <a:p>
            <a:pPr lvl="1"/>
            <a:r>
              <a:rPr lang="fr-FR" dirty="0" smtClean="0"/>
              <a:t>Essential UP (</a:t>
            </a:r>
            <a:r>
              <a:rPr lang="fr-FR" dirty="0" err="1" smtClean="0"/>
              <a:t>Ivar</a:t>
            </a:r>
            <a:r>
              <a:rPr lang="fr-FR" dirty="0" smtClean="0"/>
              <a:t> Jacobson)</a:t>
            </a:r>
          </a:p>
          <a:p>
            <a:pPr lvl="1"/>
            <a:r>
              <a:rPr lang="fr-FR" dirty="0" smtClean="0"/>
              <a:t>Agile UP (Scott Ambler)</a:t>
            </a:r>
          </a:p>
          <a:p>
            <a:pPr lvl="1"/>
            <a:r>
              <a:rPr lang="fr-FR" dirty="0" smtClean="0"/>
              <a:t>The Agile </a:t>
            </a:r>
            <a:r>
              <a:rPr lang="fr-FR" dirty="0" err="1" smtClean="0"/>
              <a:t>Scaling</a:t>
            </a:r>
            <a:r>
              <a:rPr lang="fr-FR" dirty="0" smtClean="0"/>
              <a:t> Model (IBM)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655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214282" y="1312863"/>
            <a:ext cx="8664606" cy="2190343"/>
          </a:xfrm>
        </p:spPr>
        <p:txBody>
          <a:bodyPr/>
          <a:lstStyle/>
          <a:p>
            <a:r>
              <a:rPr lang="fr-FR" dirty="0" err="1" smtClean="0"/>
              <a:t>Entity</a:t>
            </a:r>
            <a:endParaRPr lang="fr-FR" dirty="0" smtClean="0"/>
          </a:p>
          <a:p>
            <a:r>
              <a:rPr lang="fr-FR" dirty="0" err="1" smtClean="0"/>
              <a:t>Repository</a:t>
            </a:r>
            <a:endParaRPr lang="fr-FR" dirty="0" smtClean="0"/>
          </a:p>
          <a:p>
            <a:pPr lvl="1"/>
            <a:r>
              <a:rPr lang="fr-FR" smtClean="0"/>
              <a:t>ORM</a:t>
            </a:r>
          </a:p>
          <a:p>
            <a:pPr lvl="1"/>
            <a:r>
              <a:rPr lang="fr-FR" dirty="0" smtClean="0"/>
              <a:t>Code First</a:t>
            </a:r>
          </a:p>
          <a:p>
            <a:pPr lvl="1"/>
            <a:r>
              <a:rPr lang="fr-FR" dirty="0" err="1" smtClean="0"/>
              <a:t>Database</a:t>
            </a:r>
            <a:r>
              <a:rPr lang="fr-FR" dirty="0" smtClean="0"/>
              <a:t> First</a:t>
            </a:r>
          </a:p>
          <a:p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Patterns du Modèle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02378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>
          <a:xfrm>
            <a:off x="214282" y="1312863"/>
            <a:ext cx="8664606" cy="1282402"/>
          </a:xfrm>
        </p:spPr>
        <p:txBody>
          <a:bodyPr/>
          <a:lstStyle/>
          <a:p>
            <a:r>
              <a:rPr lang="fr-FR" dirty="0" smtClean="0"/>
              <a:t>MVC</a:t>
            </a:r>
          </a:p>
          <a:p>
            <a:r>
              <a:rPr lang="fr-FR" dirty="0" smtClean="0"/>
              <a:t>MVVM</a:t>
            </a:r>
          </a:p>
          <a:p>
            <a:r>
              <a:rPr lang="fr-FR" dirty="0" smtClean="0"/>
              <a:t>MVW</a:t>
            </a:r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patterns architecturaux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2151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1637469766974793A20576879204F626A656374733F2028636F6E74696E756564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768617420497320616E204F626A6563743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768617420497320616E204F626A6563743F202028636F6E74696E75656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768617420497320616E204F626A6563743F202028636F6E74696E756564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3797374656D20436F6E7465787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F626A6563742D4F7269656E74656420416E616C7973697320616E642044657369676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4F626A656374204964656E7469747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665617475726573206F662074686520556E69666965642050726F6365737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506861736573206F662074686520556E69666965642050726F63657373204C696665204379636C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4C2C554D4C20436C61737365732C204F626A656374732C20616E6420417474726962757465732028636F6E74696E7565642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8616E64732D4F6E20457865726369736520312E313A20204D6F64656C696E6720436C617373657320616E642041747472696275746573205769746820554D4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PF" val="522C44726177696E67204173736F63696174696F6E7320696E20554D4C"/>
</p:tagLst>
</file>

<file path=ppt/theme/theme1.xml><?xml version="1.0" encoding="utf-8"?>
<a:theme xmlns:a="http://schemas.openxmlformats.org/drawingml/2006/main" name="EPIC">
  <a:themeElements>
    <a:clrScheme name="EPIC 3">
      <a:dk1>
        <a:srgbClr val="000080"/>
      </a:dk1>
      <a:lt1>
        <a:srgbClr val="BCD507"/>
      </a:lt1>
      <a:dk2>
        <a:srgbClr val="FFFFFF"/>
      </a:dk2>
      <a:lt2>
        <a:srgbClr val="000000"/>
      </a:lt2>
      <a:accent1>
        <a:srgbClr val="FFFFCC"/>
      </a:accent1>
      <a:accent2>
        <a:srgbClr val="B90117"/>
      </a:accent2>
      <a:accent3>
        <a:srgbClr val="DAE7AA"/>
      </a:accent3>
      <a:accent4>
        <a:srgbClr val="00006C"/>
      </a:accent4>
      <a:accent5>
        <a:srgbClr val="FFFFE2"/>
      </a:accent5>
      <a:accent6>
        <a:srgbClr val="A70114"/>
      </a:accent6>
      <a:hlink>
        <a:srgbClr val="FFCCCC"/>
      </a:hlink>
      <a:folHlink>
        <a:srgbClr val="99CCFF"/>
      </a:folHlink>
    </a:clrScheme>
    <a:fontScheme name="EPI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PIC 1">
        <a:dk1>
          <a:srgbClr val="000080"/>
        </a:dk1>
        <a:lt1>
          <a:srgbClr val="BAB600"/>
        </a:lt1>
        <a:dk2>
          <a:srgbClr val="FFFFFF"/>
        </a:dk2>
        <a:lt2>
          <a:srgbClr val="000000"/>
        </a:lt2>
        <a:accent1>
          <a:srgbClr val="FFFF66"/>
        </a:accent1>
        <a:accent2>
          <a:srgbClr val="B90117"/>
        </a:accent2>
        <a:accent3>
          <a:srgbClr val="D9D7AA"/>
        </a:accent3>
        <a:accent4>
          <a:srgbClr val="00006C"/>
        </a:accent4>
        <a:accent5>
          <a:srgbClr val="FFFFB8"/>
        </a:accent5>
        <a:accent6>
          <a:srgbClr val="A70114"/>
        </a:accent6>
        <a:hlink>
          <a:srgbClr val="3333FF"/>
        </a:hlink>
        <a:folHlink>
          <a:srgbClr val="66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IC 2">
        <a:dk1>
          <a:srgbClr val="000080"/>
        </a:dk1>
        <a:lt1>
          <a:srgbClr val="BCD507"/>
        </a:lt1>
        <a:dk2>
          <a:srgbClr val="FFFFFF"/>
        </a:dk2>
        <a:lt2>
          <a:srgbClr val="000000"/>
        </a:lt2>
        <a:accent1>
          <a:srgbClr val="FFFF66"/>
        </a:accent1>
        <a:accent2>
          <a:srgbClr val="B90117"/>
        </a:accent2>
        <a:accent3>
          <a:srgbClr val="DAE7AA"/>
        </a:accent3>
        <a:accent4>
          <a:srgbClr val="00006C"/>
        </a:accent4>
        <a:accent5>
          <a:srgbClr val="FFFFB8"/>
        </a:accent5>
        <a:accent6>
          <a:srgbClr val="A70114"/>
        </a:accent6>
        <a:hlink>
          <a:srgbClr val="FFCCCC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PIC 3">
        <a:dk1>
          <a:srgbClr val="000080"/>
        </a:dk1>
        <a:lt1>
          <a:srgbClr val="BCD507"/>
        </a:lt1>
        <a:dk2>
          <a:srgbClr val="FFFFFF"/>
        </a:dk2>
        <a:lt2>
          <a:srgbClr val="000000"/>
        </a:lt2>
        <a:accent1>
          <a:srgbClr val="FFFFCC"/>
        </a:accent1>
        <a:accent2>
          <a:srgbClr val="B90117"/>
        </a:accent2>
        <a:accent3>
          <a:srgbClr val="DAE7AA"/>
        </a:accent3>
        <a:accent4>
          <a:srgbClr val="00006C"/>
        </a:accent4>
        <a:accent5>
          <a:srgbClr val="FFFFE2"/>
        </a:accent5>
        <a:accent6>
          <a:srgbClr val="A70114"/>
        </a:accent6>
        <a:hlink>
          <a:srgbClr val="FFCCCC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5942</TotalTime>
  <Words>1632</Words>
  <Application>Microsoft Office PowerPoint</Application>
  <PresentationFormat>Affichage à l'écran (4:3)</PresentationFormat>
  <Paragraphs>278</Paragraphs>
  <Slides>19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Century Schoolbook</vt:lpstr>
      <vt:lpstr>Courier New</vt:lpstr>
      <vt:lpstr>Times New Roman</vt:lpstr>
      <vt:lpstr>EPIC</vt:lpstr>
      <vt:lpstr>Présentation PowerPoint</vt:lpstr>
      <vt:lpstr>Déroulement</vt:lpstr>
      <vt:lpstr>Qu'est-ce que l'architecture pilotée par les modèles ?</vt:lpstr>
      <vt:lpstr>Standards de l'architecture pilotée par les modèles</vt:lpstr>
      <vt:lpstr>Transformation de modèles</vt:lpstr>
      <vt:lpstr>Approches classiques : Le cycle de vie en cascade</vt:lpstr>
      <vt:lpstr>Questions sur l’approche en cascade</vt:lpstr>
      <vt:lpstr>Une meilleure prise en compte des tests : Le modèle en V</vt:lpstr>
      <vt:lpstr>Critique du modèle en V</vt:lpstr>
      <vt:lpstr>Développement incrémental et itératif</vt:lpstr>
      <vt:lpstr>Adapter la méthode au projet</vt:lpstr>
      <vt:lpstr>Une démarche lourde : Le Processus Unifié</vt:lpstr>
      <vt:lpstr>Une démarche lourde : Le Processus Unifié (Suite)</vt:lpstr>
      <vt:lpstr>Les phases du cycle de vie du Processus Unifié</vt:lpstr>
      <vt:lpstr>Caractéristiques des approches Agiles</vt:lpstr>
      <vt:lpstr>Exemple de méthode Agile : Scrum</vt:lpstr>
      <vt:lpstr>L’approche semi Agile : Un bon compromis</vt:lpstr>
      <vt:lpstr>Les Patterns du Modèle</vt:lpstr>
      <vt:lpstr>Les patterns architecturaux</vt:lpstr>
    </vt:vector>
  </TitlesOfParts>
  <Company>Rutlands.com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XSL Overview</dc:title>
  <dc:creator>Administrator</dc:creator>
  <cp:lastModifiedBy>Cyril Vincent</cp:lastModifiedBy>
  <cp:revision>260</cp:revision>
  <cp:lastPrinted>2001-10-05T18:03:23Z</cp:lastPrinted>
  <dcterms:created xsi:type="dcterms:W3CDTF">2001-05-13T21:09:34Z</dcterms:created>
  <dcterms:modified xsi:type="dcterms:W3CDTF">2016-09-17T15:24:43Z</dcterms:modified>
</cp:coreProperties>
</file>