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2" r:id="rId24"/>
    <p:sldId id="283" r:id="rId25"/>
    <p:sldId id="284" r:id="rId26"/>
    <p:sldId id="285" r:id="rId27"/>
    <p:sldId id="287" r:id="rId28"/>
    <p:sldId id="288" r:id="rId29"/>
    <p:sldId id="289" r:id="rId30"/>
  </p:sldIdLst>
  <p:sldSz cx="9144000" cy="6858000" type="screen4x3"/>
  <p:notesSz cx="6756400" cy="99298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660066"/>
    <a:srgbClr val="800080"/>
    <a:srgbClr val="800000"/>
    <a:srgbClr val="000000"/>
    <a:srgbClr val="292929"/>
    <a:srgbClr val="006600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27653" autoAdjust="0"/>
    <p:restoredTop sz="91331" autoAdjust="0"/>
  </p:normalViewPr>
  <p:slideViewPr>
    <p:cSldViewPr>
      <p:cViewPr varScale="1">
        <p:scale>
          <a:sx n="74" d="100"/>
          <a:sy n="74" d="100"/>
        </p:scale>
        <p:origin x="624" y="72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22"/>
    </p:cViewPr>
  </p:sorterViewPr>
  <p:notesViewPr>
    <p:cSldViewPr>
      <p:cViewPr>
        <p:scale>
          <a:sx n="100" d="100"/>
          <a:sy n="100" d="100"/>
        </p:scale>
        <p:origin x="-1572" y="-72"/>
      </p:cViewPr>
      <p:guideLst>
        <p:guide orient="horz" pos="3127"/>
        <p:guide pos="2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5.xml"/><Relationship Id="rId2" Type="http://schemas.openxmlformats.org/officeDocument/2006/relationships/slide" Target="slides/slide13.xml"/><Relationship Id="rId1" Type="http://schemas.openxmlformats.org/officeDocument/2006/relationships/slide" Target="slides/slide4.xml"/><Relationship Id="rId6" Type="http://schemas.openxmlformats.org/officeDocument/2006/relationships/slide" Target="slides/slide26.xml"/><Relationship Id="rId5" Type="http://schemas.openxmlformats.org/officeDocument/2006/relationships/slide" Target="slides/slide20.xml"/><Relationship Id="rId4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t" anchorCtr="0" compatLnSpc="1">
            <a:prstTxWarp prst="textNoShape">
              <a:avLst/>
            </a:prstTxWarp>
          </a:bodyPr>
          <a:lstStyle>
            <a:lvl1pPr defTabSz="927100">
              <a:defRPr sz="1200" b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7463" y="0"/>
            <a:ext cx="29289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 b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513"/>
            <a:ext cx="29289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b" anchorCtr="0" compatLnSpc="1">
            <a:prstTxWarp prst="textNoShape">
              <a:avLst/>
            </a:prstTxWarp>
          </a:bodyPr>
          <a:lstStyle>
            <a:lvl1pPr defTabSz="927100">
              <a:defRPr sz="1200" b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7463" y="9434513"/>
            <a:ext cx="29289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 b="1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ADDDA595-6434-4780-8F23-F6A1177F52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6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92118" y="607188"/>
            <a:ext cx="5620362" cy="421484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223989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663" y="4238625"/>
            <a:ext cx="6265862" cy="52990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6916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663" y="4238625"/>
            <a:ext cx="6265862" cy="52990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56256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0AF887DC-6CEF-4966-87BA-41173389A59E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r>
              <a:rPr lang="fr-FR" altLang="fr-FR"/>
              <a:t>The term "classifier" was introduced on page 2-41</a:t>
            </a:r>
          </a:p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29577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0ECF6F76-AC6B-49A0-A42C-AAE3CB044F18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r>
              <a:rPr lang="fr-FR" altLang="fr-FR"/>
              <a:t>An analogy to an Interface is a portal, or a functional view. The word view is also used in the data world as a slice from a table or tables.  Emphasize no attributes in the interfaces.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An example would be the ability of a customer to check the status of their courier parcel over the Web to UPS but not change any of the information.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Interface is a stereotype, and so should be displayed in guillemets. Together doesn’t show the guillemets.</a:t>
            </a:r>
          </a:p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73997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38B66015-BDF2-4E4D-826B-8651064349EC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81354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C62C6022-3BFA-4636-AAD6-03932B757B9A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99910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779ABA1D-3136-4C27-A87F-A3D652A865F3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r>
              <a:rPr lang="fr-FR" altLang="fr-FR"/>
              <a:t>Lollipop symbol notation originated in COM diagrams. </a:t>
            </a:r>
          </a:p>
          <a:p>
            <a:r>
              <a:rPr lang="fr-FR" altLang="fr-FR"/>
              <a:t> </a:t>
            </a:r>
          </a:p>
          <a:p>
            <a:r>
              <a:rPr lang="fr-FR" altLang="fr-FR"/>
              <a:t>In Together, the operations are italicized.</a:t>
            </a:r>
          </a:p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47140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0C8381B7-6F54-4B7D-BBD1-71CF4E1495D5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80629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46510E37-0C54-4994-9CFF-2DFF9EA9FFBC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34737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7250D152-54F0-49D3-BD4F-785A16E06A5B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18300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C8F99160-04DC-4073-AC02-C0252C8A8E4B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16609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386B0627-5400-448D-B106-8E7CBFB842EE}" type="slidenum">
              <a:rPr lang="fr-FR" altLang="fr-FR"/>
              <a:pPr/>
              <a:t>13</a:t>
            </a:fld>
            <a:endParaRPr lang="fr-FR" altLang="fr-FR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04906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406CDB9C-8FF1-4FD4-BA49-B26E3D86F109}" type="slidenum">
              <a:rPr lang="fr-FR" altLang="fr-FR"/>
              <a:pPr/>
              <a:t>14</a:t>
            </a:fld>
            <a:endParaRPr lang="fr-FR" altLang="fr-FR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36424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2AD05DBD-2C7E-4728-9C2C-8EF73A7F7D14}" type="slidenum">
              <a:rPr lang="fr-FR" altLang="fr-FR"/>
              <a:pPr/>
              <a:t>15</a:t>
            </a:fld>
            <a:endParaRPr lang="fr-FR" altLang="fr-FR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r>
              <a:rPr lang="fr-FR" altLang="fr-FR"/>
              <a:t>&lt;&lt;import&gt;&gt; and &lt;&lt;access&gt;&gt; will be described a few pages later.</a:t>
            </a:r>
          </a:p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77435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E4F15C93-53D7-4D82-81A4-E80AC5C892A0}" type="slidenum">
              <a:rPr lang="fr-FR" altLang="fr-FR"/>
              <a:pPr/>
              <a:t>16</a:t>
            </a:fld>
            <a:endParaRPr lang="fr-FR" altLang="fr-FR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99250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29F47E8F-26D7-4BA7-BFB6-1D75289A7EA3}" type="slidenum">
              <a:rPr lang="fr-FR" altLang="fr-FR"/>
              <a:pPr/>
              <a:t>17</a:t>
            </a:fld>
            <a:endParaRPr lang="fr-FR" altLang="fr-F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894312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A006395A-C55A-4A4C-8C1C-B47E39D01DEE}" type="slidenum">
              <a:rPr lang="fr-FR" altLang="fr-FR"/>
              <a:pPr/>
              <a:t>18</a:t>
            </a:fld>
            <a:endParaRPr lang="fr-FR" altLang="fr-FR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73796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7E95634B-97A8-4D4D-9E65-FA81A3C09EE3}" type="slidenum">
              <a:rPr lang="fr-FR" altLang="fr-FR"/>
              <a:pPr/>
              <a:t>19</a:t>
            </a:fld>
            <a:endParaRPr lang="fr-FR" altLang="fr-FR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113288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5496BCF3-EA77-47A2-B593-6D32E324DF87}" type="slidenum">
              <a:rPr lang="fr-FR" altLang="fr-FR"/>
              <a:pPr/>
              <a:t>20</a:t>
            </a:fld>
            <a:endParaRPr lang="fr-FR" altLang="fr-FR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904923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FD878B0A-7D0D-4CA9-9D78-A8E7448D7181}" type="slidenum">
              <a:rPr lang="fr-FR" altLang="fr-FR"/>
              <a:pPr/>
              <a:t>21</a:t>
            </a:fld>
            <a:endParaRPr lang="fr-FR" altLang="fr-FR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727201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D33B6580-E097-41C5-83ED-603ABE83462D}" type="slidenum">
              <a:rPr lang="fr-FR" altLang="fr-FR"/>
              <a:pPr/>
              <a:t>22</a:t>
            </a:fld>
            <a:endParaRPr lang="fr-FR" altLang="fr-FR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r>
              <a:rPr lang="fr-FR" altLang="fr-FR"/>
              <a:t>Can use 8-13 at the same time and draw a package box around the classes. </a:t>
            </a:r>
          </a:p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199261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6879E940-5C0A-4F24-ACAD-E38BE93AE1A2}" type="slidenum">
              <a:rPr lang="fr-FR" altLang="fr-FR"/>
              <a:pPr/>
              <a:t>23</a:t>
            </a:fld>
            <a:endParaRPr lang="fr-FR" altLang="fr-FR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271845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D0C6207A-7C45-4276-954B-BDB9D6FEEA38}" type="slidenum">
              <a:rPr lang="fr-FR" altLang="fr-FR"/>
              <a:pPr/>
              <a:t>24</a:t>
            </a:fld>
            <a:endParaRPr lang="fr-FR" altLang="fr-FR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r>
              <a:rPr lang="fr-FR" altLang="fr-FR"/>
              <a:t>The icon in the corner of each package is Together-specific, meaning the symbol is a shortcut to a package defined elsewhere. </a:t>
            </a:r>
          </a:p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551608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939B6744-0FEE-4A3A-ABE8-893B09FB6C11}" type="slidenum">
              <a:rPr lang="fr-FR" altLang="fr-FR"/>
              <a:pPr/>
              <a:t>25</a:t>
            </a:fld>
            <a:endParaRPr lang="fr-FR" altLang="fr-FR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556751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89C96011-856C-4639-A380-DFB838147B41}" type="slidenum">
              <a:rPr lang="fr-FR" altLang="fr-FR"/>
              <a:pPr/>
              <a:t>26</a:t>
            </a:fld>
            <a:endParaRPr lang="fr-FR" altLang="fr-FR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r>
              <a:rPr lang="fr-FR" altLang="fr-FR"/>
              <a:t>This tracing is the kind of thing that a requirements tracking tool such as Requisite Pro does and it would be nice to have that integrated with a CASE tool via the repository.</a:t>
            </a:r>
          </a:p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401236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E8596030-54D9-4742-A84D-D09C3583B92E}" type="slidenum">
              <a:rPr lang="fr-FR" altLang="fr-FR"/>
              <a:pPr/>
              <a:t>27</a:t>
            </a:fld>
            <a:endParaRPr lang="fr-FR" altLang="fr-FR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939128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F090AE62-A357-4777-BAC3-EFCA26616E08}" type="slidenum">
              <a:rPr lang="fr-FR" altLang="fr-FR"/>
              <a:pPr/>
              <a:t>28</a:t>
            </a:fld>
            <a:endParaRPr lang="fr-FR" altLang="fr-FR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487475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FC9B1797-E774-489D-81F9-0203E3D7AAFE}" type="slidenum">
              <a:rPr lang="fr-FR" altLang="fr-FR"/>
              <a:pPr/>
              <a:t>29</a:t>
            </a:fld>
            <a:endParaRPr lang="fr-FR" altLang="fr-FR"/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705350"/>
            <a:ext cx="4946650" cy="4457700"/>
          </a:xfrm>
          <a:prstGeom prst="rect">
            <a:avLst/>
          </a:prstGeom>
        </p:spPr>
        <p:txBody>
          <a:bodyPr/>
          <a:lstStyle/>
          <a:p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383639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6550223"/>
            <a:ext cx="9144000" cy="307777"/>
          </a:xfrm>
          <a:prstGeom prst="rect">
            <a:avLst/>
          </a:prstGeom>
          <a:solidFill>
            <a:schemeClr val="bg2">
              <a:lumMod val="8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0" y="0"/>
            <a:ext cx="360000" cy="6858000"/>
          </a:xfrm>
          <a:prstGeom prst="rect">
            <a:avLst/>
          </a:prstGeom>
          <a:solidFill>
            <a:schemeClr val="bg2">
              <a:lumMod val="8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8312" name="Rectangle 8"/>
          <p:cNvSpPr>
            <a:spLocks noGrp="1" noChangeArrowheads="1"/>
          </p:cNvSpPr>
          <p:nvPr>
            <p:ph type="ctrTitle" sz="quarter"/>
          </p:nvPr>
        </p:nvSpPr>
        <p:spPr>
          <a:xfrm>
            <a:off x="285721" y="1363663"/>
            <a:ext cx="7572404" cy="1638300"/>
          </a:xfrm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chapter title style</a:t>
            </a:r>
          </a:p>
        </p:txBody>
      </p:sp>
      <p:sp>
        <p:nvSpPr>
          <p:cNvPr id="98313" name="Rectangle 9"/>
          <p:cNvSpPr>
            <a:spLocks noGrp="1" noChangeArrowheads="1"/>
          </p:cNvSpPr>
          <p:nvPr>
            <p:ph type="subTitle" sz="quarter" idx="1"/>
          </p:nvPr>
        </p:nvSpPr>
        <p:spPr bwMode="black">
          <a:xfrm>
            <a:off x="322263" y="398463"/>
            <a:ext cx="4267200" cy="381000"/>
          </a:xfrm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spcBef>
                <a:spcPct val="0"/>
              </a:spcBef>
              <a:buFont typeface="Arial" charset="0"/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Chapitre 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312863"/>
            <a:ext cx="8664606" cy="1277273"/>
          </a:xfrm>
        </p:spPr>
        <p:txBody>
          <a:bodyPr/>
          <a:lstStyle>
            <a:lvl4pPr>
              <a:defRPr/>
            </a:lvl4pPr>
            <a:lvl5pPr>
              <a:buNone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</a:t>
            </a:r>
            <a:r>
              <a:rPr lang="fr-FR" dirty="0" smtClean="0"/>
              <a:t>niveau</a:t>
            </a:r>
            <a:endParaRPr lang="fr-FR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79400" y="1312863"/>
            <a:ext cx="4222750" cy="1266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54550" y="1312863"/>
            <a:ext cx="4224338" cy="1266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04013" y="160338"/>
            <a:ext cx="2174875" cy="241935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79388" y="160338"/>
            <a:ext cx="6372225" cy="24193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auto">
          <a:xfrm>
            <a:off x="0" y="0"/>
            <a:ext cx="360000" cy="6858000"/>
          </a:xfrm>
          <a:prstGeom prst="rect">
            <a:avLst/>
          </a:prstGeom>
          <a:solidFill>
            <a:schemeClr val="bg2">
              <a:lumMod val="8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6550223"/>
            <a:ext cx="9144000" cy="307777"/>
          </a:xfrm>
          <a:prstGeom prst="rect">
            <a:avLst/>
          </a:prstGeom>
          <a:solidFill>
            <a:schemeClr val="bg2">
              <a:lumMod val="8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100013" y="6592888"/>
            <a:ext cx="718502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dirty="0" smtClean="0">
                <a:solidFill>
                  <a:schemeClr val="tx2"/>
                </a:solidFill>
              </a:rPr>
              <a:t>Version 1.0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title"/>
          </p:nvPr>
        </p:nvSpPr>
        <p:spPr bwMode="black">
          <a:xfrm>
            <a:off x="179388" y="160338"/>
            <a:ext cx="7793037" cy="72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6970713" y="6527800"/>
            <a:ext cx="1447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fld id="{B6CF8F43-D6BF-44C9-85E9-64DD9CECBDB3}" type="slidenum">
              <a:rPr lang="en-US" b="1" smtClean="0">
                <a:solidFill>
                  <a:schemeClr val="tx2"/>
                </a:solidFill>
              </a:rPr>
              <a:pPr algn="r">
                <a:spcBef>
                  <a:spcPct val="50000"/>
                </a:spcBef>
              </a:pPr>
              <a:t>‹N°›</a:t>
            </a:fld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728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282" y="1312863"/>
            <a:ext cx="8664606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30188" indent="-230188" algn="l" rtl="0" eaLnBrk="0" fontAlgn="base" hangingPunct="0">
        <a:spcBef>
          <a:spcPts val="1400"/>
        </a:spcBef>
        <a:spcAft>
          <a:spcPct val="0"/>
        </a:spcAft>
        <a:buClr>
          <a:schemeClr val="accent2"/>
        </a:buClr>
        <a:buSzPct val="115000"/>
        <a:buFont typeface="Arial" charset="0"/>
        <a:buChar char="•"/>
        <a:defRPr b="1">
          <a:solidFill>
            <a:schemeClr val="tx2"/>
          </a:solidFill>
          <a:latin typeface="+mn-lt"/>
          <a:ea typeface="+mn-ea"/>
          <a:cs typeface="+mn-cs"/>
        </a:defRPr>
      </a:lvl1pPr>
      <a:lvl2pPr marL="685800" indent="-341313" algn="l" rtl="0" eaLnBrk="0" fontAlgn="base" hangingPunct="0">
        <a:spcBef>
          <a:spcPts val="200"/>
        </a:spcBef>
        <a:spcAft>
          <a:spcPct val="0"/>
        </a:spcAft>
        <a:buClr>
          <a:schemeClr val="accent2"/>
        </a:buClr>
        <a:buFont typeface="Arial" charset="0"/>
        <a:buChar char="—"/>
        <a:defRPr>
          <a:solidFill>
            <a:schemeClr val="tx2"/>
          </a:solidFill>
          <a:latin typeface="+mn-lt"/>
        </a:defRPr>
      </a:lvl2pPr>
      <a:lvl3pPr marL="1017588" indent="-217488" algn="l" rtl="0" eaLnBrk="0" fontAlgn="base" hangingPunct="0">
        <a:spcBef>
          <a:spcPts val="200"/>
        </a:spcBef>
        <a:spcAft>
          <a:spcPct val="0"/>
        </a:spcAft>
        <a:buClr>
          <a:schemeClr val="accent2"/>
        </a:buClr>
        <a:buFont typeface="Arial" charset="0"/>
        <a:buChar char="–"/>
        <a:defRPr>
          <a:solidFill>
            <a:schemeClr val="tx2"/>
          </a:solidFill>
          <a:latin typeface="+mn-lt"/>
        </a:defRPr>
      </a:lvl3pPr>
      <a:lvl4pPr marL="1363663" indent="-231775" algn="l" rtl="0" eaLnBrk="0" fontAlgn="base" hangingPunct="0">
        <a:spcBef>
          <a:spcPts val="200"/>
        </a:spcBef>
        <a:spcAft>
          <a:spcPct val="0"/>
        </a:spcAft>
        <a:buClr>
          <a:schemeClr val="accent2"/>
        </a:buClr>
        <a:buFont typeface="Arial" charset="0"/>
        <a:buChar char="–"/>
        <a:defRPr>
          <a:solidFill>
            <a:schemeClr val="tx2"/>
          </a:solidFill>
          <a:latin typeface="+mn-lt"/>
        </a:defRPr>
      </a:lvl4pPr>
      <a:lvl5pPr marL="216535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62255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07975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53695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99415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 txBox="1">
            <a:spLocks noChangeArrowheads="1"/>
          </p:cNvSpPr>
          <p:nvPr/>
        </p:nvSpPr>
        <p:spPr bwMode="black">
          <a:xfrm>
            <a:off x="461963" y="1516063"/>
            <a:ext cx="7548562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fr-FR" sz="36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UML </a:t>
            </a:r>
            <a:r>
              <a:rPr lang="fr-FR" sz="36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</a:t>
            </a:r>
          </a:p>
          <a:p>
            <a:pPr lvl="0" algn="ctr">
              <a:defRPr/>
            </a:pPr>
            <a:r>
              <a:rPr lang="fr-FR" sz="36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L'architecture logicielle et matérielle du système</a:t>
            </a:r>
            <a:endParaRPr lang="fr-FR" sz="3600" b="1" kern="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 algn="ctr">
              <a:defRPr/>
            </a:pPr>
            <a:endParaRPr lang="fr-FR" sz="3600" b="1" kern="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 algn="ctr">
              <a:defRPr/>
            </a:pPr>
            <a:r>
              <a:rPr lang="fr-FR" sz="3600" dirty="0" smtClean="0">
                <a:solidFill>
                  <a:schemeClr val="tx2"/>
                </a:solidFill>
              </a:rPr>
              <a:t>Chapitre </a:t>
            </a:r>
            <a:r>
              <a:rPr lang="fr-FR" sz="3600" dirty="0">
                <a:solidFill>
                  <a:schemeClr val="tx2"/>
                </a:solidFill>
              </a:rPr>
              <a:t>6</a:t>
            </a:r>
            <a:endParaRPr lang="fr-FR" sz="3600" dirty="0" smtClean="0">
              <a:solidFill>
                <a:schemeClr val="tx2"/>
              </a:solidFill>
            </a:endParaRPr>
          </a:p>
          <a:p>
            <a:pPr lvl="0" algn="ctr"/>
            <a:endParaRPr lang="fr-FR" dirty="0" smtClean="0">
              <a:solidFill>
                <a:schemeClr val="tx2"/>
              </a:solidFill>
            </a:endParaRPr>
          </a:p>
          <a:p>
            <a:pPr lvl="0" algn="ctr"/>
            <a:r>
              <a:rPr lang="fr-FR" dirty="0" smtClean="0">
                <a:solidFill>
                  <a:schemeClr val="tx2"/>
                </a:solidFill>
              </a:rPr>
              <a:t>v1.0</a:t>
            </a:r>
          </a:p>
          <a:p>
            <a:pPr lvl="0" algn="ctr"/>
            <a:endParaRPr kumimoji="0" lang="fr-FR" sz="3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Grp="1" noChangeArrowheads="1"/>
          </p:cNvSpPr>
          <p:nvPr>
            <p:ph type="title"/>
          </p:nvPr>
        </p:nvSpPr>
        <p:spPr>
          <a:xfrm>
            <a:off x="179388" y="160338"/>
            <a:ext cx="7793037" cy="725487"/>
          </a:xfrm>
        </p:spPr>
        <p:txBody>
          <a:bodyPr/>
          <a:lstStyle/>
          <a:p>
            <a:r>
              <a:rPr lang="fr-FR" dirty="0" smtClean="0"/>
              <a:t>Déroulement</a:t>
            </a:r>
            <a:endParaRPr lang="fr-FR" dirty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idx="1"/>
          </p:nvPr>
        </p:nvSpPr>
        <p:spPr>
          <a:xfrm>
            <a:off x="928662" y="1312863"/>
            <a:ext cx="7950226" cy="1708160"/>
          </a:xfrm>
        </p:spPr>
        <p:txBody>
          <a:bodyPr/>
          <a:lstStyle/>
          <a:p>
            <a:r>
              <a:rPr lang="fr-FR" sz="1400" dirty="0"/>
              <a:t>Modèles d'architectures. Organisation en couches. Sous-systèmes.</a:t>
            </a:r>
          </a:p>
          <a:p>
            <a:r>
              <a:rPr lang="fr-FR" sz="1400" dirty="0"/>
              <a:t>Les paquetages et leurs relations.</a:t>
            </a:r>
          </a:p>
          <a:p>
            <a:r>
              <a:rPr lang="fr-FR" sz="1400" dirty="0"/>
              <a:t>Diagramme de composants : organisation du code en modules, dépendances.</a:t>
            </a:r>
          </a:p>
          <a:p>
            <a:r>
              <a:rPr lang="fr-FR" sz="1400" dirty="0"/>
              <a:t>Diagramme de déploiement : déploiement physique du système (machines, réseaux, etc.).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Qu’est-ce qu’une interface 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667000"/>
            <a:ext cx="8599488" cy="2568575"/>
          </a:xfrm>
        </p:spPr>
        <p:txBody>
          <a:bodyPr/>
          <a:lstStyle/>
          <a:p>
            <a:r>
              <a:rPr lang="fr-FR" altLang="fr-FR"/>
              <a:t>Une </a:t>
            </a:r>
            <a:r>
              <a:rPr lang="fr-FR" altLang="fr-FR" i="1">
                <a:latin typeface="Century Schoolbook" pitchFamily="18" charset="0"/>
              </a:rPr>
              <a:t>interface</a:t>
            </a:r>
            <a:r>
              <a:rPr lang="fr-FR" altLang="fr-FR"/>
              <a:t> spécifie un ensemble d’opérations qu’un classifieur peut offrir</a:t>
            </a:r>
          </a:p>
          <a:p>
            <a:pPr lvl="1"/>
            <a:r>
              <a:rPr lang="fr-FR" altLang="fr-FR"/>
              <a:t>Ne spécifie pas les méthodes qui réaliseront ces opérations</a:t>
            </a:r>
          </a:p>
          <a:p>
            <a:pPr lvl="1"/>
            <a:r>
              <a:rPr lang="fr-FR" altLang="fr-FR"/>
              <a:t>Ne spécifie pas les attributs</a:t>
            </a:r>
          </a:p>
          <a:p>
            <a:r>
              <a:rPr lang="fr-FR" altLang="fr-FR"/>
              <a:t>Une interface peut être vue soit de manière purement conceptuelle, soit en termes de mise en œuvre concrète</a:t>
            </a:r>
          </a:p>
          <a:p>
            <a:pPr lvl="1"/>
            <a:r>
              <a:rPr lang="fr-FR" altLang="fr-FR"/>
              <a:t>“Le département de traitement des commandes fournit une interface pour les clients”</a:t>
            </a:r>
          </a:p>
          <a:p>
            <a:pPr lvl="1"/>
            <a:r>
              <a:rPr lang="fr-FR" altLang="fr-FR"/>
              <a:t>“La classe </a:t>
            </a:r>
            <a:r>
              <a:rPr lang="fr-FR" altLang="fr-FR">
                <a:latin typeface="Courier New" panose="02070309020205020404" pitchFamily="49" charset="0"/>
              </a:rPr>
              <a:t>Commande</a:t>
            </a:r>
            <a:r>
              <a:rPr lang="fr-FR" altLang="fr-FR"/>
              <a:t> possède une interface COM+”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blackWhite">
          <a:xfrm>
            <a:off x="777875" y="1362075"/>
            <a:ext cx="7908925" cy="10001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ctr"/>
            <a:r>
              <a:rPr lang="fr-FR" altLang="fr-FR" sz="1800" b="1" i="1" dirty="0">
                <a:solidFill>
                  <a:schemeClr val="tx2"/>
                </a:solidFill>
                <a:latin typeface="Century Schoolbook" pitchFamily="18" charset="0"/>
              </a:rPr>
              <a:t>“Une spécification des opérations d’une classe, d’un composant ou d’un autre </a:t>
            </a:r>
            <a:r>
              <a:rPr lang="fr-FR" altLang="fr-FR" sz="1800" b="1" i="1" dirty="0" err="1">
                <a:solidFill>
                  <a:schemeClr val="tx2"/>
                </a:solidFill>
                <a:latin typeface="Century Schoolbook" pitchFamily="18" charset="0"/>
              </a:rPr>
              <a:t>classifieur</a:t>
            </a:r>
            <a:r>
              <a:rPr lang="fr-FR" altLang="fr-FR" sz="1800" b="1" i="1" dirty="0">
                <a:solidFill>
                  <a:schemeClr val="tx2"/>
                </a:solidFill>
                <a:latin typeface="Century Schoolbook" pitchFamily="18" charset="0"/>
              </a:rPr>
              <a:t> (par exemple un sous-système) visibles depuis l’extérieur sans spécification de leur structure interne.”</a:t>
            </a:r>
            <a:r>
              <a:rPr lang="fr-FR" altLang="fr-FR" sz="1800" b="1" i="1" baseline="30000" dirty="0">
                <a:solidFill>
                  <a:schemeClr val="tx2"/>
                </a:solidFill>
                <a:latin typeface="Century Schoolbook" pitchFamily="18" charset="0"/>
              </a:rPr>
              <a:t>*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52400" y="5943600"/>
            <a:ext cx="8351838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2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 altLang="fr-FR">
                <a:solidFill>
                  <a:srgbClr val="000080"/>
                </a:solidFill>
              </a:rPr>
              <a:t>  COM = Component Object Model</a:t>
            </a:r>
          </a:p>
          <a:p>
            <a:pPr>
              <a:spcBef>
                <a:spcPts val="2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 altLang="fr-FR">
                <a:solidFill>
                  <a:srgbClr val="000080"/>
                </a:solidFill>
              </a:rPr>
              <a:t>*Source: </a:t>
            </a:r>
            <a:r>
              <a:rPr lang="en-US" altLang="fr-FR" i="1">
                <a:solidFill>
                  <a:srgbClr val="000080"/>
                </a:solidFill>
              </a:rPr>
              <a:t>OMG Unified Modeling Language Specification. </a:t>
            </a:r>
            <a:r>
              <a:rPr lang="en-US" altLang="fr-FR">
                <a:solidFill>
                  <a:srgbClr val="000080"/>
                </a:solidFill>
              </a:rPr>
              <a:t>Object Management Group, Inc.: 2001.</a:t>
            </a:r>
          </a:p>
        </p:txBody>
      </p:sp>
    </p:spTree>
    <p:extLst>
      <p:ext uri="{BB962C8B-B14F-4D97-AF65-F5344CB8AC3E}">
        <p14:creationId xmlns:p14="http://schemas.microsoft.com/office/powerpoint/2010/main" val="9541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Interfaces : Exemple</a:t>
            </a:r>
          </a:p>
        </p:txBody>
      </p:sp>
      <p:pic>
        <p:nvPicPr>
          <p:cNvPr id="12294" name="Picture 6" descr="8-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1752600"/>
            <a:ext cx="7754937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48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Pourquoi modéliser des interfaces 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3692525"/>
          </a:xfrm>
        </p:spPr>
        <p:txBody>
          <a:bodyPr/>
          <a:lstStyle/>
          <a:p>
            <a:r>
              <a:rPr lang="fr-FR" altLang="fr-FR"/>
              <a:t>Les interfaces permettent aux opérations fournies par un objet d’être séparées de leur mise en œuvre</a:t>
            </a:r>
          </a:p>
          <a:p>
            <a:pPr lvl="1"/>
            <a:r>
              <a:rPr lang="fr-FR" altLang="fr-FR"/>
              <a:t>Les techniques à base de composants, comme CORBA, COM+, EJB et Java RMI, s'appuient sur le concept d’interface</a:t>
            </a:r>
          </a:p>
          <a:p>
            <a:pPr lvl="2"/>
            <a:r>
              <a:rPr lang="fr-FR" altLang="fr-FR"/>
              <a:t>Permettent d’accéder aux opérations d’un objet sans connaître ni son langage de mise en œuvre ni sa localisation physique</a:t>
            </a:r>
          </a:p>
          <a:p>
            <a:pPr lvl="2"/>
            <a:r>
              <a:rPr lang="fr-FR" altLang="fr-FR"/>
              <a:t>Les interfaces en UML permettent la modélisation directe de ces techniques</a:t>
            </a:r>
          </a:p>
          <a:p>
            <a:r>
              <a:rPr lang="fr-FR" altLang="fr-FR"/>
              <a:t>Un client peut n’avoir accès qu’à une interface d’un autre objet, plutôt qu’à toutes les opérations de cet objet</a:t>
            </a:r>
          </a:p>
          <a:p>
            <a:pPr lvl="1"/>
            <a:r>
              <a:rPr lang="fr-FR" altLang="fr-FR"/>
              <a:t>Réduit la complexité vue par le client</a:t>
            </a:r>
          </a:p>
          <a:p>
            <a:pPr lvl="1"/>
            <a:r>
              <a:rPr lang="fr-FR" altLang="fr-FR"/>
              <a:t>Étend la sécurité du système</a:t>
            </a:r>
          </a:p>
        </p:txBody>
      </p:sp>
    </p:spTree>
    <p:extLst>
      <p:ext uri="{BB962C8B-B14F-4D97-AF65-F5344CB8AC3E}">
        <p14:creationId xmlns:p14="http://schemas.microsoft.com/office/powerpoint/2010/main" val="4160996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Pourquoi modéliser des interfaces ? </a:t>
            </a:r>
            <a:br>
              <a:rPr lang="fr-FR" altLang="fr-FR"/>
            </a:br>
            <a:r>
              <a:rPr lang="fr-FR" altLang="fr-FR"/>
              <a:t>(suite)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2792412"/>
          </a:xfrm>
        </p:spPr>
        <p:txBody>
          <a:bodyPr/>
          <a:lstStyle/>
          <a:p>
            <a:r>
              <a:rPr lang="fr-FR" altLang="fr-FR"/>
              <a:t>Un système départemental (mono-bloc) peut voir ses fonctionnalités représentées par une ou plusieurs interfaces</a:t>
            </a:r>
          </a:p>
          <a:p>
            <a:pPr lvl="1"/>
            <a:r>
              <a:rPr lang="fr-FR" altLang="fr-FR"/>
              <a:t>Initialement, l’interface est réalisée par des classes qui appellent simplement les fonctions et les procédures existantes du système départemental</a:t>
            </a:r>
          </a:p>
          <a:p>
            <a:pPr lvl="1"/>
            <a:r>
              <a:rPr lang="fr-FR" altLang="fr-FR"/>
              <a:t>Ensuite ces classes sont remplacées par de nouvelles classes qui fournissent directement les fonctionnalités</a:t>
            </a:r>
          </a:p>
          <a:p>
            <a:r>
              <a:rPr lang="fr-FR" altLang="fr-FR"/>
              <a:t>C’est l’approche généralement utilisée pour la migration des systèmes départementaux vers de nouveaux systèmes OO</a:t>
            </a:r>
          </a:p>
        </p:txBody>
      </p:sp>
    </p:spTree>
    <p:extLst>
      <p:ext uri="{BB962C8B-B14F-4D97-AF65-F5344CB8AC3E}">
        <p14:creationId xmlns:p14="http://schemas.microsoft.com/office/powerpoint/2010/main" val="270592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Description d’une interface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3117850"/>
          </a:xfrm>
        </p:spPr>
        <p:txBody>
          <a:bodyPr/>
          <a:lstStyle/>
          <a:p>
            <a:r>
              <a:rPr lang="fr-FR" altLang="fr-FR"/>
              <a:t>Une interface est une classe stéréotypée ; elle peut être représentée par la notation classique d’une classe (un rectangle)</a:t>
            </a:r>
          </a:p>
          <a:p>
            <a:pPr lvl="1"/>
            <a:r>
              <a:rPr lang="fr-FR" altLang="fr-FR"/>
              <a:t>Elle ne contient que des opérations abstraites</a:t>
            </a:r>
          </a:p>
          <a:p>
            <a:pPr lvl="2"/>
            <a:r>
              <a:rPr lang="fr-FR" altLang="fr-FR"/>
              <a:t>Ces opérations peuvent ne pas être écrites en italique puisqu’elles sont obligatoirement abstraites</a:t>
            </a:r>
          </a:p>
          <a:p>
            <a:pPr lvl="1"/>
            <a:r>
              <a:rPr lang="fr-FR" altLang="fr-FR"/>
              <a:t>Le compartiment des attributs, s’il est représenté, doit être vide</a:t>
            </a:r>
          </a:p>
          <a:p>
            <a:r>
              <a:rPr lang="fr-FR" altLang="fr-FR"/>
              <a:t>Une interface peut aussi être représentée par un petit cercle avec son nom à côté</a:t>
            </a:r>
          </a:p>
          <a:p>
            <a:pPr lvl="1"/>
            <a:r>
              <a:rPr lang="fr-FR" altLang="fr-FR"/>
              <a:t>Dans l’AGL, on doit alors suivre un lien pour voir les opérations de l’interface</a:t>
            </a:r>
          </a:p>
        </p:txBody>
      </p:sp>
    </p:spTree>
    <p:extLst>
      <p:ext uri="{BB962C8B-B14F-4D97-AF65-F5344CB8AC3E}">
        <p14:creationId xmlns:p14="http://schemas.microsoft.com/office/powerpoint/2010/main" val="3758646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Réalisation d’une interface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941387"/>
          </a:xfrm>
        </p:spPr>
        <p:txBody>
          <a:bodyPr/>
          <a:lstStyle/>
          <a:p>
            <a:r>
              <a:rPr lang="fr-FR" altLang="fr-FR"/>
              <a:t>Une interface est </a:t>
            </a:r>
            <a:r>
              <a:rPr lang="fr-FR" altLang="fr-FR" i="1">
                <a:latin typeface="Century Schoolbook" pitchFamily="18" charset="0"/>
              </a:rPr>
              <a:t>réalisée</a:t>
            </a:r>
            <a:r>
              <a:rPr lang="fr-FR" altLang="fr-FR"/>
              <a:t> (</a:t>
            </a:r>
            <a:r>
              <a:rPr lang="fr-FR" altLang="fr-FR" i="1">
                <a:latin typeface="Times New Roman" panose="02020603050405020304" pitchFamily="18" charset="0"/>
              </a:rPr>
              <a:t>implemented</a:t>
            </a:r>
            <a:r>
              <a:rPr lang="fr-FR" altLang="fr-FR"/>
              <a:t>) par une ou plusieurs classes</a:t>
            </a:r>
          </a:p>
          <a:p>
            <a:pPr lvl="1"/>
            <a:r>
              <a:rPr lang="fr-FR" altLang="fr-FR"/>
              <a:t>Si la classe ne met pas en œuvre toutes les opérations spécifiées par l’interface, elle devient abstraite</a:t>
            </a:r>
          </a:p>
        </p:txBody>
      </p:sp>
      <p:pic>
        <p:nvPicPr>
          <p:cNvPr id="22534" name="Picture 6" descr="8-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866900" y="2286000"/>
            <a:ext cx="5410200" cy="400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90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Utiliser une interface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1241425"/>
          </a:xfrm>
        </p:spPr>
        <p:txBody>
          <a:bodyPr/>
          <a:lstStyle/>
          <a:p>
            <a:r>
              <a:rPr lang="fr-FR" altLang="fr-FR"/>
              <a:t>Une classe qui utilise les opérations offertes par une interface est connectée à cette interface par une flèche de dépendance</a:t>
            </a:r>
          </a:p>
          <a:p>
            <a:pPr lvl="1"/>
            <a:r>
              <a:rPr lang="fr-FR" altLang="fr-FR"/>
              <a:t>La flèche pointe vers le symbole de l’interface (rectangle ou cercle)</a:t>
            </a:r>
          </a:p>
          <a:p>
            <a:pPr lvl="1"/>
            <a:r>
              <a:rPr lang="fr-FR" altLang="fr-FR"/>
              <a:t>La flèche peut être décorée par un stéréotype «use»</a:t>
            </a:r>
          </a:p>
        </p:txBody>
      </p:sp>
      <p:pic>
        <p:nvPicPr>
          <p:cNvPr id="24582" name="Picture 6" descr="8-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63" y="2895600"/>
            <a:ext cx="5705475" cy="178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Interfaces et associations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2568575"/>
          </a:xfrm>
        </p:spPr>
        <p:txBody>
          <a:bodyPr/>
          <a:lstStyle/>
          <a:p>
            <a:r>
              <a:rPr lang="fr-FR" altLang="fr-FR"/>
              <a:t>Une classe peut posséder une association vers une interface</a:t>
            </a:r>
          </a:p>
          <a:p>
            <a:pPr lvl="1"/>
            <a:r>
              <a:rPr lang="fr-FR" altLang="fr-FR"/>
              <a:t>C’est permis car une interface est un type de classe</a:t>
            </a:r>
          </a:p>
          <a:p>
            <a:pPr lvl="1"/>
            <a:r>
              <a:rPr lang="fr-FR" altLang="fr-FR"/>
              <a:t>L’association ne peut pas être navigable depuis l’interface car cela impliquerait l'existence d'un attribut dans l’interface</a:t>
            </a:r>
          </a:p>
          <a:p>
            <a:pPr lvl="1"/>
            <a:r>
              <a:rPr lang="fr-FR" altLang="fr-FR"/>
              <a:t>Par contre, une classe qui réalise l’interface peut posséder cette association dans ce sens-là</a:t>
            </a:r>
          </a:p>
          <a:p>
            <a:r>
              <a:rPr lang="fr-FR" altLang="fr-FR"/>
              <a:t>Analogue à une association vers une classe parent</a:t>
            </a:r>
          </a:p>
          <a:p>
            <a:pPr lvl="1"/>
            <a:r>
              <a:rPr lang="fr-FR" altLang="fr-FR"/>
              <a:t>Cela signifie “associée avec une classe qui réalise l’interface”</a:t>
            </a:r>
          </a:p>
        </p:txBody>
      </p:sp>
      <p:pic>
        <p:nvPicPr>
          <p:cNvPr id="26630" name="Picture 6" descr="8-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3962400"/>
            <a:ext cx="7418387" cy="250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19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Interfaces et généralisation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1693862"/>
          </a:xfrm>
        </p:spPr>
        <p:txBody>
          <a:bodyPr/>
          <a:lstStyle/>
          <a:p>
            <a:r>
              <a:rPr lang="fr-FR" altLang="fr-FR"/>
              <a:t>Une interface peut hériter d’une autre interface</a:t>
            </a:r>
          </a:p>
          <a:p>
            <a:pPr lvl="1"/>
            <a:r>
              <a:rPr lang="fr-FR" altLang="fr-FR"/>
              <a:t>On utilise la notation classique de la généralisation</a:t>
            </a:r>
          </a:p>
          <a:p>
            <a:pPr lvl="1"/>
            <a:r>
              <a:rPr lang="fr-FR" altLang="fr-FR"/>
              <a:t>Cette association possède les caractéristiques habituelles</a:t>
            </a:r>
          </a:p>
          <a:p>
            <a:r>
              <a:rPr lang="fr-FR" altLang="fr-FR"/>
              <a:t>Permet de construire des hiérarchies d’interfaces comme cela se fait pour les hiérarchies de classes</a:t>
            </a:r>
          </a:p>
        </p:txBody>
      </p:sp>
    </p:spTree>
    <p:extLst>
      <p:ext uri="{BB962C8B-B14F-4D97-AF65-F5344CB8AC3E}">
        <p14:creationId xmlns:p14="http://schemas.microsoft.com/office/powerpoint/2010/main" val="2072767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Nouvelle notation des interfaces dans UML 2.0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279400" y="1312863"/>
            <a:ext cx="8599488" cy="1998662"/>
          </a:xfrm>
        </p:spPr>
        <p:txBody>
          <a:bodyPr/>
          <a:lstStyle/>
          <a:p>
            <a:r>
              <a:rPr lang="fr-FR" altLang="fr-FR"/>
              <a:t>UML 2.0 introduit une nouvelle notation de type </a:t>
            </a:r>
            <a:r>
              <a:rPr lang="fr-FR" altLang="fr-FR">
                <a:cs typeface="Arial" panose="020B0604020202020204" pitchFamily="34" charset="0"/>
              </a:rPr>
              <a:t>« </a:t>
            </a:r>
            <a:r>
              <a:rPr lang="fr-FR" altLang="fr-FR"/>
              <a:t>connecteur </a:t>
            </a:r>
            <a:r>
              <a:rPr lang="fr-FR" altLang="fr-FR">
                <a:cs typeface="Arial" panose="020B0604020202020204" pitchFamily="34" charset="0"/>
              </a:rPr>
              <a:t>»</a:t>
            </a:r>
            <a:endParaRPr lang="fr-FR" altLang="fr-FR"/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La structure interne d'une classe peut être montrée sur un </a:t>
            </a:r>
            <a:r>
              <a:rPr lang="fr-FR" altLang="fr-FR" i="1">
                <a:latin typeface="Century Schoolbook" pitchFamily="18" charset="0"/>
              </a:rPr>
              <a:t>diagramme de</a:t>
            </a:r>
            <a:r>
              <a:rPr lang="fr-FR" altLang="fr-FR"/>
              <a:t> </a:t>
            </a:r>
            <a:r>
              <a:rPr lang="fr-FR" altLang="fr-FR" i="1">
                <a:latin typeface="Century Schoolbook" pitchFamily="18" charset="0"/>
              </a:rPr>
              <a:t>structure composite</a:t>
            </a:r>
          </a:p>
        </p:txBody>
      </p:sp>
      <p:sp>
        <p:nvSpPr>
          <p:cNvPr id="155652" name="Line 4"/>
          <p:cNvSpPr>
            <a:spLocks noChangeShapeType="1"/>
          </p:cNvSpPr>
          <p:nvPr/>
        </p:nvSpPr>
        <p:spPr bwMode="gray">
          <a:xfrm flipH="1">
            <a:off x="2317750" y="4025900"/>
            <a:ext cx="7508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53" name="Line 5"/>
          <p:cNvSpPr>
            <a:spLocks noChangeShapeType="1"/>
          </p:cNvSpPr>
          <p:nvPr/>
        </p:nvSpPr>
        <p:spPr bwMode="gray">
          <a:xfrm flipH="1" flipV="1">
            <a:off x="2301875" y="4984750"/>
            <a:ext cx="781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55" name="Rectangle 7"/>
          <p:cNvSpPr>
            <a:spLocks noChangeArrowheads="1"/>
          </p:cNvSpPr>
          <p:nvPr/>
        </p:nvSpPr>
        <p:spPr bwMode="gray">
          <a:xfrm>
            <a:off x="3673475" y="2006699"/>
            <a:ext cx="184731" cy="3077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56" name="Oval 8"/>
          <p:cNvSpPr>
            <a:spLocks noChangeArrowheads="1"/>
          </p:cNvSpPr>
          <p:nvPr/>
        </p:nvSpPr>
        <p:spPr bwMode="gray">
          <a:xfrm>
            <a:off x="4133850" y="1868786"/>
            <a:ext cx="259766" cy="4327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57" name="Line 9"/>
          <p:cNvSpPr>
            <a:spLocks noChangeShapeType="1"/>
          </p:cNvSpPr>
          <p:nvPr/>
        </p:nvSpPr>
        <p:spPr bwMode="gray">
          <a:xfrm flipH="1">
            <a:off x="2982913" y="2085975"/>
            <a:ext cx="1079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58" name="Line 10"/>
          <p:cNvSpPr>
            <a:spLocks noChangeShapeType="1"/>
          </p:cNvSpPr>
          <p:nvPr/>
        </p:nvSpPr>
        <p:spPr bwMode="gray">
          <a:xfrm flipH="1">
            <a:off x="4321175" y="2085975"/>
            <a:ext cx="1020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59" name="Rectangle 11"/>
          <p:cNvSpPr>
            <a:spLocks noChangeArrowheads="1"/>
          </p:cNvSpPr>
          <p:nvPr/>
        </p:nvSpPr>
        <p:spPr bwMode="gray">
          <a:xfrm>
            <a:off x="4762500" y="1917700"/>
            <a:ext cx="2595563" cy="3492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fr-FR" altLang="fr-FR" sz="1600" b="1">
                <a:solidFill>
                  <a:schemeClr val="tx2"/>
                </a:solidFill>
              </a:rPr>
              <a:t>Réalisateur de l'interface</a:t>
            </a:r>
          </a:p>
        </p:txBody>
      </p:sp>
      <p:sp>
        <p:nvSpPr>
          <p:cNvPr id="155660" name="Rectangle 12"/>
          <p:cNvSpPr>
            <a:spLocks noChangeArrowheads="1"/>
          </p:cNvSpPr>
          <p:nvPr/>
        </p:nvSpPr>
        <p:spPr bwMode="gray">
          <a:xfrm>
            <a:off x="1100138" y="1903413"/>
            <a:ext cx="2495550" cy="3492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fr-FR" altLang="fr-FR" sz="1600" b="1">
                <a:solidFill>
                  <a:schemeClr val="tx2"/>
                </a:solidFill>
              </a:rPr>
              <a:t>Utilisateur de l'interface</a:t>
            </a:r>
          </a:p>
        </p:txBody>
      </p:sp>
      <p:sp>
        <p:nvSpPr>
          <p:cNvPr id="155661" name="Text Box 13"/>
          <p:cNvSpPr txBox="1">
            <a:spLocks noChangeArrowheads="1"/>
          </p:cNvSpPr>
          <p:nvPr/>
        </p:nvSpPr>
        <p:spPr bwMode="gray">
          <a:xfrm>
            <a:off x="3143250" y="3475038"/>
            <a:ext cx="2528888" cy="25495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altLang="fr-FR" sz="1600" b="1">
                <a:solidFill>
                  <a:schemeClr val="tx2"/>
                </a:solidFill>
              </a:rPr>
              <a:t>Voiture</a:t>
            </a:r>
          </a:p>
          <a:p>
            <a:pPr algn="ctr">
              <a:spcBef>
                <a:spcPct val="50000"/>
              </a:spcBef>
            </a:pPr>
            <a:endParaRPr lang="fr-FR" altLang="fr-FR" sz="1600" b="1">
              <a:solidFill>
                <a:schemeClr val="tx2"/>
              </a:solidFill>
            </a:endParaRPr>
          </a:p>
          <a:p>
            <a:pPr algn="ctr">
              <a:spcBef>
                <a:spcPct val="50000"/>
              </a:spcBef>
            </a:pPr>
            <a:endParaRPr lang="fr-FR" altLang="fr-FR" sz="1600" b="1">
              <a:solidFill>
                <a:schemeClr val="tx2"/>
              </a:solidFill>
            </a:endParaRPr>
          </a:p>
          <a:p>
            <a:pPr algn="ctr">
              <a:spcBef>
                <a:spcPct val="50000"/>
              </a:spcBef>
            </a:pPr>
            <a:endParaRPr lang="fr-FR" altLang="fr-FR" sz="1600" b="1">
              <a:solidFill>
                <a:schemeClr val="tx2"/>
              </a:solidFill>
            </a:endParaRPr>
          </a:p>
          <a:p>
            <a:pPr algn="ctr">
              <a:spcBef>
                <a:spcPct val="50000"/>
              </a:spcBef>
            </a:pPr>
            <a:endParaRPr lang="fr-FR" altLang="fr-FR" sz="1600" b="1">
              <a:solidFill>
                <a:schemeClr val="tx2"/>
              </a:solidFill>
            </a:endParaRPr>
          </a:p>
          <a:p>
            <a:pPr algn="ctr">
              <a:spcBef>
                <a:spcPct val="50000"/>
              </a:spcBef>
            </a:pPr>
            <a:endParaRPr lang="fr-FR" altLang="fr-FR" sz="1600" b="1">
              <a:solidFill>
                <a:schemeClr val="tx2"/>
              </a:solidFill>
            </a:endParaRPr>
          </a:p>
          <a:p>
            <a:pPr algn="ctr">
              <a:spcBef>
                <a:spcPct val="50000"/>
              </a:spcBef>
            </a:pPr>
            <a:endParaRPr lang="fr-FR" altLang="fr-FR" sz="1600" b="1">
              <a:solidFill>
                <a:schemeClr val="tx2"/>
              </a:solidFill>
            </a:endParaRPr>
          </a:p>
        </p:txBody>
      </p:sp>
      <p:sp>
        <p:nvSpPr>
          <p:cNvPr id="155662" name="Line 14"/>
          <p:cNvSpPr>
            <a:spLocks noChangeShapeType="1"/>
          </p:cNvSpPr>
          <p:nvPr/>
        </p:nvSpPr>
        <p:spPr bwMode="gray">
          <a:xfrm flipH="1" flipV="1">
            <a:off x="3155950" y="4011613"/>
            <a:ext cx="649288" cy="117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63" name="Line 15"/>
          <p:cNvSpPr>
            <a:spLocks noChangeShapeType="1"/>
          </p:cNvSpPr>
          <p:nvPr/>
        </p:nvSpPr>
        <p:spPr bwMode="gray">
          <a:xfrm flipH="1">
            <a:off x="3141663" y="4970463"/>
            <a:ext cx="368300" cy="14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64" name="Text Box 16"/>
          <p:cNvSpPr txBox="1">
            <a:spLocks noChangeArrowheads="1"/>
          </p:cNvSpPr>
          <p:nvPr/>
        </p:nvSpPr>
        <p:spPr bwMode="gray">
          <a:xfrm>
            <a:off x="3770313" y="3970338"/>
            <a:ext cx="1101725" cy="3492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 sz="1600" b="1">
                <a:solidFill>
                  <a:schemeClr val="tx2"/>
                </a:solidFill>
              </a:rPr>
              <a:t>:</a:t>
            </a:r>
            <a:r>
              <a:rPr lang="fr-FR" altLang="fr-FR" sz="1600" b="1" u="sng">
                <a:solidFill>
                  <a:schemeClr val="tx2"/>
                </a:solidFill>
              </a:rPr>
              <a:t>Injection</a:t>
            </a:r>
          </a:p>
        </p:txBody>
      </p:sp>
      <p:sp>
        <p:nvSpPr>
          <p:cNvPr id="155665" name="Text Box 17"/>
          <p:cNvSpPr txBox="1">
            <a:spLocks noChangeArrowheads="1"/>
          </p:cNvSpPr>
          <p:nvPr/>
        </p:nvSpPr>
        <p:spPr bwMode="gray">
          <a:xfrm>
            <a:off x="3467100" y="4805363"/>
            <a:ext cx="2038350" cy="3492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 sz="1600" b="1">
                <a:solidFill>
                  <a:schemeClr val="tx2"/>
                </a:solidFill>
              </a:rPr>
              <a:t>:</a:t>
            </a:r>
            <a:r>
              <a:rPr lang="fr-FR" altLang="fr-FR" sz="1600" b="1" u="sng">
                <a:solidFill>
                  <a:schemeClr val="tx2"/>
                </a:solidFill>
              </a:rPr>
              <a:t>Direction Assistée</a:t>
            </a:r>
          </a:p>
        </p:txBody>
      </p:sp>
      <p:sp>
        <p:nvSpPr>
          <p:cNvPr id="155666" name="Rectangle 18"/>
          <p:cNvSpPr>
            <a:spLocks noChangeArrowheads="1"/>
          </p:cNvSpPr>
          <p:nvPr/>
        </p:nvSpPr>
        <p:spPr bwMode="gray">
          <a:xfrm>
            <a:off x="3067050" y="4816575"/>
            <a:ext cx="184731" cy="30777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67" name="Rectangle 19"/>
          <p:cNvSpPr>
            <a:spLocks noChangeArrowheads="1"/>
          </p:cNvSpPr>
          <p:nvPr/>
        </p:nvSpPr>
        <p:spPr bwMode="gray">
          <a:xfrm>
            <a:off x="3067050" y="3857725"/>
            <a:ext cx="184731" cy="30777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68" name="Oval 20"/>
          <p:cNvSpPr>
            <a:spLocks noChangeArrowheads="1"/>
          </p:cNvSpPr>
          <p:nvPr/>
        </p:nvSpPr>
        <p:spPr bwMode="gray">
          <a:xfrm>
            <a:off x="2203450" y="3808711"/>
            <a:ext cx="259766" cy="4327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69" name="Oval 21"/>
          <p:cNvSpPr>
            <a:spLocks noChangeArrowheads="1"/>
          </p:cNvSpPr>
          <p:nvPr/>
        </p:nvSpPr>
        <p:spPr bwMode="gray">
          <a:xfrm>
            <a:off x="2217738" y="4767561"/>
            <a:ext cx="259766" cy="4327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55675" name="Arc 27"/>
          <p:cNvSpPr>
            <a:spLocks/>
          </p:cNvSpPr>
          <p:nvPr/>
        </p:nvSpPr>
        <p:spPr bwMode="gray">
          <a:xfrm flipH="1">
            <a:off x="4079875" y="1936056"/>
            <a:ext cx="149225" cy="307777"/>
          </a:xfrm>
          <a:custGeom>
            <a:avLst/>
            <a:gdLst>
              <a:gd name="G0" fmla="+- 4668 0 0"/>
              <a:gd name="G1" fmla="+- 21600 0 0"/>
              <a:gd name="G2" fmla="+- 21600 0 0"/>
              <a:gd name="T0" fmla="*/ 0 w 26268"/>
              <a:gd name="T1" fmla="*/ 510 h 43200"/>
              <a:gd name="T2" fmla="*/ 1801 w 26268"/>
              <a:gd name="T3" fmla="*/ 43009 h 43200"/>
              <a:gd name="T4" fmla="*/ 4668 w 26268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268" h="43200" fill="none" extrusionOk="0">
                <a:moveTo>
                  <a:pt x="0" y="510"/>
                </a:moveTo>
                <a:cubicBezTo>
                  <a:pt x="1532" y="171"/>
                  <a:pt x="3098" y="0"/>
                  <a:pt x="4668" y="0"/>
                </a:cubicBezTo>
                <a:cubicBezTo>
                  <a:pt x="16597" y="0"/>
                  <a:pt x="26268" y="9670"/>
                  <a:pt x="26268" y="21600"/>
                </a:cubicBezTo>
                <a:cubicBezTo>
                  <a:pt x="26268" y="33529"/>
                  <a:pt x="16597" y="43200"/>
                  <a:pt x="4668" y="43200"/>
                </a:cubicBezTo>
                <a:cubicBezTo>
                  <a:pt x="3709" y="43200"/>
                  <a:pt x="2751" y="43136"/>
                  <a:pt x="1801" y="43008"/>
                </a:cubicBezTo>
              </a:path>
              <a:path w="26268" h="43200" stroke="0" extrusionOk="0">
                <a:moveTo>
                  <a:pt x="0" y="510"/>
                </a:moveTo>
                <a:cubicBezTo>
                  <a:pt x="1532" y="171"/>
                  <a:pt x="3098" y="0"/>
                  <a:pt x="4668" y="0"/>
                </a:cubicBezTo>
                <a:cubicBezTo>
                  <a:pt x="16597" y="0"/>
                  <a:pt x="26268" y="9670"/>
                  <a:pt x="26268" y="21600"/>
                </a:cubicBezTo>
                <a:cubicBezTo>
                  <a:pt x="26268" y="33529"/>
                  <a:pt x="16597" y="43200"/>
                  <a:pt x="4668" y="43200"/>
                </a:cubicBezTo>
                <a:cubicBezTo>
                  <a:pt x="3709" y="43200"/>
                  <a:pt x="2751" y="43136"/>
                  <a:pt x="1801" y="43008"/>
                </a:cubicBezTo>
                <a:lnTo>
                  <a:pt x="4668" y="2160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3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60338"/>
            <a:ext cx="8964612" cy="725487"/>
          </a:xfrm>
        </p:spPr>
        <p:txBody>
          <a:bodyPr/>
          <a:lstStyle/>
          <a:p>
            <a:r>
              <a:rPr lang="fr-FR" altLang="fr-FR"/>
              <a:t>Système d’expédition des ambulances : Utilisation des interfaces</a:t>
            </a:r>
          </a:p>
        </p:txBody>
      </p:sp>
      <p:pic>
        <p:nvPicPr>
          <p:cNvPr id="28679" name="Picture 7" descr="8-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1955800"/>
            <a:ext cx="6804025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634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Qu’est-ce qu’un paquetage ?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209800"/>
            <a:ext cx="8599488" cy="2543175"/>
          </a:xfrm>
        </p:spPr>
        <p:txBody>
          <a:bodyPr/>
          <a:lstStyle/>
          <a:p>
            <a:r>
              <a:rPr lang="fr-FR" altLang="fr-FR"/>
              <a:t>Un paquetage définit un </a:t>
            </a:r>
            <a:r>
              <a:rPr lang="fr-FR" altLang="fr-FR" i="1">
                <a:latin typeface="Century Schoolbook" pitchFamily="18" charset="0"/>
              </a:rPr>
              <a:t>espace de nommage</a:t>
            </a:r>
            <a:endParaRPr lang="fr-FR" altLang="fr-FR" i="1"/>
          </a:p>
          <a:p>
            <a:pPr lvl="1"/>
            <a:r>
              <a:rPr lang="fr-FR" altLang="fr-FR"/>
              <a:t>Les classes qui portent le même nom mais sont définies dans des paquetages différents, sont distinctes</a:t>
            </a:r>
          </a:p>
          <a:p>
            <a:pPr lvl="1"/>
            <a:r>
              <a:rPr lang="fr-FR" altLang="fr-FR"/>
              <a:t>Les symboles de classes avec le même nom qui apparaissent dans un même paquetage font référence à la même classe</a:t>
            </a:r>
          </a:p>
          <a:p>
            <a:r>
              <a:rPr lang="fr-FR" altLang="fr-FR"/>
              <a:t>Les paquetages apparaissent sur un </a:t>
            </a:r>
            <a:r>
              <a:rPr lang="fr-FR" altLang="fr-FR" i="1">
                <a:latin typeface="Century Schoolbook" pitchFamily="18" charset="0"/>
              </a:rPr>
              <a:t>diagramme de paquetages</a:t>
            </a:r>
          </a:p>
          <a:p>
            <a:pPr lvl="1"/>
            <a:r>
              <a:rPr lang="fr-FR" altLang="fr-FR"/>
              <a:t>Dans les AGL, il n’y a généralement pas de diagramme spécifique pour les paquetages ; ils apparaissent sur un diagramme de classes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blackWhite">
          <a:xfrm>
            <a:off x="1752600" y="1295400"/>
            <a:ext cx="5562600" cy="763588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ctr"/>
            <a:r>
              <a:rPr lang="fr-FR" altLang="fr-FR" sz="1800" b="1" i="1" dirty="0">
                <a:solidFill>
                  <a:schemeClr val="tx2"/>
                </a:solidFill>
                <a:latin typeface="Century Schoolbook" pitchFamily="18" charset="0"/>
              </a:rPr>
              <a:t>“Un mécanisme général pour organiser les éléments du modèle en groupes.”</a:t>
            </a:r>
            <a:r>
              <a:rPr lang="fr-FR" altLang="fr-FR" sz="1800" b="1" i="1" baseline="30000" dirty="0">
                <a:solidFill>
                  <a:schemeClr val="tx2"/>
                </a:solidFill>
                <a:latin typeface="Century Schoolbook" pitchFamily="18" charset="0"/>
              </a:rPr>
              <a:t>*</a:t>
            </a:r>
            <a:endParaRPr lang="fr-FR" altLang="fr-FR" sz="1800" b="1" i="1" dirty="0">
              <a:solidFill>
                <a:schemeClr val="tx2"/>
              </a:solidFill>
            </a:endParaRPr>
          </a:p>
          <a:p>
            <a:endParaRPr lang="fr-FR" altLang="fr-FR" sz="1200" dirty="0">
              <a:solidFill>
                <a:schemeClr val="tx2"/>
              </a:solidFill>
            </a:endParaRP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242888" y="5969000"/>
            <a:ext cx="8145462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fr-FR">
                <a:solidFill>
                  <a:srgbClr val="000080"/>
                </a:solidFill>
              </a:rPr>
              <a:t>*Source:</a:t>
            </a:r>
            <a:r>
              <a:rPr lang="en-US" altLang="fr-FR" i="1">
                <a:solidFill>
                  <a:srgbClr val="000080"/>
                </a:solidFill>
              </a:rPr>
              <a:t> The Unified Modeling Language User Guide.</a:t>
            </a:r>
            <a:r>
              <a:rPr lang="en-US" altLang="fr-FR">
                <a:solidFill>
                  <a:srgbClr val="000080"/>
                </a:solidFill>
              </a:rPr>
              <a:t> par Grady Booch, Ivar Jacobson, et James Rumbaugh. Éditions : Addison-Wesley, 1998.</a:t>
            </a:r>
          </a:p>
        </p:txBody>
      </p:sp>
    </p:spTree>
    <p:extLst>
      <p:ext uri="{BB962C8B-B14F-4D97-AF65-F5344CB8AC3E}">
        <p14:creationId xmlns:p14="http://schemas.microsoft.com/office/powerpoint/2010/main" val="361762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Diagramme de paquetages : Exemple</a:t>
            </a:r>
          </a:p>
        </p:txBody>
      </p:sp>
      <p:pic>
        <p:nvPicPr>
          <p:cNvPr id="36870" name="Picture 6" descr="8-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63" y="1524000"/>
            <a:ext cx="4816475" cy="425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172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Pourquoi modéliser des paquetages ?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3621087"/>
          </a:xfrm>
        </p:spPr>
        <p:txBody>
          <a:bodyPr/>
          <a:lstStyle/>
          <a:p>
            <a:r>
              <a:rPr lang="fr-FR" altLang="fr-FR"/>
              <a:t>Les paquetages sont utilisés pour gérer les modèles</a:t>
            </a:r>
          </a:p>
          <a:p>
            <a:pPr lvl="1"/>
            <a:r>
              <a:rPr lang="fr-FR" altLang="fr-FR"/>
              <a:t>Un paquetage peut contenir des éléments de tous types, par exemple :</a:t>
            </a:r>
          </a:p>
          <a:p>
            <a:pPr lvl="2"/>
            <a:r>
              <a:rPr lang="fr-FR" altLang="fr-FR"/>
              <a:t>Des classes</a:t>
            </a:r>
          </a:p>
          <a:p>
            <a:pPr lvl="2"/>
            <a:r>
              <a:rPr lang="fr-FR" altLang="fr-FR"/>
              <a:t>Des cas d’utilisation</a:t>
            </a:r>
          </a:p>
          <a:p>
            <a:pPr lvl="2"/>
            <a:r>
              <a:rPr lang="fr-FR" altLang="fr-FR"/>
              <a:t>Des sous-paquetages</a:t>
            </a:r>
          </a:p>
          <a:p>
            <a:r>
              <a:rPr lang="fr-FR" altLang="fr-FR"/>
              <a:t>Souvent utilisés dans les diagrammes de composants et de déploiement</a:t>
            </a:r>
          </a:p>
          <a:p>
            <a:pPr lvl="1"/>
            <a:r>
              <a:rPr lang="fr-FR" altLang="fr-FR"/>
              <a:t>Le diagramme de composants décrit le découpage</a:t>
            </a:r>
            <a:br>
              <a:rPr lang="fr-FR" altLang="fr-FR"/>
            </a:br>
            <a:r>
              <a:rPr lang="fr-FR" altLang="fr-FR"/>
              <a:t>du système exécutable</a:t>
            </a:r>
          </a:p>
          <a:p>
            <a:pPr lvl="1"/>
            <a:r>
              <a:rPr lang="fr-FR" altLang="fr-FR"/>
              <a:t>Le diagramme de déploiement décrit le découpage </a:t>
            </a:r>
            <a:br>
              <a:rPr lang="fr-FR" altLang="fr-FR"/>
            </a:br>
            <a:r>
              <a:rPr lang="fr-FR" altLang="fr-FR"/>
              <a:t>et l’allocation physiques</a:t>
            </a:r>
          </a:p>
          <a:p>
            <a:r>
              <a:rPr lang="fr-FR" altLang="fr-FR"/>
              <a:t>Les AGL utilisent les paquetages pour naviguer à travers les modèles</a:t>
            </a:r>
          </a:p>
        </p:txBody>
      </p:sp>
    </p:spTree>
    <p:extLst>
      <p:ext uri="{BB962C8B-B14F-4D97-AF65-F5344CB8AC3E}">
        <p14:creationId xmlns:p14="http://schemas.microsoft.com/office/powerpoint/2010/main" val="483571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Possessions, exportations et visibilité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4470400"/>
          </a:xfrm>
        </p:spPr>
        <p:txBody>
          <a:bodyPr/>
          <a:lstStyle/>
          <a:p>
            <a:r>
              <a:rPr lang="fr-FR" altLang="fr-FR"/>
              <a:t>Un paquetage est propriétaire des éléments qu’il contient</a:t>
            </a:r>
          </a:p>
          <a:p>
            <a:pPr lvl="1"/>
            <a:r>
              <a:rPr lang="fr-FR" altLang="fr-FR"/>
              <a:t>Chaque élément appartient à un seul paquetage</a:t>
            </a:r>
          </a:p>
          <a:p>
            <a:pPr lvl="1"/>
            <a:r>
              <a:rPr lang="fr-FR" altLang="fr-FR"/>
              <a:t>Le modèle lui-même est considéré comme un paquetage de haut niveau</a:t>
            </a:r>
          </a:p>
          <a:p>
            <a:r>
              <a:rPr lang="fr-FR" altLang="fr-FR"/>
              <a:t>Les classes et les cas d’utilisation appartenant à un paquetage peuvent être </a:t>
            </a:r>
            <a:r>
              <a:rPr lang="fr-FR" altLang="fr-FR" i="1">
                <a:latin typeface="Century Schoolbook" pitchFamily="18" charset="0"/>
              </a:rPr>
              <a:t>exportés</a:t>
            </a:r>
            <a:r>
              <a:rPr lang="fr-FR" altLang="fr-FR"/>
              <a:t> en spécifiant leur </a:t>
            </a:r>
            <a:r>
              <a:rPr lang="fr-FR" altLang="fr-FR" i="1">
                <a:latin typeface="Century Schoolbook" pitchFamily="18" charset="0"/>
              </a:rPr>
              <a:t>visibilité</a:t>
            </a:r>
            <a:endParaRPr lang="fr-FR" altLang="fr-FR" i="1"/>
          </a:p>
          <a:p>
            <a:pPr lvl="1"/>
            <a:r>
              <a:rPr lang="fr-FR" altLang="fr-FR"/>
              <a:t>Publique, protégée, locale au paquetage, ou privée</a:t>
            </a:r>
          </a:p>
          <a:p>
            <a:pPr lvl="1"/>
            <a:r>
              <a:rPr lang="fr-FR" altLang="fr-FR"/>
              <a:t>Les éléments publics sont visibles des autres paquetages</a:t>
            </a:r>
          </a:p>
          <a:p>
            <a:pPr lvl="1"/>
            <a:r>
              <a:rPr lang="fr-FR" altLang="fr-FR"/>
              <a:t>Les éléments protégés sont visibles uniquement des paquetages fils, liés au paquetage par une relation de généralisation</a:t>
            </a:r>
          </a:p>
          <a:p>
            <a:r>
              <a:rPr lang="fr-FR" altLang="fr-FR"/>
              <a:t>Les éléments exportés d’un paquetage sont représentés soit graphiquement à l’intérieur du symbole du paquetage soit textuellement sous forme de liste dans ce même symbole</a:t>
            </a:r>
          </a:p>
          <a:p>
            <a:pPr lvl="1"/>
            <a:r>
              <a:rPr lang="fr-FR" altLang="fr-FR"/>
              <a:t>La liste permet d’indiquer la visibilité des éléments</a:t>
            </a:r>
          </a:p>
          <a:p>
            <a:pPr lvl="1"/>
            <a:r>
              <a:rPr lang="fr-FR" altLang="fr-FR"/>
              <a:t>Les éléments peuvent être omis suivant leur visibilité</a:t>
            </a:r>
          </a:p>
        </p:txBody>
      </p:sp>
    </p:spTree>
    <p:extLst>
      <p:ext uri="{BB962C8B-B14F-4D97-AF65-F5344CB8AC3E}">
        <p14:creationId xmlns:p14="http://schemas.microsoft.com/office/powerpoint/2010/main" val="2029722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Possessions d’un paquetage : Exemple</a:t>
            </a:r>
          </a:p>
        </p:txBody>
      </p:sp>
      <p:pic>
        <p:nvPicPr>
          <p:cNvPr id="41991" name="Picture 7" descr="8-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13" y="2590800"/>
            <a:ext cx="5691187" cy="201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040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Importations et accès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2970212"/>
          </a:xfrm>
        </p:spPr>
        <p:txBody>
          <a:bodyPr/>
          <a:lstStyle/>
          <a:p>
            <a:r>
              <a:rPr lang="fr-FR" altLang="fr-FR"/>
              <a:t>Un paquetage peut </a:t>
            </a:r>
            <a:r>
              <a:rPr lang="fr-FR" altLang="fr-FR" i="1">
                <a:latin typeface="Century Schoolbook" pitchFamily="18" charset="0"/>
              </a:rPr>
              <a:t>accéder à</a:t>
            </a:r>
            <a:r>
              <a:rPr lang="fr-FR" altLang="fr-FR"/>
              <a:t> d’autres paquetages ou à certains éléments publics d’autres paquetages</a:t>
            </a:r>
          </a:p>
          <a:p>
            <a:r>
              <a:rPr lang="fr-FR" altLang="fr-FR"/>
              <a:t>Un paquetage peut </a:t>
            </a:r>
            <a:r>
              <a:rPr lang="fr-FR" altLang="fr-FR" i="1">
                <a:latin typeface="Century Schoolbook" pitchFamily="18" charset="0"/>
              </a:rPr>
              <a:t>importer</a:t>
            </a:r>
            <a:r>
              <a:rPr lang="fr-FR" altLang="fr-FR"/>
              <a:t> un autre paquetage ou certains éléments d’autres paquetages</a:t>
            </a:r>
          </a:p>
          <a:p>
            <a:pPr lvl="1"/>
            <a:r>
              <a:rPr lang="fr-FR" altLang="fr-FR"/>
              <a:t>Les éléments importés font alors partie de l’espace de nommage du paquetage qui les a importés</a:t>
            </a:r>
          </a:p>
          <a:p>
            <a:pPr lvl="1"/>
            <a:r>
              <a:rPr lang="fr-FR" altLang="fr-FR"/>
              <a:t>Un élément importé peut avoir un alias pour éviter les conflits de nom</a:t>
            </a:r>
          </a:p>
          <a:p>
            <a:r>
              <a:rPr lang="fr-FR" altLang="fr-FR"/>
              <a:t>Les importations et les accès sont montrés sur un diagramme de paquetages en utilisant des relations de dépendance stéréotypées</a:t>
            </a:r>
          </a:p>
        </p:txBody>
      </p:sp>
    </p:spTree>
    <p:extLst>
      <p:ext uri="{BB962C8B-B14F-4D97-AF65-F5344CB8AC3E}">
        <p14:creationId xmlns:p14="http://schemas.microsoft.com/office/powerpoint/2010/main" val="3344334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Importations et accès : Exemple</a:t>
            </a:r>
          </a:p>
        </p:txBody>
      </p:sp>
      <p:pic>
        <p:nvPicPr>
          <p:cNvPr id="45062" name="Picture 6" descr="8-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3" y="1533525"/>
            <a:ext cx="7735887" cy="378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283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Qu’est-ce qu’un sous-système ?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2970212"/>
          </a:xfrm>
        </p:spPr>
        <p:txBody>
          <a:bodyPr/>
          <a:lstStyle/>
          <a:p>
            <a:r>
              <a:rPr lang="fr-FR" altLang="fr-FR"/>
              <a:t>Un </a:t>
            </a:r>
            <a:r>
              <a:rPr lang="fr-FR" altLang="fr-FR" i="1">
                <a:latin typeface="Century Schoolbook" pitchFamily="18" charset="0"/>
              </a:rPr>
              <a:t>sous-système</a:t>
            </a:r>
            <a:r>
              <a:rPr lang="fr-FR" altLang="fr-FR"/>
              <a:t> est une sorte de paquetage représentant une </a:t>
            </a:r>
            <a:r>
              <a:rPr lang="fr-FR" altLang="fr-FR" i="1">
                <a:latin typeface="Century Schoolbook" pitchFamily="18" charset="0"/>
              </a:rPr>
              <a:t>unité de comportement</a:t>
            </a:r>
            <a:r>
              <a:rPr lang="fr-FR" altLang="fr-FR"/>
              <a:t> d’un système</a:t>
            </a:r>
          </a:p>
          <a:p>
            <a:r>
              <a:rPr lang="fr-FR" altLang="fr-FR"/>
              <a:t>Un sous-système peut exporter des interfaces et des opérations en plus de classes et de cas d’utilisation</a:t>
            </a:r>
          </a:p>
          <a:p>
            <a:pPr lvl="1"/>
            <a:r>
              <a:rPr lang="fr-FR" altLang="fr-FR"/>
              <a:t>Appliqué généralement aux paquetages qui contiennent des classes</a:t>
            </a:r>
          </a:p>
          <a:p>
            <a:r>
              <a:rPr lang="fr-FR" altLang="fr-FR"/>
              <a:t>Les interfaces et les opérations exportées sont réalisées ou fournies par des classes appartenant au sous-système</a:t>
            </a:r>
          </a:p>
          <a:p>
            <a:pPr lvl="1"/>
            <a:r>
              <a:rPr lang="fr-FR" altLang="fr-FR"/>
              <a:t>Le sous-système peut être utilisé par d’autres paquetages comme si c’était une classe offrant ces interfaces et ces opérations</a:t>
            </a:r>
          </a:p>
        </p:txBody>
      </p:sp>
    </p:spTree>
    <p:extLst>
      <p:ext uri="{BB962C8B-B14F-4D97-AF65-F5344CB8AC3E}">
        <p14:creationId xmlns:p14="http://schemas.microsoft.com/office/powerpoint/2010/main" val="3643009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Sous-système : Notation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2090737"/>
          </a:xfrm>
        </p:spPr>
        <p:txBody>
          <a:bodyPr/>
          <a:lstStyle/>
          <a:p>
            <a:r>
              <a:rPr lang="fr-FR" altLang="fr-FR"/>
              <a:t>Un sous-système est représenté comme un paquetage avec une icône de fourche dans l’onglet supérieur</a:t>
            </a:r>
          </a:p>
          <a:p>
            <a:pPr lvl="1"/>
            <a:r>
              <a:rPr lang="fr-FR" altLang="fr-FR"/>
              <a:t>Les interfaces et opérations exportées sont représentées comme si le sous-système était une classe</a:t>
            </a:r>
          </a:p>
          <a:p>
            <a:pPr lvl="2"/>
            <a:r>
              <a:rPr lang="fr-FR" altLang="fr-FR"/>
              <a:t>Les opérations exportées apparaissent dans le corps du symbole</a:t>
            </a:r>
          </a:p>
          <a:p>
            <a:pPr lvl="2"/>
            <a:r>
              <a:rPr lang="fr-FR" altLang="fr-FR"/>
              <a:t>La notation sous forme de rectangle ou celle sous forme de sucette peuvent être utilisées pour les interfaces</a:t>
            </a:r>
          </a:p>
        </p:txBody>
      </p:sp>
      <p:grpSp>
        <p:nvGrpSpPr>
          <p:cNvPr id="50181" name="Group 5"/>
          <p:cNvGrpSpPr>
            <a:grpSpLocks/>
          </p:cNvGrpSpPr>
          <p:nvPr/>
        </p:nvGrpSpPr>
        <p:grpSpPr bwMode="auto">
          <a:xfrm>
            <a:off x="4065588" y="4362450"/>
            <a:ext cx="1220787" cy="1457325"/>
            <a:chOff x="3922" y="4514"/>
            <a:chExt cx="1924" cy="2294"/>
          </a:xfrm>
        </p:grpSpPr>
        <p:sp>
          <p:nvSpPr>
            <p:cNvPr id="50182" name="Text Box 6"/>
            <p:cNvSpPr txBox="1">
              <a:spLocks noChangeArrowheads="1"/>
            </p:cNvSpPr>
            <p:nvPr/>
          </p:nvSpPr>
          <p:spPr bwMode="auto">
            <a:xfrm>
              <a:off x="3922" y="4810"/>
              <a:ext cx="1924" cy="199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fr-FR" altLang="fr-FR" sz="1600" b="1">
                  <a:solidFill>
                    <a:schemeClr val="tx2"/>
                  </a:solidFill>
                </a:rPr>
                <a:t>Noyau</a:t>
              </a:r>
            </a:p>
          </p:txBody>
        </p:sp>
        <p:sp>
          <p:nvSpPr>
            <p:cNvPr id="50183" name="Rectangle 7"/>
            <p:cNvSpPr>
              <a:spLocks noChangeArrowheads="1"/>
            </p:cNvSpPr>
            <p:nvPr/>
          </p:nvSpPr>
          <p:spPr bwMode="auto">
            <a:xfrm>
              <a:off x="3922" y="4514"/>
              <a:ext cx="962" cy="2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FR">
                <a:solidFill>
                  <a:schemeClr val="tx2"/>
                </a:solidFill>
              </a:endParaRPr>
            </a:p>
          </p:txBody>
        </p:sp>
      </p:grpSp>
      <p:sp>
        <p:nvSpPr>
          <p:cNvPr id="50184" name="Oval 8"/>
          <p:cNvSpPr>
            <a:spLocks noChangeArrowheads="1"/>
          </p:cNvSpPr>
          <p:nvPr/>
        </p:nvSpPr>
        <p:spPr bwMode="auto">
          <a:xfrm>
            <a:off x="4816475" y="3705225"/>
            <a:ext cx="188913" cy="187325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4911725" y="3657600"/>
            <a:ext cx="1362075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fr-FR" altLang="fr-FR" sz="1600" b="1">
                <a:solidFill>
                  <a:schemeClr val="tx2"/>
                </a:solidFill>
              </a:rPr>
              <a:t>IUnknown</a:t>
            </a:r>
            <a:endParaRPr lang="fr-FR" altLang="fr-FR" sz="1200">
              <a:solidFill>
                <a:schemeClr val="tx2"/>
              </a:solidFill>
            </a:endParaRPr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4911725" y="3892550"/>
            <a:ext cx="0" cy="658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0187" name="Oval 11"/>
          <p:cNvSpPr>
            <a:spLocks noChangeArrowheads="1"/>
          </p:cNvSpPr>
          <p:nvPr/>
        </p:nvSpPr>
        <p:spPr bwMode="auto">
          <a:xfrm>
            <a:off x="3267075" y="4692650"/>
            <a:ext cx="187325" cy="187325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 flipV="1">
            <a:off x="3454400" y="4786313"/>
            <a:ext cx="611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1981200" y="4876800"/>
            <a:ext cx="20574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fr-FR" altLang="fr-FR" sz="1600" b="1">
                <a:solidFill>
                  <a:schemeClr val="tx2"/>
                </a:solidFill>
              </a:rPr>
              <a:t>IGestionnaireAppel</a:t>
            </a:r>
            <a:endParaRPr lang="fr-FR" altLang="fr-FR" sz="1200">
              <a:solidFill>
                <a:schemeClr val="tx2"/>
              </a:solidFill>
            </a:endParaRPr>
          </a:p>
        </p:txBody>
      </p:sp>
      <p:sp>
        <p:nvSpPr>
          <p:cNvPr id="50190" name="Oval 14"/>
          <p:cNvSpPr>
            <a:spLocks noChangeArrowheads="1"/>
          </p:cNvSpPr>
          <p:nvPr/>
        </p:nvSpPr>
        <p:spPr bwMode="auto">
          <a:xfrm>
            <a:off x="3267075" y="5349875"/>
            <a:ext cx="187325" cy="188913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0191" name="Line 15"/>
          <p:cNvSpPr>
            <a:spLocks noChangeShapeType="1"/>
          </p:cNvSpPr>
          <p:nvPr/>
        </p:nvSpPr>
        <p:spPr bwMode="auto">
          <a:xfrm flipV="1">
            <a:off x="3454400" y="5443538"/>
            <a:ext cx="611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0192" name="Text Box 16"/>
          <p:cNvSpPr txBox="1">
            <a:spLocks noChangeArrowheads="1"/>
          </p:cNvSpPr>
          <p:nvPr/>
        </p:nvSpPr>
        <p:spPr bwMode="auto">
          <a:xfrm>
            <a:off x="2514600" y="5538788"/>
            <a:ext cx="1644650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fr-FR" altLang="fr-FR" sz="1600" b="1">
                <a:solidFill>
                  <a:schemeClr val="tx2"/>
                </a:solidFill>
              </a:rPr>
              <a:t>IAppel</a:t>
            </a:r>
            <a:endParaRPr lang="fr-FR" altLang="fr-FR" sz="1200">
              <a:solidFill>
                <a:schemeClr val="tx2"/>
              </a:solidFill>
            </a:endParaRPr>
          </a:p>
        </p:txBody>
      </p:sp>
      <p:grpSp>
        <p:nvGrpSpPr>
          <p:cNvPr id="50193" name="Group 17"/>
          <p:cNvGrpSpPr>
            <a:grpSpLocks/>
          </p:cNvGrpSpPr>
          <p:nvPr/>
        </p:nvGrpSpPr>
        <p:grpSpPr bwMode="auto">
          <a:xfrm flipH="1">
            <a:off x="4487863" y="4410075"/>
            <a:ext cx="141287" cy="93663"/>
            <a:chOff x="13394" y="7918"/>
            <a:chExt cx="296" cy="296"/>
          </a:xfrm>
        </p:grpSpPr>
        <p:sp>
          <p:nvSpPr>
            <p:cNvPr id="50194" name="Line 18"/>
            <p:cNvSpPr>
              <a:spLocks noChangeShapeType="1"/>
            </p:cNvSpPr>
            <p:nvPr/>
          </p:nvSpPr>
          <p:spPr bwMode="auto">
            <a:xfrm flipV="1">
              <a:off x="13394" y="8066"/>
              <a:ext cx="0" cy="1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50195" name="Line 19"/>
            <p:cNvSpPr>
              <a:spLocks noChangeShapeType="1"/>
            </p:cNvSpPr>
            <p:nvPr/>
          </p:nvSpPr>
          <p:spPr bwMode="auto">
            <a:xfrm flipV="1">
              <a:off x="13690" y="8066"/>
              <a:ext cx="0" cy="1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50196" name="Line 20"/>
            <p:cNvSpPr>
              <a:spLocks noChangeShapeType="1"/>
            </p:cNvSpPr>
            <p:nvPr/>
          </p:nvSpPr>
          <p:spPr bwMode="auto">
            <a:xfrm flipV="1">
              <a:off x="13542" y="7918"/>
              <a:ext cx="0" cy="1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50197" name="Line 21"/>
            <p:cNvSpPr>
              <a:spLocks noChangeShapeType="1"/>
            </p:cNvSpPr>
            <p:nvPr/>
          </p:nvSpPr>
          <p:spPr bwMode="auto">
            <a:xfrm>
              <a:off x="13394" y="8066"/>
              <a:ext cx="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9703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Qu’est-ce qu’un modèle ?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438400"/>
            <a:ext cx="8599488" cy="2965450"/>
          </a:xfrm>
        </p:spPr>
        <p:txBody>
          <a:bodyPr/>
          <a:lstStyle/>
          <a:p>
            <a:r>
              <a:rPr lang="fr-FR" altLang="fr-FR"/>
              <a:t>Un modèle est une sorte de paquetage qui représente une vue du système</a:t>
            </a:r>
          </a:p>
          <a:p>
            <a:pPr lvl="1"/>
            <a:r>
              <a:rPr lang="fr-FR" altLang="fr-FR"/>
              <a:t>Utilisable pour représenter une des vues évoquées au chapitre 5</a:t>
            </a:r>
          </a:p>
          <a:p>
            <a:pPr lvl="2"/>
            <a:r>
              <a:rPr lang="fr-FR" altLang="fr-FR"/>
              <a:t>Cas d’utilisation, Analyse, Conception, Réalisation, Déploiement, Test</a:t>
            </a:r>
          </a:p>
          <a:p>
            <a:pPr lvl="1"/>
            <a:r>
              <a:rPr lang="fr-FR" altLang="fr-FR"/>
              <a:t>Des termes comme </a:t>
            </a:r>
            <a:r>
              <a:rPr lang="fr-FR" altLang="fr-FR" i="1">
                <a:latin typeface="Century Schoolbook" pitchFamily="18" charset="0"/>
              </a:rPr>
              <a:t>modèle d’analyse</a:t>
            </a:r>
            <a:r>
              <a:rPr lang="fr-FR" altLang="fr-FR"/>
              <a:t> ou </a:t>
            </a:r>
            <a:r>
              <a:rPr lang="fr-FR" altLang="fr-FR" i="1">
                <a:latin typeface="Century Schoolbook" pitchFamily="18" charset="0"/>
              </a:rPr>
              <a:t>modèle de conception</a:t>
            </a:r>
            <a:r>
              <a:rPr lang="fr-FR" altLang="fr-FR"/>
              <a:t> peuvent être utilisés</a:t>
            </a:r>
          </a:p>
          <a:p>
            <a:pPr lvl="2"/>
            <a:r>
              <a:rPr lang="fr-FR" altLang="fr-FR"/>
              <a:t>Un modèle d’analyse contient des réalisations de cas d’utilisation, des diagrammes de classes, etc. représentant l'architecture générale de la solution</a:t>
            </a:r>
          </a:p>
          <a:p>
            <a:pPr lvl="2"/>
            <a:r>
              <a:rPr lang="fr-FR" altLang="fr-FR"/>
              <a:t>Un modèle de conception définit les classes, les interactions, etc. qui constituent la solution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blackWhite">
          <a:xfrm>
            <a:off x="811213" y="1463675"/>
            <a:ext cx="7680325" cy="7270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ctr"/>
            <a:r>
              <a:rPr lang="fr-FR" altLang="fr-FR" sz="1800" b="1" i="1" dirty="0">
                <a:solidFill>
                  <a:schemeClr val="tx2"/>
                </a:solidFill>
                <a:latin typeface="Century Schoolbook" pitchFamily="18" charset="0"/>
              </a:rPr>
              <a:t>“Une abstraction d’un système dans un certain but, décrivant donc ce système d’un certain point de vue.”</a:t>
            </a:r>
            <a:r>
              <a:rPr lang="fr-FR" altLang="fr-FR" sz="1800" b="1" i="1" baseline="30000" dirty="0">
                <a:solidFill>
                  <a:schemeClr val="tx2"/>
                </a:solidFill>
                <a:latin typeface="Century Schoolbook" pitchFamily="18" charset="0"/>
              </a:rPr>
              <a:t>*</a:t>
            </a:r>
            <a:endParaRPr lang="fr-FR" altLang="fr-FR" sz="1200" dirty="0">
              <a:solidFill>
                <a:schemeClr val="tx2"/>
              </a:solidFill>
            </a:endParaRP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152400" y="6172200"/>
            <a:ext cx="82772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fr-FR">
                <a:solidFill>
                  <a:srgbClr val="000080"/>
                </a:solidFill>
              </a:rPr>
              <a:t>*Source: </a:t>
            </a:r>
            <a:r>
              <a:rPr lang="en-US" altLang="fr-FR" i="1">
                <a:solidFill>
                  <a:srgbClr val="000080"/>
                </a:solidFill>
              </a:rPr>
              <a:t>OMG Unified Modeling Language Specification. </a:t>
            </a:r>
            <a:r>
              <a:rPr lang="en-US" altLang="fr-FR">
                <a:solidFill>
                  <a:srgbClr val="000080"/>
                </a:solidFill>
              </a:rPr>
              <a:t>Object Management Group, Inc.: 2001.</a:t>
            </a:r>
          </a:p>
        </p:txBody>
      </p:sp>
    </p:spTree>
    <p:extLst>
      <p:ext uri="{BB962C8B-B14F-4D97-AF65-F5344CB8AC3E}">
        <p14:creationId xmlns:p14="http://schemas.microsoft.com/office/powerpoint/2010/main" val="3561506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Modèles : Notation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666750"/>
          </a:xfrm>
        </p:spPr>
        <p:txBody>
          <a:bodyPr/>
          <a:lstStyle/>
          <a:p>
            <a:r>
              <a:rPr lang="fr-FR" altLang="fr-FR"/>
              <a:t>Un modèle est un paquetage stéréotypé avec le stéréotype «model»</a:t>
            </a:r>
          </a:p>
          <a:p>
            <a:pPr lvl="1"/>
            <a:r>
              <a:rPr lang="fr-FR" altLang="fr-FR"/>
              <a:t>Les modèles représentent typiquement des vues du système</a:t>
            </a: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2057400" y="3999011"/>
            <a:ext cx="184731" cy="30777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2206225" y="3810000"/>
            <a:ext cx="8707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fr-FR" altLang="fr-FR">
                <a:solidFill>
                  <a:schemeClr val="tx2"/>
                </a:solidFill>
              </a:rPr>
              <a:t>«model»</a:t>
            </a:r>
          </a:p>
          <a:p>
            <a:pPr algn="ctr"/>
            <a:r>
              <a:rPr lang="fr-FR" altLang="fr-FR" b="1">
                <a:solidFill>
                  <a:schemeClr val="tx2"/>
                </a:solidFill>
              </a:rPr>
              <a:t>Analyse</a:t>
            </a:r>
          </a:p>
        </p:txBody>
      </p:sp>
      <p:sp>
        <p:nvSpPr>
          <p:cNvPr id="57351" name="Line 7"/>
          <p:cNvSpPr>
            <a:spLocks noChangeShapeType="1"/>
          </p:cNvSpPr>
          <p:nvPr/>
        </p:nvSpPr>
        <p:spPr bwMode="auto">
          <a:xfrm>
            <a:off x="2057400" y="43434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2057400" y="3579912"/>
            <a:ext cx="184731" cy="30777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5105400" y="3999011"/>
            <a:ext cx="184731" cy="30777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5100391" y="3810000"/>
            <a:ext cx="11673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fr-FR" altLang="fr-FR">
                <a:solidFill>
                  <a:schemeClr val="tx2"/>
                </a:solidFill>
              </a:rPr>
              <a:t>«model»</a:t>
            </a:r>
          </a:p>
          <a:p>
            <a:pPr algn="ctr"/>
            <a:r>
              <a:rPr lang="fr-FR" altLang="fr-FR" b="1">
                <a:solidFill>
                  <a:schemeClr val="tx2"/>
                </a:solidFill>
              </a:rPr>
              <a:t>Conception</a:t>
            </a:r>
          </a:p>
        </p:txBody>
      </p:sp>
      <p:sp>
        <p:nvSpPr>
          <p:cNvPr id="57355" name="Line 11"/>
          <p:cNvSpPr>
            <a:spLocks noChangeShapeType="1"/>
          </p:cNvSpPr>
          <p:nvPr/>
        </p:nvSpPr>
        <p:spPr bwMode="auto">
          <a:xfrm>
            <a:off x="5105400" y="43434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7356" name="Rectangle 12"/>
          <p:cNvSpPr>
            <a:spLocks noChangeArrowheads="1"/>
          </p:cNvSpPr>
          <p:nvPr/>
        </p:nvSpPr>
        <p:spPr bwMode="auto">
          <a:xfrm>
            <a:off x="5105400" y="3579912"/>
            <a:ext cx="184731" cy="30777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57357" name="Line 13"/>
          <p:cNvSpPr>
            <a:spLocks noChangeShapeType="1"/>
          </p:cNvSpPr>
          <p:nvPr/>
        </p:nvSpPr>
        <p:spPr bwMode="auto">
          <a:xfrm flipH="1">
            <a:off x="3200400" y="4191000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00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Liens entre modèles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4719637"/>
          </a:xfrm>
        </p:spPr>
        <p:txBody>
          <a:bodyPr/>
          <a:lstStyle/>
          <a:p>
            <a:r>
              <a:rPr lang="fr-FR" altLang="fr-FR"/>
              <a:t>Une classe importante dans le domaine du problème apparaît dans le modèle d’analyse</a:t>
            </a:r>
          </a:p>
          <a:p>
            <a:pPr lvl="1"/>
            <a:r>
              <a:rPr lang="fr-FR" altLang="fr-FR"/>
              <a:t>La classe qui sera codée apparaît, quant à elle, dans le modèle de conception</a:t>
            </a:r>
          </a:p>
          <a:p>
            <a:r>
              <a:rPr lang="fr-FR" altLang="fr-FR"/>
              <a:t>Ces classes sont bien souvent distinctes</a:t>
            </a:r>
          </a:p>
          <a:p>
            <a:pPr lvl="1"/>
            <a:r>
              <a:rPr lang="fr-FR" altLang="fr-FR"/>
              <a:t>Un changement dans l’analyse n’entraîne pas forcément de changement dans le code et vice-versa</a:t>
            </a:r>
          </a:p>
          <a:p>
            <a:pPr lvl="1"/>
            <a:r>
              <a:rPr lang="fr-FR" altLang="fr-FR"/>
              <a:t>Les classes sont néanmoins liées</a:t>
            </a:r>
          </a:p>
          <a:p>
            <a:pPr lvl="2"/>
            <a:r>
              <a:rPr lang="fr-FR" altLang="fr-FR"/>
              <a:t>Un changement dans l’analyse demande à ce que la classe de conception soit réexaminée</a:t>
            </a:r>
          </a:p>
          <a:p>
            <a:r>
              <a:rPr lang="fr-FR" altLang="fr-FR"/>
              <a:t>Ceci est représenté par des classes de même nom dans des modèles différents</a:t>
            </a:r>
          </a:p>
          <a:p>
            <a:pPr lvl="1"/>
            <a:r>
              <a:rPr lang="fr-FR" altLang="fr-FR"/>
              <a:t>C’est possible car chaque modèle possède son propre espace de nommage</a:t>
            </a:r>
          </a:p>
          <a:p>
            <a:pPr lvl="1"/>
            <a:r>
              <a:rPr lang="fr-FR" altLang="fr-FR"/>
              <a:t>Une relation de dépendance stéréotypée «trace» peut montrer explicitement le lien entre ces classes</a:t>
            </a:r>
          </a:p>
        </p:txBody>
      </p:sp>
    </p:spTree>
    <p:extLst>
      <p:ext uri="{BB962C8B-B14F-4D97-AF65-F5344CB8AC3E}">
        <p14:creationId xmlns:p14="http://schemas.microsoft.com/office/powerpoint/2010/main" val="3231224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Liens entre modèles : Exemple</a:t>
            </a:r>
          </a:p>
        </p:txBody>
      </p:sp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738" y="2268538"/>
            <a:ext cx="5824537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9365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Composants et artefacts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198563"/>
            <a:ext cx="8599488" cy="5248275"/>
          </a:xfrm>
        </p:spPr>
        <p:txBody>
          <a:bodyPr/>
          <a:lstStyle/>
          <a:p>
            <a:r>
              <a:rPr lang="fr-FR" altLang="fr-FR"/>
              <a:t>Un </a:t>
            </a:r>
            <a:r>
              <a:rPr lang="fr-FR" altLang="fr-FR" i="1">
                <a:latin typeface="Century Schoolbook" pitchFamily="18" charset="0"/>
              </a:rPr>
              <a:t>composant</a:t>
            </a:r>
            <a:r>
              <a:rPr lang="fr-FR" altLang="fr-FR"/>
              <a:t> représente un des blocs logiques composant le système réel</a:t>
            </a:r>
          </a:p>
          <a:p>
            <a:pPr lvl="1"/>
            <a:r>
              <a:rPr lang="fr-FR" altLang="fr-FR"/>
              <a:t>En UML 2.0, « component » est un stéréotype de classe</a:t>
            </a:r>
          </a:p>
          <a:p>
            <a:pPr lvl="2"/>
            <a:r>
              <a:rPr lang="fr-FR" altLang="fr-FR"/>
              <a:t>Peut donc prendre part à des associations, réaliser des interfaces, etc.</a:t>
            </a:r>
          </a:p>
          <a:p>
            <a:pPr lvl="1"/>
            <a:r>
              <a:rPr lang="fr-FR" altLang="fr-FR"/>
              <a:t>Avant UML 2.0, le composant était un élément de modélisation séparé</a:t>
            </a:r>
          </a:p>
          <a:p>
            <a:r>
              <a:rPr lang="fr-FR" altLang="fr-FR"/>
              <a:t>Un </a:t>
            </a:r>
            <a:r>
              <a:rPr lang="fr-FR" altLang="fr-FR" i="1">
                <a:latin typeface="Century Schoolbook" pitchFamily="18" charset="0"/>
              </a:rPr>
              <a:t>diagramme de composants</a:t>
            </a:r>
            <a:r>
              <a:rPr lang="fr-FR" altLang="fr-FR"/>
              <a:t> modélise des composants</a:t>
            </a:r>
          </a:p>
          <a:p>
            <a:pPr lvl="1"/>
            <a:r>
              <a:rPr lang="fr-FR" altLang="fr-FR"/>
              <a:t>Les classes et les interfaces réalisées par des composants</a:t>
            </a:r>
          </a:p>
          <a:p>
            <a:pPr lvl="1"/>
            <a:r>
              <a:rPr lang="fr-FR" altLang="fr-FR"/>
              <a:t>Les dépendances entre composants</a:t>
            </a:r>
          </a:p>
          <a:p>
            <a:pPr lvl="1"/>
            <a:r>
              <a:rPr lang="fr-FR" altLang="fr-FR"/>
              <a:t>La structure logique du système réel</a:t>
            </a:r>
          </a:p>
          <a:p>
            <a:r>
              <a:rPr lang="fr-FR" altLang="fr-FR"/>
              <a:t>Un </a:t>
            </a:r>
            <a:r>
              <a:rPr lang="fr-FR" altLang="fr-FR" i="1">
                <a:latin typeface="Century Schoolbook" pitchFamily="18" charset="0"/>
              </a:rPr>
              <a:t>artefact</a:t>
            </a:r>
            <a:r>
              <a:rPr lang="fr-FR" altLang="fr-FR"/>
              <a:t> est la manifestation physique d’un bloc logique</a:t>
            </a:r>
          </a:p>
          <a:p>
            <a:pPr lvl="1"/>
            <a:r>
              <a:rPr lang="fr-FR" altLang="fr-FR"/>
              <a:t>Souvent un fichier qui contient du code source, un objet ou du code exécutable</a:t>
            </a:r>
          </a:p>
          <a:p>
            <a:pPr lvl="1"/>
            <a:r>
              <a:rPr lang="fr-FR" altLang="fr-FR"/>
              <a:t>Un artefact peut être relié à un composant par un lien </a:t>
            </a:r>
            <a:r>
              <a:rPr lang="fr-FR" altLang="fr-FR">
                <a:latin typeface="Courier New" panose="02070309020205020404" pitchFamily="49" charset="0"/>
              </a:rPr>
              <a:t>« manifest »</a:t>
            </a:r>
          </a:p>
          <a:p>
            <a:r>
              <a:rPr lang="fr-FR" altLang="fr-FR"/>
              <a:t>Un </a:t>
            </a:r>
            <a:r>
              <a:rPr lang="fr-FR" altLang="fr-FR" i="1">
                <a:latin typeface="Century Schoolbook" pitchFamily="18" charset="0"/>
              </a:rPr>
              <a:t>diagramme de déploiement</a:t>
            </a:r>
            <a:r>
              <a:rPr lang="fr-FR" altLang="fr-FR"/>
              <a:t> représente l’allocation des artefacts sur des </a:t>
            </a:r>
            <a:r>
              <a:rPr lang="fr-FR" altLang="fr-FR" i="1">
                <a:latin typeface="Century Schoolbook" pitchFamily="18" charset="0"/>
              </a:rPr>
              <a:t>nœuds</a:t>
            </a:r>
          </a:p>
          <a:p>
            <a:pPr lvl="1"/>
            <a:r>
              <a:rPr lang="fr-FR" altLang="fr-FR"/>
              <a:t>Un nœud représente un ordinateur lié à un réseau, etc.</a:t>
            </a:r>
          </a:p>
        </p:txBody>
      </p:sp>
    </p:spTree>
    <p:extLst>
      <p:ext uri="{BB962C8B-B14F-4D97-AF65-F5344CB8AC3E}">
        <p14:creationId xmlns:p14="http://schemas.microsoft.com/office/powerpoint/2010/main" val="2631087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Diagramme de composants</a:t>
            </a:r>
          </a:p>
        </p:txBody>
      </p:sp>
      <p:pic>
        <p:nvPicPr>
          <p:cNvPr id="68648" name="Picture 40" descr="8-3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3363" y="2241550"/>
            <a:ext cx="6332537" cy="24812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2460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Diagramme de déploiement</a:t>
            </a:r>
          </a:p>
        </p:txBody>
      </p:sp>
      <p:pic>
        <p:nvPicPr>
          <p:cNvPr id="190473" name="Picture 9" descr="8-3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6313" y="2139950"/>
            <a:ext cx="7383462" cy="3394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0174453"/>
      </p:ext>
    </p:extLst>
  </p:cSld>
  <p:clrMapOvr>
    <a:masterClrMapping/>
  </p:clrMapOvr>
</p:sld>
</file>

<file path=ppt/theme/theme1.xml><?xml version="1.0" encoding="utf-8"?>
<a:theme xmlns:a="http://schemas.openxmlformats.org/drawingml/2006/main" name="EPIC">
  <a:themeElements>
    <a:clrScheme name="EPIC 3">
      <a:dk1>
        <a:srgbClr val="000080"/>
      </a:dk1>
      <a:lt1>
        <a:srgbClr val="BCD507"/>
      </a:lt1>
      <a:dk2>
        <a:srgbClr val="FFFFFF"/>
      </a:dk2>
      <a:lt2>
        <a:srgbClr val="000000"/>
      </a:lt2>
      <a:accent1>
        <a:srgbClr val="FFFFCC"/>
      </a:accent1>
      <a:accent2>
        <a:srgbClr val="B90117"/>
      </a:accent2>
      <a:accent3>
        <a:srgbClr val="DAE7AA"/>
      </a:accent3>
      <a:accent4>
        <a:srgbClr val="00006C"/>
      </a:accent4>
      <a:accent5>
        <a:srgbClr val="FFFFE2"/>
      </a:accent5>
      <a:accent6>
        <a:srgbClr val="A70114"/>
      </a:accent6>
      <a:hlink>
        <a:srgbClr val="FFCCCC"/>
      </a:hlink>
      <a:folHlink>
        <a:srgbClr val="99CCFF"/>
      </a:folHlink>
    </a:clrScheme>
    <a:fontScheme name="EPI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PIC 1">
        <a:dk1>
          <a:srgbClr val="000080"/>
        </a:dk1>
        <a:lt1>
          <a:srgbClr val="BAB600"/>
        </a:lt1>
        <a:dk2>
          <a:srgbClr val="FFFFFF"/>
        </a:dk2>
        <a:lt2>
          <a:srgbClr val="000000"/>
        </a:lt2>
        <a:accent1>
          <a:srgbClr val="FFFF66"/>
        </a:accent1>
        <a:accent2>
          <a:srgbClr val="B90117"/>
        </a:accent2>
        <a:accent3>
          <a:srgbClr val="D9D7AA"/>
        </a:accent3>
        <a:accent4>
          <a:srgbClr val="00006C"/>
        </a:accent4>
        <a:accent5>
          <a:srgbClr val="FFFFB8"/>
        </a:accent5>
        <a:accent6>
          <a:srgbClr val="A70114"/>
        </a:accent6>
        <a:hlink>
          <a:srgbClr val="3333FF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IC 2">
        <a:dk1>
          <a:srgbClr val="000080"/>
        </a:dk1>
        <a:lt1>
          <a:srgbClr val="BCD507"/>
        </a:lt1>
        <a:dk2>
          <a:srgbClr val="FFFFFF"/>
        </a:dk2>
        <a:lt2>
          <a:srgbClr val="000000"/>
        </a:lt2>
        <a:accent1>
          <a:srgbClr val="FFFF66"/>
        </a:accent1>
        <a:accent2>
          <a:srgbClr val="B90117"/>
        </a:accent2>
        <a:accent3>
          <a:srgbClr val="DAE7AA"/>
        </a:accent3>
        <a:accent4>
          <a:srgbClr val="00006C"/>
        </a:accent4>
        <a:accent5>
          <a:srgbClr val="FFFFB8"/>
        </a:accent5>
        <a:accent6>
          <a:srgbClr val="A70114"/>
        </a:accent6>
        <a:hlink>
          <a:srgbClr val="FFCCCC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IC 3">
        <a:dk1>
          <a:srgbClr val="000080"/>
        </a:dk1>
        <a:lt1>
          <a:srgbClr val="BCD507"/>
        </a:lt1>
        <a:dk2>
          <a:srgbClr val="FFFFFF"/>
        </a:dk2>
        <a:lt2>
          <a:srgbClr val="000000"/>
        </a:lt2>
        <a:accent1>
          <a:srgbClr val="FFFFCC"/>
        </a:accent1>
        <a:accent2>
          <a:srgbClr val="B90117"/>
        </a:accent2>
        <a:accent3>
          <a:srgbClr val="DAE7AA"/>
        </a:accent3>
        <a:accent4>
          <a:srgbClr val="00006C"/>
        </a:accent4>
        <a:accent5>
          <a:srgbClr val="FFFFE2"/>
        </a:accent5>
        <a:accent6>
          <a:srgbClr val="A70114"/>
        </a:accent6>
        <a:hlink>
          <a:srgbClr val="FFCCCC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5938</TotalTime>
  <Words>1683</Words>
  <Application>Microsoft Office PowerPoint</Application>
  <PresentationFormat>Affichage à l'écran (4:3)</PresentationFormat>
  <Paragraphs>211</Paragraphs>
  <Slides>29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Arial</vt:lpstr>
      <vt:lpstr>Century Schoolbook</vt:lpstr>
      <vt:lpstr>Courier New</vt:lpstr>
      <vt:lpstr>Times New Roman</vt:lpstr>
      <vt:lpstr>EPIC</vt:lpstr>
      <vt:lpstr>Présentation PowerPoint</vt:lpstr>
      <vt:lpstr>Déroulement</vt:lpstr>
      <vt:lpstr>Qu’est-ce qu’une interface ?</vt:lpstr>
      <vt:lpstr>Interfaces : Exemple</vt:lpstr>
      <vt:lpstr>Pourquoi modéliser des interfaces ?</vt:lpstr>
      <vt:lpstr>Pourquoi modéliser des interfaces ?  (suite)</vt:lpstr>
      <vt:lpstr>Description d’une interface</vt:lpstr>
      <vt:lpstr>Réalisation d’une interface</vt:lpstr>
      <vt:lpstr>Utiliser une interface</vt:lpstr>
      <vt:lpstr>Interfaces et associations</vt:lpstr>
      <vt:lpstr>Interfaces et généralisation</vt:lpstr>
      <vt:lpstr>Nouvelle notation des interfaces dans UML 2.0</vt:lpstr>
      <vt:lpstr>Système d’expédition des ambulances : Utilisation des interfaces</vt:lpstr>
      <vt:lpstr>Qu’est-ce qu’un paquetage ?</vt:lpstr>
      <vt:lpstr>Diagramme de paquetages : Exemple</vt:lpstr>
      <vt:lpstr>Pourquoi modéliser des paquetages ?</vt:lpstr>
      <vt:lpstr>Possessions, exportations et visibilité</vt:lpstr>
      <vt:lpstr>Possessions d’un paquetage : Exemple</vt:lpstr>
      <vt:lpstr>Importations et accès</vt:lpstr>
      <vt:lpstr>Importations et accès : Exemple</vt:lpstr>
      <vt:lpstr>Qu’est-ce qu’un sous-système ?</vt:lpstr>
      <vt:lpstr>Sous-système : Notation</vt:lpstr>
      <vt:lpstr>Qu’est-ce qu’un modèle ?</vt:lpstr>
      <vt:lpstr>Modèles : Notation</vt:lpstr>
      <vt:lpstr>Liens entre modèles</vt:lpstr>
      <vt:lpstr>Liens entre modèles : Exemple</vt:lpstr>
      <vt:lpstr>Composants et artefacts</vt:lpstr>
      <vt:lpstr>Diagramme de composants</vt:lpstr>
      <vt:lpstr>Diagramme de déploiement</vt:lpstr>
    </vt:vector>
  </TitlesOfParts>
  <Company>Rutlands.com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XSL Overview</dc:title>
  <dc:creator>Administrator</dc:creator>
  <cp:lastModifiedBy>Cyril Vincent</cp:lastModifiedBy>
  <cp:revision>258</cp:revision>
  <cp:lastPrinted>2001-10-05T18:03:23Z</cp:lastPrinted>
  <dcterms:created xsi:type="dcterms:W3CDTF">2001-05-13T21:09:34Z</dcterms:created>
  <dcterms:modified xsi:type="dcterms:W3CDTF">2016-09-17T15:21:25Z</dcterms:modified>
</cp:coreProperties>
</file>