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6" r:id="rId1"/>
  </p:sldMasterIdLst>
  <p:notesMasterIdLst>
    <p:notesMasterId r:id="rId27"/>
  </p:notesMasterIdLst>
  <p:handoutMasterIdLst>
    <p:handoutMasterId r:id="rId28"/>
  </p:handoutMasterIdLst>
  <p:sldIdLst>
    <p:sldId id="256" r:id="rId2"/>
    <p:sldId id="257" r:id="rId3"/>
    <p:sldId id="258" r:id="rId4"/>
    <p:sldId id="260" r:id="rId5"/>
    <p:sldId id="261" r:id="rId6"/>
    <p:sldId id="262" r:id="rId7"/>
    <p:sldId id="264" r:id="rId8"/>
    <p:sldId id="265" r:id="rId9"/>
    <p:sldId id="267" r:id="rId10"/>
    <p:sldId id="268" r:id="rId11"/>
    <p:sldId id="269" r:id="rId12"/>
    <p:sldId id="270" r:id="rId13"/>
    <p:sldId id="271" r:id="rId14"/>
    <p:sldId id="274" r:id="rId15"/>
    <p:sldId id="276" r:id="rId16"/>
    <p:sldId id="277" r:id="rId17"/>
    <p:sldId id="278" r:id="rId18"/>
    <p:sldId id="279" r:id="rId19"/>
    <p:sldId id="280" r:id="rId20"/>
    <p:sldId id="281" r:id="rId21"/>
    <p:sldId id="282" r:id="rId22"/>
    <p:sldId id="283" r:id="rId23"/>
    <p:sldId id="284" r:id="rId24"/>
    <p:sldId id="286" r:id="rId25"/>
    <p:sldId id="287" r:id="rId26"/>
  </p:sldIdLst>
  <p:sldSz cx="9144000" cy="6858000" type="screen4x3"/>
  <p:notesSz cx="6756400" cy="9929813"/>
  <p:defaultTextStyle>
    <a:defPPr>
      <a:defRPr lang="en-GB"/>
    </a:defPPr>
    <a:lvl1pPr algn="l" rtl="0" eaLnBrk="0" fontAlgn="base" hangingPunct="0">
      <a:spcBef>
        <a:spcPct val="0"/>
      </a:spcBef>
      <a:spcAft>
        <a:spcPct val="0"/>
      </a:spcAft>
      <a:defRPr sz="1400" kern="1200">
        <a:solidFill>
          <a:schemeClr val="tx1"/>
        </a:solidFill>
        <a:latin typeface="Arial" charset="0"/>
        <a:ea typeface="+mn-ea"/>
        <a:cs typeface="+mn-cs"/>
      </a:defRPr>
    </a:lvl1pPr>
    <a:lvl2pPr marL="457200" algn="l" rtl="0" eaLnBrk="0" fontAlgn="base" hangingPunct="0">
      <a:spcBef>
        <a:spcPct val="0"/>
      </a:spcBef>
      <a:spcAft>
        <a:spcPct val="0"/>
      </a:spcAft>
      <a:defRPr sz="1400" kern="1200">
        <a:solidFill>
          <a:schemeClr val="tx1"/>
        </a:solidFill>
        <a:latin typeface="Arial" charset="0"/>
        <a:ea typeface="+mn-ea"/>
        <a:cs typeface="+mn-cs"/>
      </a:defRPr>
    </a:lvl2pPr>
    <a:lvl3pPr marL="914400" algn="l" rtl="0" eaLnBrk="0" fontAlgn="base" hangingPunct="0">
      <a:spcBef>
        <a:spcPct val="0"/>
      </a:spcBef>
      <a:spcAft>
        <a:spcPct val="0"/>
      </a:spcAft>
      <a:defRPr sz="1400" kern="1200">
        <a:solidFill>
          <a:schemeClr val="tx1"/>
        </a:solidFill>
        <a:latin typeface="Arial" charset="0"/>
        <a:ea typeface="+mn-ea"/>
        <a:cs typeface="+mn-cs"/>
      </a:defRPr>
    </a:lvl3pPr>
    <a:lvl4pPr marL="1371600" algn="l" rtl="0" eaLnBrk="0" fontAlgn="base" hangingPunct="0">
      <a:spcBef>
        <a:spcPct val="0"/>
      </a:spcBef>
      <a:spcAft>
        <a:spcPct val="0"/>
      </a:spcAft>
      <a:defRPr sz="1400" kern="1200">
        <a:solidFill>
          <a:schemeClr val="tx1"/>
        </a:solidFill>
        <a:latin typeface="Arial" charset="0"/>
        <a:ea typeface="+mn-ea"/>
        <a:cs typeface="+mn-cs"/>
      </a:defRPr>
    </a:lvl4pPr>
    <a:lvl5pPr marL="1828800" algn="l" rtl="0" eaLnBrk="0" fontAlgn="base" hangingPunct="0">
      <a:spcBef>
        <a:spcPct val="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7">
          <p15:clr>
            <a:srgbClr val="A4A3A4"/>
          </p15:clr>
        </p15:guide>
        <p15:guide id="2" pos="212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80"/>
    <a:srgbClr val="660066"/>
    <a:srgbClr val="800080"/>
    <a:srgbClr val="800000"/>
    <a:srgbClr val="000000"/>
    <a:srgbClr val="292929"/>
    <a:srgbClr val="006600"/>
    <a:srgbClr val="99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horzBarState="maximized">
    <p:restoredLeft sz="27653" autoAdjust="0"/>
    <p:restoredTop sz="91331" autoAdjust="0"/>
  </p:normalViewPr>
  <p:slideViewPr>
    <p:cSldViewPr>
      <p:cViewPr varScale="1">
        <p:scale>
          <a:sx n="74" d="100"/>
          <a:sy n="74" d="100"/>
        </p:scale>
        <p:origin x="624" y="72"/>
      </p:cViewPr>
      <p:guideLst>
        <p:guide orient="horz" pos="2160"/>
        <p:guide pos="2880"/>
      </p:guideLst>
    </p:cSldViewPr>
  </p:slideViewPr>
  <p:outlineViewPr>
    <p:cViewPr>
      <p:scale>
        <a:sx n="50" d="100"/>
        <a:sy n="50" d="100"/>
      </p:scale>
      <p:origin x="0" y="0"/>
    </p:cViewPr>
    <p:sldLst>
      <p:sld r:id="rId1" collapse="1"/>
      <p:sld r:id="rId2" collapse="1"/>
      <p:sld r:id="rId3" collapse="1"/>
    </p:sldLst>
  </p:outlineViewPr>
  <p:notesTextViewPr>
    <p:cViewPr>
      <p:scale>
        <a:sx n="100" d="100"/>
        <a:sy n="100" d="100"/>
      </p:scale>
      <p:origin x="0" y="0"/>
    </p:cViewPr>
  </p:notesTextViewPr>
  <p:sorterViewPr>
    <p:cViewPr>
      <p:scale>
        <a:sx n="66" d="100"/>
        <a:sy n="66" d="100"/>
      </p:scale>
      <p:origin x="0" y="522"/>
    </p:cViewPr>
  </p:sorterViewPr>
  <p:notesViewPr>
    <p:cSldViewPr>
      <p:cViewPr>
        <p:scale>
          <a:sx n="100" d="100"/>
          <a:sy n="100" d="100"/>
        </p:scale>
        <p:origin x="-1572" y="-72"/>
      </p:cViewPr>
      <p:guideLst>
        <p:guide orient="horz" pos="3127"/>
        <p:guide pos="2128"/>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_rels/viewProps.xml.rels><?xml version="1.0" encoding="UTF-8" standalone="yes"?>
<Relationships xmlns="http://schemas.openxmlformats.org/package/2006/relationships"><Relationship Id="rId3" Type="http://schemas.openxmlformats.org/officeDocument/2006/relationships/slide" Target="slides/slide25.xml"/><Relationship Id="rId2" Type="http://schemas.openxmlformats.org/officeDocument/2006/relationships/slide" Target="slides/slide13.xml"/><Relationship Id="rId1" Type="http://schemas.openxmlformats.org/officeDocument/2006/relationships/slide" Target="slides/slide1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9026" name="Rectangle 2"/>
          <p:cNvSpPr>
            <a:spLocks noGrp="1" noChangeArrowheads="1"/>
          </p:cNvSpPr>
          <p:nvPr>
            <p:ph type="hdr" sz="quarter"/>
          </p:nvPr>
        </p:nvSpPr>
        <p:spPr bwMode="auto">
          <a:xfrm>
            <a:off x="0" y="0"/>
            <a:ext cx="2928938" cy="495300"/>
          </a:xfrm>
          <a:prstGeom prst="rect">
            <a:avLst/>
          </a:prstGeom>
          <a:noFill/>
          <a:ln w="9525">
            <a:noFill/>
            <a:miter lim="800000"/>
            <a:headEnd/>
            <a:tailEnd/>
          </a:ln>
          <a:effectLst/>
        </p:spPr>
        <p:txBody>
          <a:bodyPr vert="horz" wrap="square" lIns="92642" tIns="46321" rIns="92642" bIns="46321" numCol="1" anchor="t" anchorCtr="0" compatLnSpc="1">
            <a:prstTxWarp prst="textNoShape">
              <a:avLst/>
            </a:prstTxWarp>
          </a:bodyPr>
          <a:lstStyle>
            <a:lvl1pPr defTabSz="927100">
              <a:defRPr sz="1200" b="1" smtClean="0">
                <a:latin typeface="Times New Roman" pitchFamily="18" charset="0"/>
              </a:defRPr>
            </a:lvl1pPr>
          </a:lstStyle>
          <a:p>
            <a:pPr>
              <a:defRPr/>
            </a:pPr>
            <a:endParaRPr lang="en-GB"/>
          </a:p>
        </p:txBody>
      </p:sp>
      <p:sp>
        <p:nvSpPr>
          <p:cNvPr id="129027" name="Rectangle 3"/>
          <p:cNvSpPr>
            <a:spLocks noGrp="1" noChangeArrowheads="1"/>
          </p:cNvSpPr>
          <p:nvPr>
            <p:ph type="dt" sz="quarter" idx="1"/>
          </p:nvPr>
        </p:nvSpPr>
        <p:spPr bwMode="auto">
          <a:xfrm>
            <a:off x="3827463" y="0"/>
            <a:ext cx="2928937" cy="495300"/>
          </a:xfrm>
          <a:prstGeom prst="rect">
            <a:avLst/>
          </a:prstGeom>
          <a:noFill/>
          <a:ln w="9525">
            <a:noFill/>
            <a:miter lim="800000"/>
            <a:headEnd/>
            <a:tailEnd/>
          </a:ln>
          <a:effectLst/>
        </p:spPr>
        <p:txBody>
          <a:bodyPr vert="horz" wrap="square" lIns="92642" tIns="46321" rIns="92642" bIns="46321" numCol="1" anchor="t" anchorCtr="0" compatLnSpc="1">
            <a:prstTxWarp prst="textNoShape">
              <a:avLst/>
            </a:prstTxWarp>
          </a:bodyPr>
          <a:lstStyle>
            <a:lvl1pPr algn="r" defTabSz="927100">
              <a:defRPr sz="1200" b="1" smtClean="0">
                <a:latin typeface="Times New Roman" pitchFamily="18" charset="0"/>
              </a:defRPr>
            </a:lvl1pPr>
          </a:lstStyle>
          <a:p>
            <a:pPr>
              <a:defRPr/>
            </a:pPr>
            <a:endParaRPr lang="en-GB"/>
          </a:p>
        </p:txBody>
      </p:sp>
      <p:sp>
        <p:nvSpPr>
          <p:cNvPr id="129028" name="Rectangle 4"/>
          <p:cNvSpPr>
            <a:spLocks noGrp="1" noChangeArrowheads="1"/>
          </p:cNvSpPr>
          <p:nvPr>
            <p:ph type="ftr" sz="quarter" idx="2"/>
          </p:nvPr>
        </p:nvSpPr>
        <p:spPr bwMode="auto">
          <a:xfrm>
            <a:off x="0" y="9434513"/>
            <a:ext cx="2928938" cy="495300"/>
          </a:xfrm>
          <a:prstGeom prst="rect">
            <a:avLst/>
          </a:prstGeom>
          <a:noFill/>
          <a:ln w="9525">
            <a:noFill/>
            <a:miter lim="800000"/>
            <a:headEnd/>
            <a:tailEnd/>
          </a:ln>
          <a:effectLst/>
        </p:spPr>
        <p:txBody>
          <a:bodyPr vert="horz" wrap="square" lIns="92642" tIns="46321" rIns="92642" bIns="46321" numCol="1" anchor="b" anchorCtr="0" compatLnSpc="1">
            <a:prstTxWarp prst="textNoShape">
              <a:avLst/>
            </a:prstTxWarp>
          </a:bodyPr>
          <a:lstStyle>
            <a:lvl1pPr defTabSz="927100">
              <a:defRPr sz="1200" b="1" smtClean="0">
                <a:latin typeface="Times New Roman" pitchFamily="18" charset="0"/>
              </a:defRPr>
            </a:lvl1pPr>
          </a:lstStyle>
          <a:p>
            <a:pPr>
              <a:defRPr/>
            </a:pPr>
            <a:endParaRPr lang="en-GB"/>
          </a:p>
        </p:txBody>
      </p:sp>
      <p:sp>
        <p:nvSpPr>
          <p:cNvPr id="129029" name="Rectangle 5"/>
          <p:cNvSpPr>
            <a:spLocks noGrp="1" noChangeArrowheads="1"/>
          </p:cNvSpPr>
          <p:nvPr>
            <p:ph type="sldNum" sz="quarter" idx="3"/>
          </p:nvPr>
        </p:nvSpPr>
        <p:spPr bwMode="auto">
          <a:xfrm>
            <a:off x="3827463" y="9434513"/>
            <a:ext cx="2928937" cy="495300"/>
          </a:xfrm>
          <a:prstGeom prst="rect">
            <a:avLst/>
          </a:prstGeom>
          <a:noFill/>
          <a:ln w="9525">
            <a:noFill/>
            <a:miter lim="800000"/>
            <a:headEnd/>
            <a:tailEnd/>
          </a:ln>
          <a:effectLst/>
        </p:spPr>
        <p:txBody>
          <a:bodyPr vert="horz" wrap="square" lIns="92642" tIns="46321" rIns="92642" bIns="46321" numCol="1" anchor="b" anchorCtr="0" compatLnSpc="1">
            <a:prstTxWarp prst="textNoShape">
              <a:avLst/>
            </a:prstTxWarp>
          </a:bodyPr>
          <a:lstStyle>
            <a:lvl1pPr algn="r" defTabSz="927100">
              <a:defRPr sz="1200" b="1" smtClean="0">
                <a:latin typeface="Times New Roman" pitchFamily="18" charset="0"/>
              </a:defRPr>
            </a:lvl1pPr>
          </a:lstStyle>
          <a:p>
            <a:pPr>
              <a:defRPr/>
            </a:pPr>
            <a:fld id="{ADDDA595-6434-4780-8F23-F6A1177F52B4}" type="slidenum">
              <a:rPr lang="en-GB"/>
              <a:pPr>
                <a:defRPr/>
              </a:pPr>
              <a:t>‹N°›</a:t>
            </a:fld>
            <a:endParaRPr lang="en-GB"/>
          </a:p>
        </p:txBody>
      </p:sp>
    </p:spTree>
    <p:extLst>
      <p:ext uri="{BB962C8B-B14F-4D97-AF65-F5344CB8AC3E}">
        <p14:creationId xmlns:p14="http://schemas.microsoft.com/office/powerpoint/2010/main" val="1100634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5058" name="Rectangle 4"/>
          <p:cNvSpPr>
            <a:spLocks noGrp="1" noRot="1" noChangeAspect="1" noChangeArrowheads="1" noTextEdit="1"/>
          </p:cNvSpPr>
          <p:nvPr>
            <p:ph type="sldImg" idx="2"/>
          </p:nvPr>
        </p:nvSpPr>
        <p:spPr bwMode="auto">
          <a:xfrm>
            <a:off x="592118" y="607188"/>
            <a:ext cx="5620362" cy="4214842"/>
          </a:xfrm>
          <a:prstGeom prst="rect">
            <a:avLst/>
          </a:prstGeom>
          <a:noFill/>
          <a:ln w="12700">
            <a:solidFill>
              <a:schemeClr val="tx1"/>
            </a:solidFill>
            <a:miter lim="800000"/>
            <a:headEnd/>
            <a:tailEnd/>
          </a:ln>
        </p:spPr>
      </p:sp>
    </p:spTree>
    <p:extLst>
      <p:ext uri="{BB962C8B-B14F-4D97-AF65-F5344CB8AC3E}">
        <p14:creationId xmlns:p14="http://schemas.microsoft.com/office/powerpoint/2010/main" val="272239890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ChangeArrowheads="1" noTextEdit="1"/>
          </p:cNvSpPr>
          <p:nvPr>
            <p:ph type="sldImg"/>
          </p:nvPr>
        </p:nvSpPr>
        <p:spPr>
          <a:xfrm>
            <a:off x="592138" y="606425"/>
            <a:ext cx="5619750" cy="4214813"/>
          </a:xfrm>
          <a:ln/>
        </p:spPr>
      </p:sp>
      <p:sp>
        <p:nvSpPr>
          <p:cNvPr id="46083" name="Rectangle 3"/>
          <p:cNvSpPr>
            <a:spLocks noGrp="1" noChangeArrowheads="1"/>
          </p:cNvSpPr>
          <p:nvPr>
            <p:ph type="body" idx="1"/>
          </p:nvPr>
        </p:nvSpPr>
        <p:spPr>
          <a:xfrm>
            <a:off x="220663" y="4238625"/>
            <a:ext cx="6265862" cy="5299075"/>
          </a:xfrm>
          <a:prstGeom prst="rect">
            <a:avLst/>
          </a:prstGeom>
          <a:noFill/>
          <a:ln/>
        </p:spPr>
        <p:txBody>
          <a:bodyPr/>
          <a:lstStyle/>
          <a:p>
            <a:pPr eaLnBrk="1" hangingPunct="1"/>
            <a:endParaRPr lang="en-US" smtClean="0"/>
          </a:p>
        </p:txBody>
      </p:sp>
    </p:spTree>
    <p:extLst>
      <p:ext uri="{BB962C8B-B14F-4D97-AF65-F5344CB8AC3E}">
        <p14:creationId xmlns:p14="http://schemas.microsoft.com/office/powerpoint/2010/main" val="3569168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a:xfrm>
            <a:off x="592138" y="606425"/>
            <a:ext cx="5619750" cy="4214813"/>
          </a:xfrm>
          <a:ln/>
        </p:spPr>
      </p:sp>
      <p:sp>
        <p:nvSpPr>
          <p:cNvPr id="47107" name="Rectangle 3"/>
          <p:cNvSpPr>
            <a:spLocks noGrp="1" noChangeArrowheads="1"/>
          </p:cNvSpPr>
          <p:nvPr>
            <p:ph type="body" idx="1"/>
          </p:nvPr>
        </p:nvSpPr>
        <p:spPr>
          <a:xfrm>
            <a:off x="220663" y="4238625"/>
            <a:ext cx="6265862" cy="5299075"/>
          </a:xfrm>
          <a:prstGeom prst="rect">
            <a:avLst/>
          </a:prstGeom>
          <a:noFill/>
          <a:ln/>
        </p:spPr>
        <p:txBody>
          <a:bodyPr/>
          <a:lstStyle/>
          <a:p>
            <a:pPr eaLnBrk="1" hangingPunct="1"/>
            <a:endParaRPr lang="en-US" smtClean="0"/>
          </a:p>
        </p:txBody>
      </p:sp>
    </p:spTree>
    <p:extLst>
      <p:ext uri="{BB962C8B-B14F-4D97-AF65-F5344CB8AC3E}">
        <p14:creationId xmlns:p14="http://schemas.microsoft.com/office/powerpoint/2010/main" val="25562566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xfrm>
            <a:off x="3886200" y="8686800"/>
            <a:ext cx="2971800" cy="457200"/>
          </a:xfrm>
          <a:prstGeom prst="rect">
            <a:avLst/>
          </a:prstGeom>
          <a:ln/>
        </p:spPr>
        <p:txBody>
          <a:bodyPr/>
          <a:lstStyle/>
          <a:p>
            <a:fld id="{B20BFD64-DB62-45AC-AF16-EFC8A6882F48}" type="slidenum">
              <a:rPr lang="fr-FR" altLang="fr-FR"/>
              <a:pPr/>
              <a:t>3</a:t>
            </a:fld>
            <a:endParaRPr lang="fr-FR" altLang="fr-FR"/>
          </a:p>
        </p:txBody>
      </p:sp>
      <p:sp>
        <p:nvSpPr>
          <p:cNvPr id="98306" name="Rectangle 2"/>
          <p:cNvSpPr>
            <a:spLocks noChangeArrowheads="1" noTextEdit="1"/>
          </p:cNvSpPr>
          <p:nvPr>
            <p:ph type="sldImg"/>
          </p:nvPr>
        </p:nvSpPr>
        <p:spPr>
          <a:ln/>
        </p:spPr>
      </p:sp>
      <p:sp>
        <p:nvSpPr>
          <p:cNvPr id="98307"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41889090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xfrm>
            <a:off x="3886200" y="8686800"/>
            <a:ext cx="2971800" cy="457200"/>
          </a:xfrm>
          <a:prstGeom prst="rect">
            <a:avLst/>
          </a:prstGeom>
          <a:ln/>
        </p:spPr>
        <p:txBody>
          <a:bodyPr/>
          <a:lstStyle/>
          <a:p>
            <a:fld id="{153FA5A2-8574-4AEE-A657-62BA834D6037}" type="slidenum">
              <a:rPr lang="fr-FR" altLang="fr-FR"/>
              <a:pPr/>
              <a:t>4</a:t>
            </a:fld>
            <a:endParaRPr lang="fr-FR" altLang="fr-FR"/>
          </a:p>
        </p:txBody>
      </p:sp>
      <p:sp>
        <p:nvSpPr>
          <p:cNvPr id="99330" name="Rectangle 2"/>
          <p:cNvSpPr>
            <a:spLocks noChangeArrowheads="1" noTextEdit="1"/>
          </p:cNvSpPr>
          <p:nvPr>
            <p:ph type="sldImg"/>
          </p:nvPr>
        </p:nvSpPr>
        <p:spPr>
          <a:ln/>
        </p:spPr>
      </p:sp>
      <p:sp>
        <p:nvSpPr>
          <p:cNvPr id="99331" name="Rectangle 3"/>
          <p:cNvSpPr>
            <a:spLocks noGrp="1" noChangeArrowheads="1"/>
          </p:cNvSpPr>
          <p:nvPr>
            <p:ph type="body" idx="1"/>
          </p:nvPr>
        </p:nvSpPr>
        <p:spPr>
          <a:xfrm>
            <a:off x="914400" y="4343400"/>
            <a:ext cx="5029200" cy="4114800"/>
          </a:xfrm>
          <a:prstGeom prst="rect">
            <a:avLst/>
          </a:prstGeom>
        </p:spPr>
        <p:txBody>
          <a:bodyPr/>
          <a:lstStyle/>
          <a:p>
            <a:r>
              <a:rPr lang="fr-FR" altLang="fr-FR"/>
              <a:t>Users prefer to talk about what the system will do not what objects it consists of.</a:t>
            </a:r>
          </a:p>
          <a:p>
            <a:endParaRPr lang="fr-FR" altLang="fr-FR"/>
          </a:p>
        </p:txBody>
      </p:sp>
    </p:spTree>
    <p:extLst>
      <p:ext uri="{BB962C8B-B14F-4D97-AF65-F5344CB8AC3E}">
        <p14:creationId xmlns:p14="http://schemas.microsoft.com/office/powerpoint/2010/main" val="16823708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xfrm>
            <a:off x="3886200" y="8686800"/>
            <a:ext cx="2971800" cy="457200"/>
          </a:xfrm>
          <a:prstGeom prst="rect">
            <a:avLst/>
          </a:prstGeom>
          <a:ln/>
        </p:spPr>
        <p:txBody>
          <a:bodyPr/>
          <a:lstStyle/>
          <a:p>
            <a:fld id="{60B7BF8C-6895-4AB3-BF48-AE8A89AAC4D8}" type="slidenum">
              <a:rPr lang="fr-FR" altLang="fr-FR"/>
              <a:pPr/>
              <a:t>5</a:t>
            </a:fld>
            <a:endParaRPr lang="fr-FR" altLang="fr-FR"/>
          </a:p>
        </p:txBody>
      </p:sp>
      <p:sp>
        <p:nvSpPr>
          <p:cNvPr id="100354" name="Rectangle 2"/>
          <p:cNvSpPr>
            <a:spLocks noChangeArrowheads="1" noTextEdit="1"/>
          </p:cNvSpPr>
          <p:nvPr>
            <p:ph type="sldImg"/>
          </p:nvPr>
        </p:nvSpPr>
        <p:spPr>
          <a:xfrm>
            <a:off x="592138" y="606425"/>
            <a:ext cx="5619750" cy="4214813"/>
          </a:xfrm>
          <a:ln/>
        </p:spPr>
      </p:sp>
      <p:sp>
        <p:nvSpPr>
          <p:cNvPr id="100355"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2735074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xfrm>
            <a:off x="3886200" y="8686800"/>
            <a:ext cx="2971800" cy="457200"/>
          </a:xfrm>
          <a:prstGeom prst="rect">
            <a:avLst/>
          </a:prstGeom>
          <a:ln/>
        </p:spPr>
        <p:txBody>
          <a:bodyPr/>
          <a:lstStyle/>
          <a:p>
            <a:fld id="{7AA1597C-FB60-4F5D-A259-C27BF98F0246}" type="slidenum">
              <a:rPr lang="fr-FR" altLang="fr-FR"/>
              <a:pPr/>
              <a:t>6</a:t>
            </a:fld>
            <a:endParaRPr lang="fr-FR" altLang="fr-FR"/>
          </a:p>
        </p:txBody>
      </p:sp>
      <p:sp>
        <p:nvSpPr>
          <p:cNvPr id="103426" name="Rectangle 2"/>
          <p:cNvSpPr>
            <a:spLocks noChangeArrowheads="1" noTextEdit="1"/>
          </p:cNvSpPr>
          <p:nvPr>
            <p:ph type="sldImg"/>
          </p:nvPr>
        </p:nvSpPr>
        <p:spPr>
          <a:ln/>
        </p:spPr>
      </p:sp>
      <p:sp>
        <p:nvSpPr>
          <p:cNvPr id="103427"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38813251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xfrm>
            <a:off x="3886200" y="8686800"/>
            <a:ext cx="2971800" cy="457200"/>
          </a:xfrm>
          <a:prstGeom prst="rect">
            <a:avLst/>
          </a:prstGeom>
          <a:ln/>
        </p:spPr>
        <p:txBody>
          <a:bodyPr/>
          <a:lstStyle/>
          <a:p>
            <a:fld id="{AFF69195-EC55-4EEF-A8E6-A579DCC58E3A}" type="slidenum">
              <a:rPr lang="fr-FR" altLang="fr-FR"/>
              <a:pPr/>
              <a:t>7</a:t>
            </a:fld>
            <a:endParaRPr lang="fr-FR" altLang="fr-FR"/>
          </a:p>
        </p:txBody>
      </p:sp>
      <p:sp>
        <p:nvSpPr>
          <p:cNvPr id="104450" name="Rectangle 2"/>
          <p:cNvSpPr>
            <a:spLocks noChangeArrowheads="1" noTextEdit="1"/>
          </p:cNvSpPr>
          <p:nvPr>
            <p:ph type="sldImg"/>
          </p:nvPr>
        </p:nvSpPr>
        <p:spPr>
          <a:xfrm>
            <a:off x="592138" y="606425"/>
            <a:ext cx="5619750" cy="4214813"/>
          </a:xfrm>
          <a:ln/>
        </p:spPr>
      </p:sp>
      <p:sp>
        <p:nvSpPr>
          <p:cNvPr id="104451"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19444518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xfrm>
            <a:off x="3886200" y="8686800"/>
            <a:ext cx="2971800" cy="457200"/>
          </a:xfrm>
          <a:prstGeom prst="rect">
            <a:avLst/>
          </a:prstGeom>
          <a:ln/>
        </p:spPr>
        <p:txBody>
          <a:bodyPr/>
          <a:lstStyle/>
          <a:p>
            <a:fld id="{6264C3F1-A022-4A1F-BD2C-E466553D60C5}" type="slidenum">
              <a:rPr lang="fr-FR" altLang="fr-FR"/>
              <a:pPr/>
              <a:t>8</a:t>
            </a:fld>
            <a:endParaRPr lang="fr-FR" altLang="fr-FR"/>
          </a:p>
        </p:txBody>
      </p:sp>
      <p:sp>
        <p:nvSpPr>
          <p:cNvPr id="105474" name="Rectangle 2"/>
          <p:cNvSpPr>
            <a:spLocks noChangeArrowheads="1" noTextEdit="1"/>
          </p:cNvSpPr>
          <p:nvPr>
            <p:ph type="sldImg"/>
          </p:nvPr>
        </p:nvSpPr>
        <p:spPr>
          <a:xfrm>
            <a:off x="592138" y="606425"/>
            <a:ext cx="5619750" cy="4214813"/>
          </a:xfrm>
          <a:ln/>
        </p:spPr>
      </p:sp>
      <p:sp>
        <p:nvSpPr>
          <p:cNvPr id="105475" name="Rectangle 3"/>
          <p:cNvSpPr>
            <a:spLocks noGrp="1" noChangeArrowheads="1"/>
          </p:cNvSpPr>
          <p:nvPr>
            <p:ph type="body" idx="1"/>
          </p:nvPr>
        </p:nvSpPr>
        <p:spPr>
          <a:xfrm>
            <a:off x="914400" y="4343400"/>
            <a:ext cx="5029200" cy="4114800"/>
          </a:xfrm>
          <a:prstGeom prst="rect">
            <a:avLst/>
          </a:prstGeom>
        </p:spPr>
        <p:txBody>
          <a:bodyPr/>
          <a:lstStyle/>
          <a:p>
            <a:r>
              <a:rPr lang="fr-FR" altLang="fr-FR"/>
              <a:t>Actors are not described like classes by listing their attributes and operations but by a paragraph of text.</a:t>
            </a:r>
          </a:p>
          <a:p>
            <a:endParaRPr lang="fr-FR" altLang="fr-FR"/>
          </a:p>
        </p:txBody>
      </p:sp>
    </p:spTree>
    <p:extLst>
      <p:ext uri="{BB962C8B-B14F-4D97-AF65-F5344CB8AC3E}">
        <p14:creationId xmlns:p14="http://schemas.microsoft.com/office/powerpoint/2010/main" val="19898462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xfrm>
            <a:off x="3886200" y="8686800"/>
            <a:ext cx="2971800" cy="457200"/>
          </a:xfrm>
          <a:prstGeom prst="rect">
            <a:avLst/>
          </a:prstGeom>
          <a:ln/>
        </p:spPr>
        <p:txBody>
          <a:bodyPr/>
          <a:lstStyle/>
          <a:p>
            <a:fld id="{07ED47B3-2753-4CA9-B846-8D4C6565B990}" type="slidenum">
              <a:rPr lang="fr-FR" altLang="fr-FR"/>
              <a:pPr/>
              <a:t>9</a:t>
            </a:fld>
            <a:endParaRPr lang="fr-FR" altLang="fr-FR"/>
          </a:p>
        </p:txBody>
      </p:sp>
      <p:sp>
        <p:nvSpPr>
          <p:cNvPr id="106498" name="Rectangle 2"/>
          <p:cNvSpPr>
            <a:spLocks noChangeArrowheads="1" noTextEdit="1"/>
          </p:cNvSpPr>
          <p:nvPr>
            <p:ph type="sldImg"/>
          </p:nvPr>
        </p:nvSpPr>
        <p:spPr>
          <a:xfrm>
            <a:off x="592138" y="606425"/>
            <a:ext cx="5619750" cy="4214813"/>
          </a:xfrm>
          <a:ln/>
        </p:spPr>
      </p:sp>
      <p:sp>
        <p:nvSpPr>
          <p:cNvPr id="106499" name="Rectangle 3"/>
          <p:cNvSpPr>
            <a:spLocks noGrp="1" noChangeArrowheads="1"/>
          </p:cNvSpPr>
          <p:nvPr>
            <p:ph type="body" idx="1"/>
          </p:nvPr>
        </p:nvSpPr>
        <p:spPr>
          <a:xfrm>
            <a:off x="914400" y="4343400"/>
            <a:ext cx="5029200" cy="4114800"/>
          </a:xfrm>
          <a:prstGeom prst="rect">
            <a:avLst/>
          </a:prstGeom>
        </p:spPr>
        <p:txBody>
          <a:bodyPr/>
          <a:lstStyle/>
          <a:p>
            <a:r>
              <a:rPr lang="fr-FR" altLang="fr-FR"/>
              <a:t>Use cases can also be used to help specify the test cases.</a:t>
            </a:r>
          </a:p>
          <a:p>
            <a:endParaRPr lang="fr-FR" altLang="fr-FR"/>
          </a:p>
        </p:txBody>
      </p:sp>
    </p:spTree>
    <p:extLst>
      <p:ext uri="{BB962C8B-B14F-4D97-AF65-F5344CB8AC3E}">
        <p14:creationId xmlns:p14="http://schemas.microsoft.com/office/powerpoint/2010/main" val="11302747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xfrm>
            <a:off x="3886200" y="8686800"/>
            <a:ext cx="2971800" cy="457200"/>
          </a:xfrm>
          <a:prstGeom prst="rect">
            <a:avLst/>
          </a:prstGeom>
          <a:ln/>
        </p:spPr>
        <p:txBody>
          <a:bodyPr/>
          <a:lstStyle/>
          <a:p>
            <a:fld id="{DF81E267-DA78-4F7A-9D0A-F2AD52767CD5}" type="slidenum">
              <a:rPr lang="fr-FR" altLang="fr-FR"/>
              <a:pPr/>
              <a:t>10</a:t>
            </a:fld>
            <a:endParaRPr lang="fr-FR" altLang="fr-FR"/>
          </a:p>
        </p:txBody>
      </p:sp>
      <p:sp>
        <p:nvSpPr>
          <p:cNvPr id="107522" name="Rectangle 2"/>
          <p:cNvSpPr>
            <a:spLocks noChangeArrowheads="1" noTextEdit="1"/>
          </p:cNvSpPr>
          <p:nvPr>
            <p:ph type="sldImg"/>
          </p:nvPr>
        </p:nvSpPr>
        <p:spPr>
          <a:xfrm>
            <a:off x="592138" y="606425"/>
            <a:ext cx="5619750" cy="4214813"/>
          </a:xfrm>
          <a:ln/>
        </p:spPr>
      </p:sp>
      <p:sp>
        <p:nvSpPr>
          <p:cNvPr id="107523"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40710656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xfrm>
            <a:off x="3886200" y="8686800"/>
            <a:ext cx="2971800" cy="457200"/>
          </a:xfrm>
          <a:prstGeom prst="rect">
            <a:avLst/>
          </a:prstGeom>
          <a:ln/>
        </p:spPr>
        <p:txBody>
          <a:bodyPr/>
          <a:lstStyle/>
          <a:p>
            <a:fld id="{7466B29F-019C-4D15-87C0-1C3D1CA3312B}" type="slidenum">
              <a:rPr lang="fr-FR" altLang="fr-FR"/>
              <a:pPr/>
              <a:t>11</a:t>
            </a:fld>
            <a:endParaRPr lang="fr-FR" altLang="fr-FR"/>
          </a:p>
        </p:txBody>
      </p:sp>
      <p:sp>
        <p:nvSpPr>
          <p:cNvPr id="108546" name="Rectangle 2"/>
          <p:cNvSpPr>
            <a:spLocks noChangeArrowheads="1" noTextEdit="1"/>
          </p:cNvSpPr>
          <p:nvPr>
            <p:ph type="sldImg"/>
          </p:nvPr>
        </p:nvSpPr>
        <p:spPr>
          <a:xfrm>
            <a:off x="592138" y="606425"/>
            <a:ext cx="5619750" cy="4214813"/>
          </a:xfrm>
          <a:ln/>
        </p:spPr>
      </p:sp>
      <p:sp>
        <p:nvSpPr>
          <p:cNvPr id="108547" name="Rectangle 3"/>
          <p:cNvSpPr>
            <a:spLocks noGrp="1" noChangeArrowheads="1"/>
          </p:cNvSpPr>
          <p:nvPr>
            <p:ph type="body" idx="1"/>
          </p:nvPr>
        </p:nvSpPr>
        <p:spPr>
          <a:xfrm>
            <a:off x="914400" y="4343400"/>
            <a:ext cx="5029200" cy="4114800"/>
          </a:xfrm>
          <a:prstGeom prst="rect">
            <a:avLst/>
          </a:prstGeom>
        </p:spPr>
        <p:txBody>
          <a:bodyPr/>
          <a:lstStyle/>
          <a:p>
            <a:r>
              <a:rPr lang="fr-FR" altLang="fr-FR"/>
              <a:t>You must have the text/documentation to go with any UML diagram because there are people who will study your models who are strongly visual oriented and others who are strongly verbal. The visual people will study the diagram and are less likely to read the text. The verbal people will read the text but are less likely to study the diagram. There are also the more desirable customers/users who will study the diagram and read the text and point out all the ambiguities between them. </a:t>
            </a:r>
          </a:p>
          <a:p>
            <a:endParaRPr lang="fr-FR" altLang="fr-FR"/>
          </a:p>
        </p:txBody>
      </p:sp>
    </p:spTree>
    <p:extLst>
      <p:ext uri="{BB962C8B-B14F-4D97-AF65-F5344CB8AC3E}">
        <p14:creationId xmlns:p14="http://schemas.microsoft.com/office/powerpoint/2010/main" val="37616185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xfrm>
            <a:off x="3886200" y="8686800"/>
            <a:ext cx="2971800" cy="457200"/>
          </a:xfrm>
          <a:prstGeom prst="rect">
            <a:avLst/>
          </a:prstGeom>
          <a:ln/>
        </p:spPr>
        <p:txBody>
          <a:bodyPr/>
          <a:lstStyle/>
          <a:p>
            <a:fld id="{B779B5C6-F8D3-49AA-8AC6-354988C64744}" type="slidenum">
              <a:rPr lang="fr-FR" altLang="fr-FR"/>
              <a:pPr/>
              <a:t>12</a:t>
            </a:fld>
            <a:endParaRPr lang="fr-FR" altLang="fr-FR"/>
          </a:p>
        </p:txBody>
      </p:sp>
      <p:sp>
        <p:nvSpPr>
          <p:cNvPr id="109570" name="Rectangle 2"/>
          <p:cNvSpPr>
            <a:spLocks noChangeArrowheads="1" noTextEdit="1"/>
          </p:cNvSpPr>
          <p:nvPr>
            <p:ph type="sldImg"/>
          </p:nvPr>
        </p:nvSpPr>
        <p:spPr>
          <a:xfrm>
            <a:off x="592138" y="606425"/>
            <a:ext cx="5619750" cy="4214813"/>
          </a:xfrm>
          <a:ln/>
        </p:spPr>
      </p:sp>
      <p:sp>
        <p:nvSpPr>
          <p:cNvPr id="109571"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39858788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xfrm>
            <a:off x="3886200" y="8686800"/>
            <a:ext cx="2971800" cy="457200"/>
          </a:xfrm>
          <a:prstGeom prst="rect">
            <a:avLst/>
          </a:prstGeom>
          <a:ln/>
        </p:spPr>
        <p:txBody>
          <a:bodyPr/>
          <a:lstStyle/>
          <a:p>
            <a:fld id="{5C42F0F6-283D-4CA3-BA04-F1936877E6BE}" type="slidenum">
              <a:rPr lang="fr-FR" altLang="fr-FR"/>
              <a:pPr/>
              <a:t>13</a:t>
            </a:fld>
            <a:endParaRPr lang="fr-FR" altLang="fr-FR"/>
          </a:p>
        </p:txBody>
      </p:sp>
      <p:sp>
        <p:nvSpPr>
          <p:cNvPr id="110594" name="Rectangle 2"/>
          <p:cNvSpPr>
            <a:spLocks noChangeArrowheads="1" noTextEdit="1"/>
          </p:cNvSpPr>
          <p:nvPr>
            <p:ph type="sldImg"/>
          </p:nvPr>
        </p:nvSpPr>
        <p:spPr>
          <a:ln/>
        </p:spPr>
      </p:sp>
      <p:sp>
        <p:nvSpPr>
          <p:cNvPr id="110595"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10006256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xfrm>
            <a:off x="3886200" y="8686800"/>
            <a:ext cx="2971800" cy="457200"/>
          </a:xfrm>
          <a:prstGeom prst="rect">
            <a:avLst/>
          </a:prstGeom>
          <a:ln/>
        </p:spPr>
        <p:txBody>
          <a:bodyPr/>
          <a:lstStyle/>
          <a:p>
            <a:fld id="{1E000E35-573B-4699-93D6-EC021E62FC3B}" type="slidenum">
              <a:rPr lang="fr-FR" altLang="fr-FR"/>
              <a:pPr/>
              <a:t>14</a:t>
            </a:fld>
            <a:endParaRPr lang="fr-FR" altLang="fr-FR"/>
          </a:p>
        </p:txBody>
      </p:sp>
      <p:sp>
        <p:nvSpPr>
          <p:cNvPr id="111618" name="Rectangle 2"/>
          <p:cNvSpPr>
            <a:spLocks noChangeArrowheads="1" noTextEdit="1"/>
          </p:cNvSpPr>
          <p:nvPr>
            <p:ph type="sldImg"/>
          </p:nvPr>
        </p:nvSpPr>
        <p:spPr>
          <a:xfrm>
            <a:off x="592138" y="606425"/>
            <a:ext cx="5619750" cy="4214813"/>
          </a:xfrm>
          <a:ln/>
        </p:spPr>
      </p:sp>
      <p:sp>
        <p:nvSpPr>
          <p:cNvPr id="111619" name="Rectangle 3"/>
          <p:cNvSpPr>
            <a:spLocks noGrp="1" noChangeArrowheads="1"/>
          </p:cNvSpPr>
          <p:nvPr>
            <p:ph type="body" idx="1"/>
          </p:nvPr>
        </p:nvSpPr>
        <p:spPr>
          <a:xfrm>
            <a:off x="914400" y="4343400"/>
            <a:ext cx="5029200" cy="4114800"/>
          </a:xfrm>
          <a:prstGeom prst="rect">
            <a:avLst/>
          </a:prstGeom>
        </p:spPr>
        <p:txBody>
          <a:bodyPr/>
          <a:lstStyle/>
          <a:p>
            <a:r>
              <a:rPr lang="fr-FR" altLang="fr-FR"/>
              <a:t>The system boundary is not mandatory but it becomes useful if the boundary is that of a subsystem.</a:t>
            </a:r>
          </a:p>
          <a:p>
            <a:endParaRPr lang="fr-FR" altLang="fr-FR"/>
          </a:p>
        </p:txBody>
      </p:sp>
    </p:spTree>
    <p:extLst>
      <p:ext uri="{BB962C8B-B14F-4D97-AF65-F5344CB8AC3E}">
        <p14:creationId xmlns:p14="http://schemas.microsoft.com/office/powerpoint/2010/main" val="13313932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xfrm>
            <a:off x="3886200" y="8686800"/>
            <a:ext cx="2971800" cy="457200"/>
          </a:xfrm>
          <a:prstGeom prst="rect">
            <a:avLst/>
          </a:prstGeom>
          <a:ln/>
        </p:spPr>
        <p:txBody>
          <a:bodyPr/>
          <a:lstStyle/>
          <a:p>
            <a:fld id="{E0889C65-F4D7-4110-B337-D99772D355C4}" type="slidenum">
              <a:rPr lang="fr-FR" altLang="fr-FR"/>
              <a:pPr/>
              <a:t>15</a:t>
            </a:fld>
            <a:endParaRPr lang="fr-FR" altLang="fr-FR"/>
          </a:p>
        </p:txBody>
      </p:sp>
      <p:sp>
        <p:nvSpPr>
          <p:cNvPr id="112642" name="Rectangle 2"/>
          <p:cNvSpPr>
            <a:spLocks noChangeArrowheads="1" noTextEdit="1"/>
          </p:cNvSpPr>
          <p:nvPr>
            <p:ph type="sldImg"/>
          </p:nvPr>
        </p:nvSpPr>
        <p:spPr>
          <a:xfrm>
            <a:off x="592138" y="606425"/>
            <a:ext cx="5619750" cy="4214813"/>
          </a:xfrm>
          <a:ln/>
        </p:spPr>
      </p:sp>
      <p:sp>
        <p:nvSpPr>
          <p:cNvPr id="112643"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28325084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xfrm>
            <a:off x="3886200" y="8686800"/>
            <a:ext cx="2971800" cy="457200"/>
          </a:xfrm>
          <a:prstGeom prst="rect">
            <a:avLst/>
          </a:prstGeom>
          <a:ln/>
        </p:spPr>
        <p:txBody>
          <a:bodyPr/>
          <a:lstStyle/>
          <a:p>
            <a:fld id="{3D18091F-D6E6-43A2-BF2F-C451F5A9B29E}" type="slidenum">
              <a:rPr lang="fr-FR" altLang="fr-FR"/>
              <a:pPr/>
              <a:t>16</a:t>
            </a:fld>
            <a:endParaRPr lang="fr-FR" altLang="fr-FR"/>
          </a:p>
        </p:txBody>
      </p:sp>
      <p:sp>
        <p:nvSpPr>
          <p:cNvPr id="113666" name="Rectangle 2"/>
          <p:cNvSpPr>
            <a:spLocks noChangeArrowheads="1" noTextEdit="1"/>
          </p:cNvSpPr>
          <p:nvPr>
            <p:ph type="sldImg"/>
          </p:nvPr>
        </p:nvSpPr>
        <p:spPr>
          <a:xfrm>
            <a:off x="592138" y="606425"/>
            <a:ext cx="5619750" cy="4214813"/>
          </a:xfrm>
          <a:ln/>
        </p:spPr>
      </p:sp>
      <p:sp>
        <p:nvSpPr>
          <p:cNvPr id="113667" name="Rectangle 3"/>
          <p:cNvSpPr>
            <a:spLocks noGrp="1" noChangeArrowheads="1"/>
          </p:cNvSpPr>
          <p:nvPr>
            <p:ph type="body" idx="1"/>
          </p:nvPr>
        </p:nvSpPr>
        <p:spPr>
          <a:xfrm>
            <a:off x="914400" y="4343400"/>
            <a:ext cx="5029200" cy="4114800"/>
          </a:xfrm>
          <a:prstGeom prst="rect">
            <a:avLst/>
          </a:prstGeom>
        </p:spPr>
        <p:txBody>
          <a:bodyPr/>
          <a:lstStyle/>
          <a:p>
            <a:r>
              <a:rPr lang="fr-FR" altLang="fr-FR"/>
              <a:t>The correct French pronunciation of guillemet is like ‘gemay’ with a hard g as in ‘gate’ (the t is silent just like ballet and filet) with the emphasis on the last syllable.  The plural is pronounced the same, the 's' on the end is silent. Please try to promote the correct pronunciation. </a:t>
            </a:r>
          </a:p>
          <a:p>
            <a:endParaRPr lang="fr-FR" altLang="fr-FR"/>
          </a:p>
        </p:txBody>
      </p:sp>
    </p:spTree>
    <p:extLst>
      <p:ext uri="{BB962C8B-B14F-4D97-AF65-F5344CB8AC3E}">
        <p14:creationId xmlns:p14="http://schemas.microsoft.com/office/powerpoint/2010/main" val="18391589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xfrm>
            <a:off x="3886200" y="8686800"/>
            <a:ext cx="2971800" cy="457200"/>
          </a:xfrm>
          <a:prstGeom prst="rect">
            <a:avLst/>
          </a:prstGeom>
          <a:ln/>
        </p:spPr>
        <p:txBody>
          <a:bodyPr/>
          <a:lstStyle/>
          <a:p>
            <a:fld id="{C57ECE02-F682-44B9-B749-DC823572631D}" type="slidenum">
              <a:rPr lang="fr-FR" altLang="fr-FR"/>
              <a:pPr/>
              <a:t>17</a:t>
            </a:fld>
            <a:endParaRPr lang="fr-FR" altLang="fr-FR"/>
          </a:p>
        </p:txBody>
      </p:sp>
      <p:sp>
        <p:nvSpPr>
          <p:cNvPr id="114690" name="Rectangle 2"/>
          <p:cNvSpPr>
            <a:spLocks noChangeArrowheads="1" noTextEdit="1"/>
          </p:cNvSpPr>
          <p:nvPr>
            <p:ph type="sldImg"/>
          </p:nvPr>
        </p:nvSpPr>
        <p:spPr>
          <a:ln/>
        </p:spPr>
      </p:sp>
      <p:sp>
        <p:nvSpPr>
          <p:cNvPr id="114691" name="Rectangle 3"/>
          <p:cNvSpPr>
            <a:spLocks noGrp="1" noChangeArrowheads="1"/>
          </p:cNvSpPr>
          <p:nvPr>
            <p:ph type="body" idx="1"/>
          </p:nvPr>
        </p:nvSpPr>
        <p:spPr>
          <a:xfrm>
            <a:off x="914400" y="4343400"/>
            <a:ext cx="5029200" cy="4114800"/>
          </a:xfrm>
          <a:prstGeom prst="rect">
            <a:avLst/>
          </a:prstGeom>
        </p:spPr>
        <p:txBody>
          <a:bodyPr/>
          <a:lstStyle/>
          <a:p>
            <a:r>
              <a:rPr lang="fr-FR" altLang="fr-FR"/>
              <a:t>Inclusion use cases are mandatory / always included whereas extension use cases are optional / not always included.</a:t>
            </a:r>
          </a:p>
          <a:p>
            <a:endParaRPr lang="fr-FR" altLang="fr-FR"/>
          </a:p>
        </p:txBody>
      </p:sp>
    </p:spTree>
    <p:extLst>
      <p:ext uri="{BB962C8B-B14F-4D97-AF65-F5344CB8AC3E}">
        <p14:creationId xmlns:p14="http://schemas.microsoft.com/office/powerpoint/2010/main" val="39921546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xfrm>
            <a:off x="3886200" y="8686800"/>
            <a:ext cx="2971800" cy="457200"/>
          </a:xfrm>
          <a:prstGeom prst="rect">
            <a:avLst/>
          </a:prstGeom>
          <a:ln/>
        </p:spPr>
        <p:txBody>
          <a:bodyPr/>
          <a:lstStyle/>
          <a:p>
            <a:fld id="{F07C9BA3-FDA9-4F3E-B2E0-41CE08D714BF}" type="slidenum">
              <a:rPr lang="fr-FR" altLang="fr-FR"/>
              <a:pPr/>
              <a:t>18</a:t>
            </a:fld>
            <a:endParaRPr lang="fr-FR" altLang="fr-FR"/>
          </a:p>
        </p:txBody>
      </p:sp>
      <p:sp>
        <p:nvSpPr>
          <p:cNvPr id="115714" name="Rectangle 2"/>
          <p:cNvSpPr>
            <a:spLocks noChangeArrowheads="1" noTextEdit="1"/>
          </p:cNvSpPr>
          <p:nvPr>
            <p:ph type="sldImg"/>
          </p:nvPr>
        </p:nvSpPr>
        <p:spPr>
          <a:xfrm>
            <a:off x="592138" y="606425"/>
            <a:ext cx="5619750" cy="4214813"/>
          </a:xfrm>
          <a:ln/>
        </p:spPr>
      </p:sp>
      <p:sp>
        <p:nvSpPr>
          <p:cNvPr id="115715" name="Rectangle 3"/>
          <p:cNvSpPr>
            <a:spLocks noGrp="1" noChangeArrowheads="1"/>
          </p:cNvSpPr>
          <p:nvPr>
            <p:ph type="body" idx="1"/>
          </p:nvPr>
        </p:nvSpPr>
        <p:spPr>
          <a:xfrm>
            <a:off x="914400" y="4343400"/>
            <a:ext cx="5029200" cy="4114800"/>
          </a:xfrm>
          <a:prstGeom prst="rect">
            <a:avLst/>
          </a:prstGeom>
        </p:spPr>
        <p:txBody>
          <a:bodyPr/>
          <a:lstStyle/>
          <a:p>
            <a:r>
              <a:rPr lang="fr-FR" altLang="fr-FR"/>
              <a:t>Use 3-26 as an example first and then come back to the definition on this page if it suits your style of instruction.</a:t>
            </a:r>
          </a:p>
          <a:p>
            <a:endParaRPr lang="fr-FR" altLang="fr-FR"/>
          </a:p>
        </p:txBody>
      </p:sp>
    </p:spTree>
    <p:extLst>
      <p:ext uri="{BB962C8B-B14F-4D97-AF65-F5344CB8AC3E}">
        <p14:creationId xmlns:p14="http://schemas.microsoft.com/office/powerpoint/2010/main" val="8648171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xfrm>
            <a:off x="3886200" y="8686800"/>
            <a:ext cx="2971800" cy="457200"/>
          </a:xfrm>
          <a:prstGeom prst="rect">
            <a:avLst/>
          </a:prstGeom>
          <a:ln/>
        </p:spPr>
        <p:txBody>
          <a:bodyPr/>
          <a:lstStyle/>
          <a:p>
            <a:fld id="{9C8D66B6-859D-4DB6-A36C-DA27B232C966}" type="slidenum">
              <a:rPr lang="fr-FR" altLang="fr-FR"/>
              <a:pPr/>
              <a:t>19</a:t>
            </a:fld>
            <a:endParaRPr lang="fr-FR" altLang="fr-FR"/>
          </a:p>
        </p:txBody>
      </p:sp>
      <p:sp>
        <p:nvSpPr>
          <p:cNvPr id="116738" name="Rectangle 2"/>
          <p:cNvSpPr>
            <a:spLocks noChangeArrowheads="1" noTextEdit="1"/>
          </p:cNvSpPr>
          <p:nvPr>
            <p:ph type="sldImg"/>
          </p:nvPr>
        </p:nvSpPr>
        <p:spPr>
          <a:ln/>
        </p:spPr>
      </p:sp>
      <p:sp>
        <p:nvSpPr>
          <p:cNvPr id="116739" name="Rectangle 3"/>
          <p:cNvSpPr>
            <a:spLocks noGrp="1" noChangeArrowheads="1"/>
          </p:cNvSpPr>
          <p:nvPr>
            <p:ph type="body" idx="1"/>
          </p:nvPr>
        </p:nvSpPr>
        <p:spPr>
          <a:xfrm>
            <a:off x="914400" y="4343400"/>
            <a:ext cx="5029200" cy="4114800"/>
          </a:xfrm>
          <a:prstGeom prst="rect">
            <a:avLst/>
          </a:prstGeom>
        </p:spPr>
        <p:txBody>
          <a:bodyPr/>
          <a:lstStyle/>
          <a:p>
            <a:r>
              <a:rPr lang="fr-FR" altLang="fr-FR"/>
              <a:t>Extension points are an extra compartment of the use case, which is just a special type of class.</a:t>
            </a:r>
          </a:p>
          <a:p>
            <a:endParaRPr lang="fr-FR" altLang="fr-FR"/>
          </a:p>
        </p:txBody>
      </p:sp>
    </p:spTree>
    <p:extLst>
      <p:ext uri="{BB962C8B-B14F-4D97-AF65-F5344CB8AC3E}">
        <p14:creationId xmlns:p14="http://schemas.microsoft.com/office/powerpoint/2010/main" val="25942331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xfrm>
            <a:off x="3886200" y="8686800"/>
            <a:ext cx="2971800" cy="457200"/>
          </a:xfrm>
          <a:prstGeom prst="rect">
            <a:avLst/>
          </a:prstGeom>
          <a:ln/>
        </p:spPr>
        <p:txBody>
          <a:bodyPr/>
          <a:lstStyle/>
          <a:p>
            <a:fld id="{D11A8DF1-FBC4-4A79-9214-4FF59BDCF555}" type="slidenum">
              <a:rPr lang="fr-FR" altLang="fr-FR"/>
              <a:pPr/>
              <a:t>20</a:t>
            </a:fld>
            <a:endParaRPr lang="fr-FR" altLang="fr-FR"/>
          </a:p>
        </p:txBody>
      </p:sp>
      <p:sp>
        <p:nvSpPr>
          <p:cNvPr id="117762" name="Rectangle 2"/>
          <p:cNvSpPr>
            <a:spLocks noChangeArrowheads="1" noTextEdit="1"/>
          </p:cNvSpPr>
          <p:nvPr>
            <p:ph type="sldImg"/>
          </p:nvPr>
        </p:nvSpPr>
        <p:spPr>
          <a:xfrm>
            <a:off x="592138" y="606425"/>
            <a:ext cx="5619750" cy="4214813"/>
          </a:xfrm>
          <a:ln/>
        </p:spPr>
      </p:sp>
      <p:sp>
        <p:nvSpPr>
          <p:cNvPr id="117763"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32336456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xfrm>
            <a:off x="3886200" y="8686800"/>
            <a:ext cx="2971800" cy="457200"/>
          </a:xfrm>
          <a:prstGeom prst="rect">
            <a:avLst/>
          </a:prstGeom>
          <a:ln/>
        </p:spPr>
        <p:txBody>
          <a:bodyPr/>
          <a:lstStyle/>
          <a:p>
            <a:fld id="{FBEB6A06-63BB-418A-80A8-AF658723D20B}" type="slidenum">
              <a:rPr lang="fr-FR" altLang="fr-FR"/>
              <a:pPr/>
              <a:t>21</a:t>
            </a:fld>
            <a:endParaRPr lang="fr-FR" altLang="fr-FR"/>
          </a:p>
        </p:txBody>
      </p:sp>
      <p:sp>
        <p:nvSpPr>
          <p:cNvPr id="118786" name="Rectangle 2"/>
          <p:cNvSpPr>
            <a:spLocks noChangeArrowheads="1" noTextEdit="1"/>
          </p:cNvSpPr>
          <p:nvPr>
            <p:ph type="sldImg"/>
          </p:nvPr>
        </p:nvSpPr>
        <p:spPr>
          <a:ln/>
        </p:spPr>
      </p:sp>
      <p:sp>
        <p:nvSpPr>
          <p:cNvPr id="118787"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15839452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xfrm>
            <a:off x="3886200" y="8686800"/>
            <a:ext cx="2971800" cy="457200"/>
          </a:xfrm>
          <a:prstGeom prst="rect">
            <a:avLst/>
          </a:prstGeom>
          <a:ln/>
        </p:spPr>
        <p:txBody>
          <a:bodyPr/>
          <a:lstStyle/>
          <a:p>
            <a:fld id="{9E72FAF0-71FD-41B7-B90A-7D5450E04988}" type="slidenum">
              <a:rPr lang="fr-FR" altLang="fr-FR"/>
              <a:pPr/>
              <a:t>22</a:t>
            </a:fld>
            <a:endParaRPr lang="fr-FR" altLang="fr-FR"/>
          </a:p>
        </p:txBody>
      </p:sp>
      <p:sp>
        <p:nvSpPr>
          <p:cNvPr id="119810" name="Rectangle 2"/>
          <p:cNvSpPr>
            <a:spLocks noChangeArrowheads="1" noTextEdit="1"/>
          </p:cNvSpPr>
          <p:nvPr>
            <p:ph type="sldImg"/>
          </p:nvPr>
        </p:nvSpPr>
        <p:spPr>
          <a:xfrm>
            <a:off x="592138" y="606425"/>
            <a:ext cx="5619750" cy="4214813"/>
          </a:xfrm>
          <a:ln/>
        </p:spPr>
      </p:sp>
      <p:sp>
        <p:nvSpPr>
          <p:cNvPr id="119811" name="Rectangle 3"/>
          <p:cNvSpPr>
            <a:spLocks noGrp="1" noChangeArrowheads="1"/>
          </p:cNvSpPr>
          <p:nvPr>
            <p:ph type="body" idx="1"/>
          </p:nvPr>
        </p:nvSpPr>
        <p:spPr>
          <a:xfrm>
            <a:off x="914400" y="4343400"/>
            <a:ext cx="5029200" cy="4114800"/>
          </a:xfrm>
          <a:prstGeom prst="rect">
            <a:avLst/>
          </a:prstGeom>
        </p:spPr>
        <p:txBody>
          <a:bodyPr/>
          <a:lstStyle/>
          <a:p>
            <a:r>
              <a:rPr lang="fr-FR" altLang="fr-FR"/>
              <a:t>Joke - An example of a child actor is Macaulay Culkin the Home Alone movies, or for the older attendees Shirley Temple.</a:t>
            </a:r>
          </a:p>
          <a:p>
            <a:endParaRPr lang="fr-FR" altLang="fr-FR"/>
          </a:p>
        </p:txBody>
      </p:sp>
    </p:spTree>
    <p:extLst>
      <p:ext uri="{BB962C8B-B14F-4D97-AF65-F5344CB8AC3E}">
        <p14:creationId xmlns:p14="http://schemas.microsoft.com/office/powerpoint/2010/main" val="2158720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xfrm>
            <a:off x="3886200" y="8686800"/>
            <a:ext cx="2971800" cy="457200"/>
          </a:xfrm>
          <a:prstGeom prst="rect">
            <a:avLst/>
          </a:prstGeom>
          <a:ln/>
        </p:spPr>
        <p:txBody>
          <a:bodyPr/>
          <a:lstStyle/>
          <a:p>
            <a:fld id="{F3693BBF-3E0D-42D7-9C5A-7D27D1536CC2}" type="slidenum">
              <a:rPr lang="fr-FR" altLang="fr-FR"/>
              <a:pPr/>
              <a:t>23</a:t>
            </a:fld>
            <a:endParaRPr lang="fr-FR" altLang="fr-FR"/>
          </a:p>
        </p:txBody>
      </p:sp>
      <p:sp>
        <p:nvSpPr>
          <p:cNvPr id="120834" name="Rectangle 2"/>
          <p:cNvSpPr>
            <a:spLocks noChangeArrowheads="1" noTextEdit="1"/>
          </p:cNvSpPr>
          <p:nvPr>
            <p:ph type="sldImg"/>
          </p:nvPr>
        </p:nvSpPr>
        <p:spPr>
          <a:ln/>
        </p:spPr>
      </p:sp>
      <p:sp>
        <p:nvSpPr>
          <p:cNvPr id="120835" name="Rectangle 3"/>
          <p:cNvSpPr>
            <a:spLocks noGrp="1" noChangeArrowheads="1"/>
          </p:cNvSpPr>
          <p:nvPr>
            <p:ph type="body" idx="1"/>
          </p:nvPr>
        </p:nvSpPr>
        <p:spPr>
          <a:xfrm>
            <a:off x="914400" y="4343400"/>
            <a:ext cx="5029200" cy="4114800"/>
          </a:xfrm>
          <a:prstGeom prst="rect">
            <a:avLst/>
          </a:prstGeom>
        </p:spPr>
        <p:txBody>
          <a:bodyPr/>
          <a:lstStyle/>
          <a:p>
            <a:r>
              <a:rPr lang="fr-FR" altLang="fr-FR"/>
              <a:t>Another example would be Users of your system as one type of Actor and then a Privileged User as a child Actor.  This stuff is useful info for UI design.</a:t>
            </a:r>
          </a:p>
          <a:p>
            <a:endParaRPr lang="fr-FR" altLang="fr-FR"/>
          </a:p>
        </p:txBody>
      </p:sp>
    </p:spTree>
    <p:extLst>
      <p:ext uri="{BB962C8B-B14F-4D97-AF65-F5344CB8AC3E}">
        <p14:creationId xmlns:p14="http://schemas.microsoft.com/office/powerpoint/2010/main" val="265055682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xfrm>
            <a:off x="3886200" y="8686800"/>
            <a:ext cx="2971800" cy="457200"/>
          </a:xfrm>
          <a:prstGeom prst="rect">
            <a:avLst/>
          </a:prstGeom>
          <a:ln/>
        </p:spPr>
        <p:txBody>
          <a:bodyPr/>
          <a:lstStyle/>
          <a:p>
            <a:fld id="{A5417CAE-9EE8-4037-AD26-BA52BD9FE646}" type="slidenum">
              <a:rPr lang="fr-FR" altLang="fr-FR"/>
              <a:pPr/>
              <a:t>24</a:t>
            </a:fld>
            <a:endParaRPr lang="fr-FR" altLang="fr-FR"/>
          </a:p>
        </p:txBody>
      </p:sp>
      <p:sp>
        <p:nvSpPr>
          <p:cNvPr id="121858" name="Rectangle 2"/>
          <p:cNvSpPr>
            <a:spLocks noChangeArrowheads="1" noTextEdit="1"/>
          </p:cNvSpPr>
          <p:nvPr>
            <p:ph type="sldImg"/>
          </p:nvPr>
        </p:nvSpPr>
        <p:spPr>
          <a:ln/>
        </p:spPr>
      </p:sp>
      <p:sp>
        <p:nvSpPr>
          <p:cNvPr id="121859"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5095052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xfrm>
            <a:off x="3886200" y="8686800"/>
            <a:ext cx="2971800" cy="457200"/>
          </a:xfrm>
          <a:prstGeom prst="rect">
            <a:avLst/>
          </a:prstGeom>
          <a:ln/>
        </p:spPr>
        <p:txBody>
          <a:bodyPr/>
          <a:lstStyle/>
          <a:p>
            <a:fld id="{2992F3A1-C23F-484D-A8BB-21DE5A8F2292}" type="slidenum">
              <a:rPr lang="fr-FR" altLang="fr-FR"/>
              <a:pPr/>
              <a:t>25</a:t>
            </a:fld>
            <a:endParaRPr lang="fr-FR" altLang="fr-FR"/>
          </a:p>
        </p:txBody>
      </p:sp>
      <p:sp>
        <p:nvSpPr>
          <p:cNvPr id="122882" name="Rectangle 2"/>
          <p:cNvSpPr>
            <a:spLocks noChangeArrowheads="1" noTextEdit="1"/>
          </p:cNvSpPr>
          <p:nvPr>
            <p:ph type="sldImg"/>
          </p:nvPr>
        </p:nvSpPr>
        <p:spPr>
          <a:ln/>
        </p:spPr>
      </p:sp>
      <p:sp>
        <p:nvSpPr>
          <p:cNvPr id="122883"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1981870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7" name="Rectangle 6"/>
          <p:cNvSpPr/>
          <p:nvPr userDrawn="1"/>
        </p:nvSpPr>
        <p:spPr bwMode="auto">
          <a:xfrm>
            <a:off x="0" y="6550223"/>
            <a:ext cx="9144000" cy="307777"/>
          </a:xfrm>
          <a:prstGeom prst="rect">
            <a:avLst/>
          </a:prstGeom>
          <a:solidFill>
            <a:schemeClr val="bg2">
              <a:lumMod val="85000"/>
            </a:schemeClr>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fr-FR" sz="1400" b="0" i="0" u="none" strike="noStrike" cap="none" normalizeH="0" baseline="0" dirty="0" smtClean="0">
              <a:ln>
                <a:noFill/>
              </a:ln>
              <a:solidFill>
                <a:schemeClr val="tx2"/>
              </a:solidFill>
              <a:effectLst/>
              <a:latin typeface="Arial" charset="0"/>
            </a:endParaRPr>
          </a:p>
        </p:txBody>
      </p:sp>
      <p:sp>
        <p:nvSpPr>
          <p:cNvPr id="5" name="Rectangle 4"/>
          <p:cNvSpPr/>
          <p:nvPr userDrawn="1"/>
        </p:nvSpPr>
        <p:spPr bwMode="auto">
          <a:xfrm>
            <a:off x="0" y="0"/>
            <a:ext cx="360000" cy="6858000"/>
          </a:xfrm>
          <a:prstGeom prst="rect">
            <a:avLst/>
          </a:prstGeom>
          <a:solidFill>
            <a:schemeClr val="bg2">
              <a:lumMod val="85000"/>
            </a:schemeClr>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fr-FR" sz="1400" b="0" i="0" u="none" strike="noStrike" cap="none" normalizeH="0" baseline="0" smtClean="0">
              <a:ln>
                <a:noFill/>
              </a:ln>
              <a:solidFill>
                <a:schemeClr val="tx1"/>
              </a:solidFill>
              <a:effectLst/>
              <a:latin typeface="Arial" charset="0"/>
            </a:endParaRPr>
          </a:p>
        </p:txBody>
      </p:sp>
      <p:sp>
        <p:nvSpPr>
          <p:cNvPr id="98312" name="Rectangle 8"/>
          <p:cNvSpPr>
            <a:spLocks noGrp="1" noChangeArrowheads="1"/>
          </p:cNvSpPr>
          <p:nvPr>
            <p:ph type="ctrTitle" sz="quarter"/>
          </p:nvPr>
        </p:nvSpPr>
        <p:spPr>
          <a:xfrm>
            <a:off x="285721" y="1363663"/>
            <a:ext cx="7572404" cy="1638300"/>
          </a:xfrm>
          <a:effectLst>
            <a:outerShdw dist="35921" dir="2700000" algn="ctr" rotWithShape="0">
              <a:schemeClr val="bg2">
                <a:alpha val="50000"/>
              </a:schemeClr>
            </a:outerShdw>
          </a:effectLst>
        </p:spPr>
        <p:txBody>
          <a:bodyPr anchor="t"/>
          <a:lstStyle>
            <a:lvl1pPr>
              <a:defRPr sz="3600"/>
            </a:lvl1pPr>
          </a:lstStyle>
          <a:p>
            <a:r>
              <a:rPr lang="en-US"/>
              <a:t>Click to edit chapter title style</a:t>
            </a:r>
          </a:p>
        </p:txBody>
      </p:sp>
      <p:sp>
        <p:nvSpPr>
          <p:cNvPr id="98313" name="Rectangle 9"/>
          <p:cNvSpPr>
            <a:spLocks noGrp="1" noChangeArrowheads="1"/>
          </p:cNvSpPr>
          <p:nvPr>
            <p:ph type="subTitle" sz="quarter" idx="1"/>
          </p:nvPr>
        </p:nvSpPr>
        <p:spPr bwMode="black">
          <a:xfrm>
            <a:off x="322263" y="398463"/>
            <a:ext cx="4267200" cy="381000"/>
          </a:xfrm>
          <a:effectLst>
            <a:outerShdw dist="35921" dir="2700000" algn="ctr" rotWithShape="0">
              <a:schemeClr val="bg2"/>
            </a:outerShdw>
          </a:effectLst>
        </p:spPr>
        <p:txBody>
          <a:bodyPr/>
          <a:lstStyle>
            <a:lvl1pPr marL="0" indent="0">
              <a:spcBef>
                <a:spcPct val="0"/>
              </a:spcBef>
              <a:buFont typeface="Arial" charset="0"/>
              <a:buNone/>
              <a:defRPr sz="2400">
                <a:solidFill>
                  <a:schemeClr val="tx2"/>
                </a:solidFill>
              </a:defRPr>
            </a:lvl1pPr>
          </a:lstStyle>
          <a:p>
            <a:r>
              <a:rPr lang="en-US"/>
              <a:t>Chapitre 1</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14282" y="1312863"/>
            <a:ext cx="8664606" cy="1277273"/>
          </a:xfrm>
        </p:spPr>
        <p:txBody>
          <a:bodyPr/>
          <a:lstStyle>
            <a:lvl4pPr>
              <a:defRPr/>
            </a:lvl4pPr>
            <a:lvl5pPr>
              <a:buNone/>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a:t>
            </a:r>
            <a:r>
              <a:rPr lang="fr-FR" dirty="0" smtClean="0"/>
              <a:t>niveau</a:t>
            </a:r>
            <a:endParaRPr lang="fr-FR" dirty="0"/>
          </a:p>
        </p:txBody>
      </p:sp>
      <p:sp>
        <p:nvSpPr>
          <p:cNvPr id="4" name="Titre 3"/>
          <p:cNvSpPr>
            <a:spLocks noGrp="1"/>
          </p:cNvSpPr>
          <p:nvPr>
            <p:ph type="title"/>
          </p:nvPr>
        </p:nvSpPr>
        <p:spPr/>
        <p:txBody>
          <a:bodyPr/>
          <a:lstStyle/>
          <a:p>
            <a:r>
              <a:rPr lang="fr-FR" smtClean="0"/>
              <a:t>Cliquez pour modifier le style du titre</a:t>
            </a:r>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Cliquez pour modifier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a:t>Cliquez pour modifier les styles du texte du masque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279400" y="1312863"/>
            <a:ext cx="4222750" cy="12668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54550" y="1312863"/>
            <a:ext cx="4224338" cy="12668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704013" y="160338"/>
            <a:ext cx="2174875" cy="2419350"/>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179388" y="160338"/>
            <a:ext cx="6372225" cy="241935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10" name="Rectangle 9"/>
          <p:cNvSpPr/>
          <p:nvPr userDrawn="1"/>
        </p:nvSpPr>
        <p:spPr bwMode="auto">
          <a:xfrm>
            <a:off x="0" y="0"/>
            <a:ext cx="360000" cy="6858000"/>
          </a:xfrm>
          <a:prstGeom prst="rect">
            <a:avLst/>
          </a:prstGeom>
          <a:solidFill>
            <a:schemeClr val="bg2">
              <a:lumMod val="85000"/>
            </a:schemeClr>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fr-FR" sz="1400" b="0" i="0" u="none" strike="noStrike" cap="none" normalizeH="0" baseline="0" dirty="0" smtClean="0">
              <a:ln>
                <a:noFill/>
              </a:ln>
              <a:solidFill>
                <a:schemeClr val="tx1"/>
              </a:solidFill>
              <a:effectLst/>
              <a:latin typeface="Arial" charset="0"/>
            </a:endParaRPr>
          </a:p>
        </p:txBody>
      </p:sp>
      <p:sp>
        <p:nvSpPr>
          <p:cNvPr id="8" name="Rectangle 7"/>
          <p:cNvSpPr/>
          <p:nvPr userDrawn="1"/>
        </p:nvSpPr>
        <p:spPr bwMode="auto">
          <a:xfrm>
            <a:off x="0" y="6550223"/>
            <a:ext cx="9144000" cy="307777"/>
          </a:xfrm>
          <a:prstGeom prst="rect">
            <a:avLst/>
          </a:prstGeom>
          <a:solidFill>
            <a:schemeClr val="bg2">
              <a:lumMod val="85000"/>
            </a:schemeClr>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fr-FR" sz="1400" b="0" i="0" u="none" strike="noStrike" cap="none" normalizeH="0" baseline="0" dirty="0" smtClean="0">
              <a:ln>
                <a:noFill/>
              </a:ln>
              <a:solidFill>
                <a:schemeClr val="tx2"/>
              </a:solidFill>
              <a:effectLst/>
              <a:latin typeface="Arial" charset="0"/>
            </a:endParaRPr>
          </a:p>
        </p:txBody>
      </p:sp>
      <p:sp>
        <p:nvSpPr>
          <p:cNvPr id="97284" name="Text Box 4"/>
          <p:cNvSpPr txBox="1">
            <a:spLocks noChangeArrowheads="1"/>
          </p:cNvSpPr>
          <p:nvPr/>
        </p:nvSpPr>
        <p:spPr bwMode="auto">
          <a:xfrm>
            <a:off x="100013" y="6592888"/>
            <a:ext cx="7185025" cy="246221"/>
          </a:xfrm>
          <a:prstGeom prst="rect">
            <a:avLst/>
          </a:prstGeom>
          <a:noFill/>
          <a:ln w="9525">
            <a:noFill/>
            <a:miter lim="800000"/>
            <a:headEnd/>
            <a:tailEnd/>
          </a:ln>
          <a:effectLst/>
        </p:spPr>
        <p:txBody>
          <a:bodyPr>
            <a:spAutoFit/>
          </a:bodyPr>
          <a:lstStyle/>
          <a:p>
            <a:pPr algn="ctr">
              <a:spcBef>
                <a:spcPct val="50000"/>
              </a:spcBef>
            </a:pPr>
            <a:r>
              <a:rPr lang="en-US" sz="1000" dirty="0" smtClean="0">
                <a:solidFill>
                  <a:schemeClr val="tx2"/>
                </a:solidFill>
              </a:rPr>
              <a:t>Version 1.0</a:t>
            </a:r>
            <a:endParaRPr lang="en-US" sz="1000" dirty="0">
              <a:solidFill>
                <a:schemeClr val="tx2"/>
              </a:solidFill>
            </a:endParaRPr>
          </a:p>
        </p:txBody>
      </p:sp>
      <p:sp>
        <p:nvSpPr>
          <p:cNvPr id="97285" name="Rectangle 5"/>
          <p:cNvSpPr>
            <a:spLocks noGrp="1" noChangeArrowheads="1"/>
          </p:cNvSpPr>
          <p:nvPr>
            <p:ph type="title"/>
          </p:nvPr>
        </p:nvSpPr>
        <p:spPr bwMode="black">
          <a:xfrm>
            <a:off x="179388" y="160338"/>
            <a:ext cx="7793037" cy="725487"/>
          </a:xfrm>
          <a:prstGeom prst="rect">
            <a:avLst/>
          </a:prstGeom>
          <a:noFill/>
          <a:ln w="9525">
            <a:noFill/>
            <a:miter lim="800000"/>
            <a:headEnd/>
            <a:tailEnd/>
          </a:ln>
          <a:effectLst>
            <a:outerShdw dist="35921" dir="2700000" algn="ctr" rotWithShape="0">
              <a:schemeClr val="bg2"/>
            </a:outerShdw>
          </a:effectLst>
        </p:spPr>
        <p:txBody>
          <a:bodyPr vert="horz" wrap="square" lIns="91440" tIns="45720" rIns="91440" bIns="45720" numCol="1" anchor="ctr" anchorCtr="0" compatLnSpc="1">
            <a:prstTxWarp prst="textNoShape">
              <a:avLst/>
            </a:prstTxWarp>
          </a:bodyPr>
          <a:lstStyle/>
          <a:p>
            <a:pPr lvl="0"/>
            <a:r>
              <a:rPr lang="en-US" dirty="0" smtClean="0"/>
              <a:t>Click to edit Master title style</a:t>
            </a:r>
          </a:p>
        </p:txBody>
      </p:sp>
      <p:sp>
        <p:nvSpPr>
          <p:cNvPr id="97286" name="Text Box 6"/>
          <p:cNvSpPr txBox="1">
            <a:spLocks noChangeArrowheads="1"/>
          </p:cNvSpPr>
          <p:nvPr/>
        </p:nvSpPr>
        <p:spPr bwMode="auto">
          <a:xfrm>
            <a:off x="6970713" y="6527800"/>
            <a:ext cx="1447800" cy="304800"/>
          </a:xfrm>
          <a:prstGeom prst="rect">
            <a:avLst/>
          </a:prstGeom>
          <a:noFill/>
          <a:ln w="9525">
            <a:noFill/>
            <a:miter lim="800000"/>
            <a:headEnd/>
            <a:tailEnd/>
          </a:ln>
          <a:effectLst/>
        </p:spPr>
        <p:txBody>
          <a:bodyPr>
            <a:spAutoFit/>
          </a:bodyPr>
          <a:lstStyle/>
          <a:p>
            <a:pPr algn="r">
              <a:spcBef>
                <a:spcPct val="50000"/>
              </a:spcBef>
            </a:pPr>
            <a:fld id="{B6CF8F43-D6BF-44C9-85E9-64DD9CECBDB3}" type="slidenum">
              <a:rPr lang="en-US" b="1" smtClean="0">
                <a:solidFill>
                  <a:schemeClr val="tx2"/>
                </a:solidFill>
              </a:rPr>
              <a:pPr algn="r">
                <a:spcBef>
                  <a:spcPct val="50000"/>
                </a:spcBef>
              </a:pPr>
              <a:t>‹N°›</a:t>
            </a:fld>
            <a:endParaRPr lang="en-US" b="1" dirty="0">
              <a:solidFill>
                <a:schemeClr val="tx2"/>
              </a:solidFill>
            </a:endParaRPr>
          </a:p>
        </p:txBody>
      </p:sp>
      <p:sp>
        <p:nvSpPr>
          <p:cNvPr id="97289" name="Rectangle 9"/>
          <p:cNvSpPr>
            <a:spLocks noGrp="1" noChangeArrowheads="1"/>
          </p:cNvSpPr>
          <p:nvPr>
            <p:ph type="body" idx="1"/>
          </p:nvPr>
        </p:nvSpPr>
        <p:spPr bwMode="auto">
          <a:xfrm>
            <a:off x="214282" y="1312863"/>
            <a:ext cx="8664606" cy="12668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cSld>
  <p:clrMap bg1="dk1" tx1="lt1" bg2="dk2" tx2="lt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Lst>
  <p:txStyles>
    <p:title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charset="0"/>
        </a:defRPr>
      </a:lvl2pPr>
      <a:lvl3pPr algn="l" rtl="0" eaLnBrk="0" fontAlgn="base" hangingPunct="0">
        <a:spcBef>
          <a:spcPct val="0"/>
        </a:spcBef>
        <a:spcAft>
          <a:spcPct val="0"/>
        </a:spcAft>
        <a:defRPr sz="2400" b="1">
          <a:solidFill>
            <a:schemeClr val="tx2"/>
          </a:solidFill>
          <a:latin typeface="Arial" charset="0"/>
        </a:defRPr>
      </a:lvl3pPr>
      <a:lvl4pPr algn="l" rtl="0" eaLnBrk="0" fontAlgn="base" hangingPunct="0">
        <a:spcBef>
          <a:spcPct val="0"/>
        </a:spcBef>
        <a:spcAft>
          <a:spcPct val="0"/>
        </a:spcAft>
        <a:defRPr sz="2400" b="1">
          <a:solidFill>
            <a:schemeClr val="tx2"/>
          </a:solidFill>
          <a:latin typeface="Arial" charset="0"/>
        </a:defRPr>
      </a:lvl4pPr>
      <a:lvl5pPr algn="l" rtl="0" eaLnBrk="0" fontAlgn="base" hangingPunct="0">
        <a:spcBef>
          <a:spcPct val="0"/>
        </a:spcBef>
        <a:spcAft>
          <a:spcPct val="0"/>
        </a:spcAft>
        <a:defRPr sz="2400" b="1">
          <a:solidFill>
            <a:schemeClr val="tx2"/>
          </a:solidFill>
          <a:latin typeface="Arial" charset="0"/>
        </a:defRPr>
      </a:lvl5pPr>
      <a:lvl6pPr marL="457200" algn="l" rtl="0" eaLnBrk="0" fontAlgn="base" hangingPunct="0">
        <a:spcBef>
          <a:spcPct val="0"/>
        </a:spcBef>
        <a:spcAft>
          <a:spcPct val="0"/>
        </a:spcAft>
        <a:defRPr sz="2400" b="1">
          <a:solidFill>
            <a:schemeClr val="tx2"/>
          </a:solidFill>
          <a:latin typeface="Arial" charset="0"/>
        </a:defRPr>
      </a:lvl6pPr>
      <a:lvl7pPr marL="914400" algn="l" rtl="0" eaLnBrk="0" fontAlgn="base" hangingPunct="0">
        <a:spcBef>
          <a:spcPct val="0"/>
        </a:spcBef>
        <a:spcAft>
          <a:spcPct val="0"/>
        </a:spcAft>
        <a:defRPr sz="2400" b="1">
          <a:solidFill>
            <a:schemeClr val="tx2"/>
          </a:solidFill>
          <a:latin typeface="Arial" charset="0"/>
        </a:defRPr>
      </a:lvl7pPr>
      <a:lvl8pPr marL="1371600" algn="l" rtl="0" eaLnBrk="0" fontAlgn="base" hangingPunct="0">
        <a:spcBef>
          <a:spcPct val="0"/>
        </a:spcBef>
        <a:spcAft>
          <a:spcPct val="0"/>
        </a:spcAft>
        <a:defRPr sz="2400" b="1">
          <a:solidFill>
            <a:schemeClr val="tx2"/>
          </a:solidFill>
          <a:latin typeface="Arial" charset="0"/>
        </a:defRPr>
      </a:lvl8pPr>
      <a:lvl9pPr marL="1828800" algn="l" rtl="0" eaLnBrk="0" fontAlgn="base" hangingPunct="0">
        <a:spcBef>
          <a:spcPct val="0"/>
        </a:spcBef>
        <a:spcAft>
          <a:spcPct val="0"/>
        </a:spcAft>
        <a:defRPr sz="2400" b="1">
          <a:solidFill>
            <a:schemeClr val="tx2"/>
          </a:solidFill>
          <a:latin typeface="Arial" charset="0"/>
        </a:defRPr>
      </a:lvl9pPr>
    </p:titleStyle>
    <p:bodyStyle>
      <a:lvl1pPr marL="230188" indent="-230188" algn="l" rtl="0" eaLnBrk="0" fontAlgn="base" hangingPunct="0">
        <a:spcBef>
          <a:spcPts val="1400"/>
        </a:spcBef>
        <a:spcAft>
          <a:spcPct val="0"/>
        </a:spcAft>
        <a:buClr>
          <a:schemeClr val="accent2"/>
        </a:buClr>
        <a:buSzPct val="115000"/>
        <a:buFont typeface="Arial" charset="0"/>
        <a:buChar char="•"/>
        <a:defRPr b="1">
          <a:solidFill>
            <a:schemeClr val="tx2"/>
          </a:solidFill>
          <a:latin typeface="+mn-lt"/>
          <a:ea typeface="+mn-ea"/>
          <a:cs typeface="+mn-cs"/>
        </a:defRPr>
      </a:lvl1pPr>
      <a:lvl2pPr marL="685800" indent="-341313" algn="l" rtl="0" eaLnBrk="0" fontAlgn="base" hangingPunct="0">
        <a:spcBef>
          <a:spcPts val="200"/>
        </a:spcBef>
        <a:spcAft>
          <a:spcPct val="0"/>
        </a:spcAft>
        <a:buClr>
          <a:schemeClr val="accent2"/>
        </a:buClr>
        <a:buFont typeface="Arial" charset="0"/>
        <a:buChar char="—"/>
        <a:defRPr>
          <a:solidFill>
            <a:schemeClr val="tx2"/>
          </a:solidFill>
          <a:latin typeface="+mn-lt"/>
        </a:defRPr>
      </a:lvl2pPr>
      <a:lvl3pPr marL="1017588" indent="-217488" algn="l" rtl="0" eaLnBrk="0" fontAlgn="base" hangingPunct="0">
        <a:spcBef>
          <a:spcPts val="200"/>
        </a:spcBef>
        <a:spcAft>
          <a:spcPct val="0"/>
        </a:spcAft>
        <a:buClr>
          <a:schemeClr val="accent2"/>
        </a:buClr>
        <a:buFont typeface="Arial" charset="0"/>
        <a:buChar char="–"/>
        <a:defRPr>
          <a:solidFill>
            <a:schemeClr val="tx2"/>
          </a:solidFill>
          <a:latin typeface="+mn-lt"/>
        </a:defRPr>
      </a:lvl3pPr>
      <a:lvl4pPr marL="1363663" indent="-231775" algn="l" rtl="0" eaLnBrk="0" fontAlgn="base" hangingPunct="0">
        <a:spcBef>
          <a:spcPts val="200"/>
        </a:spcBef>
        <a:spcAft>
          <a:spcPct val="0"/>
        </a:spcAft>
        <a:buClr>
          <a:schemeClr val="accent2"/>
        </a:buClr>
        <a:buFont typeface="Arial" charset="0"/>
        <a:buChar char="–"/>
        <a:defRPr>
          <a:solidFill>
            <a:schemeClr val="tx2"/>
          </a:solidFill>
          <a:latin typeface="+mn-lt"/>
        </a:defRPr>
      </a:lvl4pPr>
      <a:lvl5pPr marL="2165350" indent="-228600" algn="l" rtl="0" eaLnBrk="0" fontAlgn="base" hangingPunct="0">
        <a:spcBef>
          <a:spcPct val="20000"/>
        </a:spcBef>
        <a:spcAft>
          <a:spcPct val="0"/>
        </a:spcAft>
        <a:buChar char="»"/>
        <a:defRPr>
          <a:solidFill>
            <a:schemeClr val="tx1"/>
          </a:solidFill>
          <a:latin typeface="+mn-lt"/>
        </a:defRPr>
      </a:lvl5pPr>
      <a:lvl6pPr marL="2622550" indent="-228600" algn="l" rtl="0" eaLnBrk="0" fontAlgn="base" hangingPunct="0">
        <a:spcBef>
          <a:spcPct val="20000"/>
        </a:spcBef>
        <a:spcAft>
          <a:spcPct val="0"/>
        </a:spcAft>
        <a:buChar char="»"/>
        <a:defRPr>
          <a:solidFill>
            <a:schemeClr val="tx1"/>
          </a:solidFill>
          <a:latin typeface="+mn-lt"/>
        </a:defRPr>
      </a:lvl6pPr>
      <a:lvl7pPr marL="3079750" indent="-228600" algn="l" rtl="0" eaLnBrk="0" fontAlgn="base" hangingPunct="0">
        <a:spcBef>
          <a:spcPct val="20000"/>
        </a:spcBef>
        <a:spcAft>
          <a:spcPct val="0"/>
        </a:spcAft>
        <a:buChar char="»"/>
        <a:defRPr>
          <a:solidFill>
            <a:schemeClr val="tx1"/>
          </a:solidFill>
          <a:latin typeface="+mn-lt"/>
        </a:defRPr>
      </a:lvl7pPr>
      <a:lvl8pPr marL="3536950" indent="-228600" algn="l" rtl="0" eaLnBrk="0" fontAlgn="base" hangingPunct="0">
        <a:spcBef>
          <a:spcPct val="20000"/>
        </a:spcBef>
        <a:spcAft>
          <a:spcPct val="0"/>
        </a:spcAft>
        <a:buChar char="»"/>
        <a:defRPr>
          <a:solidFill>
            <a:schemeClr val="tx1"/>
          </a:solidFill>
          <a:latin typeface="+mn-lt"/>
        </a:defRPr>
      </a:lvl8pPr>
      <a:lvl9pPr marL="3994150" indent="-228600" algn="l" rtl="0" eaLnBrk="0" fontAlgn="base" hangingPunct="0">
        <a:spcBef>
          <a:spcPct val="20000"/>
        </a:spcBef>
        <a:spcAft>
          <a:spcPct val="0"/>
        </a:spcAft>
        <a:buChar char="»"/>
        <a:defRPr>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txBox="1">
            <a:spLocks noChangeArrowheads="1"/>
          </p:cNvSpPr>
          <p:nvPr/>
        </p:nvSpPr>
        <p:spPr bwMode="black">
          <a:xfrm>
            <a:off x="461963" y="1516063"/>
            <a:ext cx="7548562" cy="1638300"/>
          </a:xfrm>
          <a:prstGeom prst="rect">
            <a:avLst/>
          </a:prstGeom>
          <a:noFill/>
          <a:ln w="9525">
            <a:noFill/>
            <a:miter lim="800000"/>
            <a:headEnd/>
            <a:tailEnd/>
          </a:ln>
          <a:effectLst>
            <a:outerShdw dist="35921" dir="2700000" algn="ctr" rotWithShape="0">
              <a:schemeClr val="bg2">
                <a:alpha val="50000"/>
              </a:schemeClr>
            </a:outerShdw>
          </a:effectLst>
        </p:spPr>
        <p:txBody>
          <a:bodyPr vert="horz" wrap="square" lIns="91440" tIns="45720" rIns="91440" bIns="45720" numCol="1" anchor="t" anchorCtr="0" compatLnSpc="1">
            <a:prstTxWarp prst="textNoShape">
              <a:avLst/>
            </a:prstTxWarp>
          </a:bodyPr>
          <a:lstStyle/>
          <a:p>
            <a:pPr lvl="0" algn="ctr">
              <a:defRPr/>
            </a:pPr>
            <a:r>
              <a:rPr lang="fr-FR" sz="3600" b="1" kern="0" dirty="0">
                <a:solidFill>
                  <a:schemeClr val="tx2"/>
                </a:solidFill>
                <a:latin typeface="+mj-lt"/>
                <a:ea typeface="+mj-ea"/>
                <a:cs typeface="+mj-cs"/>
              </a:rPr>
              <a:t>UML </a:t>
            </a:r>
            <a:r>
              <a:rPr lang="fr-FR" sz="3600" b="1" kern="0" dirty="0" smtClean="0">
                <a:solidFill>
                  <a:schemeClr val="tx2"/>
                </a:solidFill>
                <a:latin typeface="+mj-lt"/>
                <a:ea typeface="+mj-ea"/>
                <a:cs typeface="+mj-cs"/>
              </a:rPr>
              <a:t>2</a:t>
            </a:r>
          </a:p>
          <a:p>
            <a:pPr lvl="0" algn="ctr">
              <a:defRPr/>
            </a:pPr>
            <a:r>
              <a:rPr lang="fr-FR" sz="3600" b="1" kern="0" dirty="0" smtClean="0">
                <a:solidFill>
                  <a:schemeClr val="tx2"/>
                </a:solidFill>
                <a:latin typeface="+mj-lt"/>
                <a:ea typeface="+mj-ea"/>
                <a:cs typeface="+mj-cs"/>
              </a:rPr>
              <a:t>Cas d’utilisation</a:t>
            </a:r>
            <a:endParaRPr lang="fr-FR" sz="3600" b="1" kern="0" dirty="0" smtClean="0">
              <a:solidFill>
                <a:schemeClr val="tx2"/>
              </a:solidFill>
              <a:latin typeface="+mj-lt"/>
              <a:ea typeface="+mj-ea"/>
              <a:cs typeface="+mj-cs"/>
            </a:endParaRPr>
          </a:p>
          <a:p>
            <a:pPr lvl="0" algn="ctr">
              <a:defRPr/>
            </a:pPr>
            <a:endParaRPr lang="fr-FR" sz="3600" b="1" kern="0" dirty="0" smtClean="0">
              <a:solidFill>
                <a:schemeClr val="tx2"/>
              </a:solidFill>
              <a:latin typeface="+mj-lt"/>
              <a:ea typeface="+mj-ea"/>
              <a:cs typeface="+mj-cs"/>
            </a:endParaRPr>
          </a:p>
          <a:p>
            <a:pPr lvl="0" algn="ctr">
              <a:defRPr/>
            </a:pPr>
            <a:r>
              <a:rPr lang="fr-FR" sz="3600" dirty="0" smtClean="0">
                <a:solidFill>
                  <a:schemeClr val="tx2"/>
                </a:solidFill>
              </a:rPr>
              <a:t>Chapitre </a:t>
            </a:r>
            <a:r>
              <a:rPr lang="fr-FR" sz="3600" dirty="0" smtClean="0">
                <a:solidFill>
                  <a:schemeClr val="tx2"/>
                </a:solidFill>
              </a:rPr>
              <a:t>3</a:t>
            </a:r>
            <a:endParaRPr lang="fr-FR" sz="3600" dirty="0" smtClean="0">
              <a:solidFill>
                <a:schemeClr val="tx2"/>
              </a:solidFill>
            </a:endParaRPr>
          </a:p>
          <a:p>
            <a:pPr lvl="0" algn="ctr"/>
            <a:endParaRPr lang="fr-FR" dirty="0" smtClean="0">
              <a:solidFill>
                <a:schemeClr val="tx2"/>
              </a:solidFill>
            </a:endParaRPr>
          </a:p>
          <a:p>
            <a:pPr lvl="0" algn="ctr"/>
            <a:r>
              <a:rPr lang="fr-FR" dirty="0" smtClean="0">
                <a:solidFill>
                  <a:schemeClr val="tx2"/>
                </a:solidFill>
              </a:rPr>
              <a:t>v1.0</a:t>
            </a:r>
          </a:p>
          <a:p>
            <a:pPr lvl="0" algn="ctr"/>
            <a:endParaRPr kumimoji="0" lang="fr-FR" sz="3600" b="1" i="0" u="none" strike="noStrike" kern="0" cap="none" spc="0" normalizeH="0" baseline="0" noProof="0" dirty="0" smtClean="0">
              <a:ln>
                <a:noFill/>
              </a:ln>
              <a:solidFill>
                <a:schemeClr val="tx2"/>
              </a:solidFill>
              <a:effectLst/>
              <a:uLnTx/>
              <a:uFillTx/>
              <a:latin typeface="+mj-lt"/>
              <a:ea typeface="+mj-ea"/>
              <a:cs typeface="+mj-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FR" sz="3600" b="1" i="0" u="none" strike="noStrike" kern="0" cap="none" spc="0" normalizeH="0" baseline="0" noProof="0" dirty="0">
              <a:ln>
                <a:noFill/>
              </a:ln>
              <a:solidFill>
                <a:schemeClr val="tx2"/>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5" name="Rectangle 5"/>
          <p:cNvSpPr>
            <a:spLocks noGrp="1" noChangeArrowheads="1"/>
          </p:cNvSpPr>
          <p:nvPr>
            <p:ph type="title"/>
          </p:nvPr>
        </p:nvSpPr>
        <p:spPr>
          <a:xfrm>
            <a:off x="179388" y="160338"/>
            <a:ext cx="7793037" cy="725487"/>
          </a:xfrm>
        </p:spPr>
        <p:txBody>
          <a:bodyPr/>
          <a:lstStyle/>
          <a:p>
            <a:r>
              <a:rPr lang="fr-FR" dirty="0" smtClean="0"/>
              <a:t>Déroulement</a:t>
            </a:r>
            <a:endParaRPr lang="fr-FR" dirty="0"/>
          </a:p>
        </p:txBody>
      </p:sp>
      <p:sp>
        <p:nvSpPr>
          <p:cNvPr id="5126" name="Rectangle 6"/>
          <p:cNvSpPr>
            <a:spLocks noGrp="1" noChangeArrowheads="1"/>
          </p:cNvSpPr>
          <p:nvPr>
            <p:ph idx="1"/>
          </p:nvPr>
        </p:nvSpPr>
        <p:spPr>
          <a:xfrm>
            <a:off x="928662" y="1312863"/>
            <a:ext cx="7950226" cy="2103140"/>
          </a:xfrm>
        </p:spPr>
        <p:txBody>
          <a:bodyPr/>
          <a:lstStyle/>
          <a:p>
            <a:r>
              <a:rPr lang="fr-FR" sz="1400" dirty="0"/>
              <a:t>Capture et description des besoins fonctionnels de l'application.</a:t>
            </a:r>
          </a:p>
          <a:p>
            <a:r>
              <a:rPr lang="fr-FR" sz="1400" dirty="0"/>
              <a:t>Principaux objectifs et utilisation. Décrire les fonctionnalités du système.</a:t>
            </a:r>
          </a:p>
          <a:p>
            <a:r>
              <a:rPr lang="fr-FR" sz="1400" dirty="0"/>
              <a:t>Eléments du diagramme : cas d'utilisation, acteurs et frontière du système. Etapes de construction.</a:t>
            </a:r>
          </a:p>
          <a:p>
            <a:r>
              <a:rPr lang="fr-FR" sz="1400" dirty="0"/>
              <a:t>Comment identifier les acteurs ? Comment décrire un cas d'utilisation ? Les scénarios.</a:t>
            </a:r>
          </a:p>
          <a:p>
            <a:r>
              <a:rPr lang="fr-FR" sz="1400" dirty="0"/>
              <a:t>Formats, pré et post conditions, types de relations</a:t>
            </a:r>
            <a:endParaRPr lang="fr-FR" sz="14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fr-FR" altLang="fr-FR"/>
              <a:t>Diagramme de cas d’utilisation : Exemple simple </a:t>
            </a:r>
          </a:p>
        </p:txBody>
      </p:sp>
      <p:pic>
        <p:nvPicPr>
          <p:cNvPr id="6149" name="Picture 5" descr="Use cas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1676400" y="1828800"/>
            <a:ext cx="5638800" cy="3203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96456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1" name="Rectangle 5"/>
          <p:cNvSpPr>
            <a:spLocks noGrp="1" noChangeArrowheads="1"/>
          </p:cNvSpPr>
          <p:nvPr>
            <p:ph type="title"/>
          </p:nvPr>
        </p:nvSpPr>
        <p:spPr/>
        <p:txBody>
          <a:bodyPr/>
          <a:lstStyle/>
          <a:p>
            <a:r>
              <a:rPr lang="fr-FR" altLang="fr-FR"/>
              <a:t>Modélisation des scénarios</a:t>
            </a:r>
          </a:p>
        </p:txBody>
      </p:sp>
      <p:sp>
        <p:nvSpPr>
          <p:cNvPr id="9222" name="Rectangle 6"/>
          <p:cNvSpPr>
            <a:spLocks noGrp="1" noChangeArrowheads="1"/>
          </p:cNvSpPr>
          <p:nvPr>
            <p:ph type="body" idx="1"/>
          </p:nvPr>
        </p:nvSpPr>
        <p:spPr>
          <a:xfrm>
            <a:off x="279400" y="1312863"/>
            <a:ext cx="8599488" cy="4648200"/>
          </a:xfrm>
        </p:spPr>
        <p:txBody>
          <a:bodyPr/>
          <a:lstStyle/>
          <a:p>
            <a:r>
              <a:rPr lang="fr-FR" altLang="fr-FR"/>
              <a:t>Les </a:t>
            </a:r>
            <a:r>
              <a:rPr lang="fr-FR" altLang="fr-FR" i="1">
                <a:latin typeface="Century Schoolbook" pitchFamily="18" charset="0"/>
              </a:rPr>
              <a:t>scénarios</a:t>
            </a:r>
            <a:r>
              <a:rPr lang="fr-FR" altLang="fr-FR"/>
              <a:t> sont utilisés depuis longtemps pour spécifier les besoins du système</a:t>
            </a:r>
          </a:p>
          <a:p>
            <a:pPr lvl="1"/>
            <a:r>
              <a:rPr lang="fr-FR" altLang="fr-FR"/>
              <a:t>Pour les développements traditionnels et orientés objet</a:t>
            </a:r>
          </a:p>
          <a:p>
            <a:r>
              <a:rPr lang="fr-FR" altLang="fr-FR"/>
              <a:t>Un exemple tiré du système d’affectation des ambulances :</a:t>
            </a:r>
          </a:p>
          <a:p>
            <a:pPr lvl="1"/>
            <a:r>
              <a:rPr lang="fr-FR" altLang="fr-FR"/>
              <a:t>“Une ambulance devient libre alors que des appels attendent une attribution”</a:t>
            </a:r>
          </a:p>
          <a:p>
            <a:r>
              <a:rPr lang="fr-FR" altLang="fr-FR"/>
              <a:t>En développement OO, les scénarios n’étaient pas traités formellement</a:t>
            </a:r>
          </a:p>
          <a:p>
            <a:pPr lvl="1"/>
            <a:r>
              <a:rPr lang="fr-FR" altLang="fr-FR"/>
              <a:t>Toujours faits, rarement documentés</a:t>
            </a:r>
          </a:p>
          <a:p>
            <a:pPr lvl="1"/>
            <a:r>
              <a:rPr lang="fr-FR" altLang="fr-FR"/>
              <a:t>Les méthodes OO, comme OMT et Booch, commençaient directement avec des modèles de classes</a:t>
            </a:r>
          </a:p>
          <a:p>
            <a:pPr lvl="2"/>
            <a:r>
              <a:rPr lang="fr-FR" altLang="fr-FR"/>
              <a:t>En partant du principe que les besoins étaient déjà connus</a:t>
            </a:r>
          </a:p>
          <a:p>
            <a:r>
              <a:rPr lang="fr-FR" altLang="fr-FR"/>
              <a:t>Les développeurs OO avaient tendance à minimiser le rôle des scénarios</a:t>
            </a:r>
          </a:p>
          <a:p>
            <a:pPr lvl="1"/>
            <a:r>
              <a:rPr lang="fr-FR" altLang="fr-FR"/>
              <a:t>Vus comme “non orienté objet”</a:t>
            </a:r>
          </a:p>
          <a:p>
            <a:pPr lvl="1"/>
            <a:r>
              <a:rPr lang="fr-FR" altLang="fr-FR"/>
              <a:t>En dépit de leur utilité</a:t>
            </a:r>
          </a:p>
        </p:txBody>
      </p:sp>
      <p:sp>
        <p:nvSpPr>
          <p:cNvPr id="9220" name="Text Box 4"/>
          <p:cNvSpPr txBox="1">
            <a:spLocks noChangeArrowheads="1"/>
          </p:cNvSpPr>
          <p:nvPr/>
        </p:nvSpPr>
        <p:spPr bwMode="auto">
          <a:xfrm>
            <a:off x="304800" y="6172200"/>
            <a:ext cx="5562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ts val="200"/>
              </a:spcBef>
              <a:buClr>
                <a:schemeClr val="accent2"/>
              </a:buClr>
              <a:buFont typeface="Arial" panose="020B0604020202020204" pitchFamily="34" charset="0"/>
              <a:buNone/>
            </a:pPr>
            <a:r>
              <a:rPr lang="fr-FR" altLang="fr-FR">
                <a:solidFill>
                  <a:srgbClr val="000080"/>
                </a:solidFill>
              </a:rPr>
              <a:t>OO = Orienté Objet</a:t>
            </a:r>
            <a:endParaRPr lang="fr-FR" altLang="fr-FR"/>
          </a:p>
        </p:txBody>
      </p:sp>
    </p:spTree>
    <p:extLst>
      <p:ext uri="{BB962C8B-B14F-4D97-AF65-F5344CB8AC3E}">
        <p14:creationId xmlns:p14="http://schemas.microsoft.com/office/powerpoint/2010/main" val="841978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179388" y="160338"/>
            <a:ext cx="8964612" cy="725487"/>
          </a:xfrm>
        </p:spPr>
        <p:txBody>
          <a:bodyPr/>
          <a:lstStyle/>
          <a:p>
            <a:r>
              <a:rPr lang="fr-FR" altLang="fr-FR"/>
              <a:t>Formaliser les scénarios sous forme de cas d’utilisation</a:t>
            </a:r>
          </a:p>
        </p:txBody>
      </p:sp>
      <p:sp>
        <p:nvSpPr>
          <p:cNvPr id="14339" name="Rectangle 3"/>
          <p:cNvSpPr>
            <a:spLocks noGrp="1" noChangeArrowheads="1"/>
          </p:cNvSpPr>
          <p:nvPr>
            <p:ph type="body" idx="1"/>
          </p:nvPr>
        </p:nvSpPr>
        <p:spPr>
          <a:xfrm>
            <a:off x="304800" y="2971800"/>
            <a:ext cx="8599488" cy="915988"/>
          </a:xfrm>
        </p:spPr>
        <p:txBody>
          <a:bodyPr/>
          <a:lstStyle/>
          <a:p>
            <a:r>
              <a:rPr lang="fr-FR" altLang="fr-FR"/>
              <a:t>Jacobson donne de l’importance au scénario, qu’il appelle </a:t>
            </a:r>
            <a:r>
              <a:rPr lang="fr-FR" altLang="fr-FR" i="1">
                <a:latin typeface="Century Schoolbook" pitchFamily="18" charset="0"/>
              </a:rPr>
              <a:t>cas d’utilisation</a:t>
            </a:r>
            <a:r>
              <a:rPr lang="fr-FR" altLang="fr-FR"/>
              <a:t> (</a:t>
            </a:r>
            <a:r>
              <a:rPr lang="fr-FR" altLang="fr-FR" i="1">
                <a:latin typeface="Century Schoolbook" pitchFamily="18" charset="0"/>
              </a:rPr>
              <a:t>use-case</a:t>
            </a:r>
            <a:r>
              <a:rPr lang="fr-FR" altLang="fr-FR"/>
              <a:t>), et en fait un élément fondamental dans le processus de développement</a:t>
            </a:r>
          </a:p>
        </p:txBody>
      </p:sp>
      <p:sp>
        <p:nvSpPr>
          <p:cNvPr id="14340" name="Text Box 4"/>
          <p:cNvSpPr txBox="1">
            <a:spLocks noChangeArrowheads="1"/>
          </p:cNvSpPr>
          <p:nvPr/>
        </p:nvSpPr>
        <p:spPr bwMode="blackWhite">
          <a:xfrm>
            <a:off x="990600" y="1371600"/>
            <a:ext cx="7132638" cy="1311275"/>
          </a:xfrm>
          <a:prstGeom prst="rect">
            <a:avLst/>
          </a:prstGeom>
          <a:solidFill>
            <a:srgbClr val="FFFFCC"/>
          </a:solidFill>
          <a:ln w="12700">
            <a:solidFill>
              <a:schemeClr val="tx1"/>
            </a:solidFill>
            <a:miter lim="800000"/>
            <a:headEnd/>
            <a:tailEnd/>
          </a:ln>
          <a:effectLst>
            <a:outerShdw dist="35921" dir="2700000" algn="ctr" rotWithShape="0">
              <a:schemeClr val="tx1"/>
            </a:outerShdw>
          </a:effectLst>
        </p:spPr>
        <p:txBody>
          <a:bodyPr/>
          <a:lstStyle/>
          <a:p>
            <a:pPr algn="ctr"/>
            <a:r>
              <a:rPr lang="fr-FR" altLang="fr-FR" sz="1800" b="1" i="1" dirty="0">
                <a:solidFill>
                  <a:schemeClr val="bg1"/>
                </a:solidFill>
                <a:latin typeface="Century Schoolbook" pitchFamily="18" charset="0"/>
              </a:rPr>
              <a:t>“Un cas d’utilisation est une manière particulière d’utiliser le système en mettant en </a:t>
            </a:r>
            <a:r>
              <a:rPr lang="en-US" altLang="fr-FR" sz="1800" b="1" i="1" dirty="0">
                <a:solidFill>
                  <a:schemeClr val="bg1"/>
                </a:solidFill>
                <a:latin typeface="Century Schoolbook" pitchFamily="18" charset="0"/>
              </a:rPr>
              <a:t>œ</a:t>
            </a:r>
            <a:r>
              <a:rPr lang="fr-FR" altLang="fr-FR" sz="1800" b="1" i="1" dirty="0" err="1">
                <a:solidFill>
                  <a:schemeClr val="bg1"/>
                </a:solidFill>
                <a:latin typeface="Century Schoolbook" pitchFamily="18" charset="0"/>
              </a:rPr>
              <a:t>uvre</a:t>
            </a:r>
            <a:r>
              <a:rPr lang="fr-FR" altLang="fr-FR" sz="1800" b="1" i="1" dirty="0">
                <a:solidFill>
                  <a:schemeClr val="bg1"/>
                </a:solidFill>
                <a:latin typeface="Century Schoolbook" pitchFamily="18" charset="0"/>
              </a:rPr>
              <a:t> une partie de ses fonctionnalités … L’ensemble des cas d’utilisation spécifie toutes les manières existantes d’utiliser le système.”</a:t>
            </a:r>
            <a:r>
              <a:rPr lang="fr-FR" altLang="fr-FR" sz="1800" b="1" i="1" baseline="30000" dirty="0">
                <a:solidFill>
                  <a:schemeClr val="bg1"/>
                </a:solidFill>
                <a:latin typeface="Century Schoolbook" pitchFamily="18" charset="0"/>
              </a:rPr>
              <a:t>*</a:t>
            </a:r>
            <a:endParaRPr lang="fr-FR" altLang="fr-FR" sz="1800" b="1" i="1" dirty="0">
              <a:solidFill>
                <a:schemeClr val="bg1"/>
              </a:solidFill>
              <a:latin typeface="Century Schoolbook" pitchFamily="18" charset="0"/>
            </a:endParaRPr>
          </a:p>
          <a:p>
            <a:endParaRPr lang="fr-FR" altLang="fr-FR" sz="1200" dirty="0">
              <a:solidFill>
                <a:schemeClr val="bg1"/>
              </a:solidFill>
            </a:endParaRPr>
          </a:p>
        </p:txBody>
      </p:sp>
      <p:sp>
        <p:nvSpPr>
          <p:cNvPr id="14341" name="Text Box 5"/>
          <p:cNvSpPr txBox="1">
            <a:spLocks noChangeArrowheads="1"/>
          </p:cNvSpPr>
          <p:nvPr/>
        </p:nvSpPr>
        <p:spPr bwMode="auto">
          <a:xfrm>
            <a:off x="228600" y="6172200"/>
            <a:ext cx="8153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ts val="200"/>
              </a:spcBef>
              <a:buClr>
                <a:schemeClr val="accent2"/>
              </a:buClr>
              <a:buFont typeface="Arial" panose="020B0604020202020204" pitchFamily="34" charset="0"/>
              <a:buNone/>
            </a:pPr>
            <a:r>
              <a:rPr lang="en-US" altLang="fr-FR">
                <a:solidFill>
                  <a:srgbClr val="000080"/>
                </a:solidFill>
              </a:rPr>
              <a:t>*Source: </a:t>
            </a:r>
            <a:r>
              <a:rPr lang="en-US" altLang="fr-FR" i="1">
                <a:solidFill>
                  <a:srgbClr val="000080"/>
                </a:solidFill>
              </a:rPr>
              <a:t>Object-Oriented Software Engineering. </a:t>
            </a:r>
            <a:r>
              <a:rPr lang="en-US" altLang="fr-FR">
                <a:solidFill>
                  <a:srgbClr val="000080"/>
                </a:solidFill>
              </a:rPr>
              <a:t>par Ivar Jocobson. Éditions : Addison-Wesley, 1994.</a:t>
            </a:r>
            <a:endParaRPr lang="en-US" altLang="fr-FR"/>
          </a:p>
        </p:txBody>
      </p:sp>
    </p:spTree>
    <p:extLst>
      <p:ext uri="{BB962C8B-B14F-4D97-AF65-F5344CB8AC3E}">
        <p14:creationId xmlns:p14="http://schemas.microsoft.com/office/powerpoint/2010/main" val="13611157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fr-FR" altLang="fr-FR"/>
              <a:t>Est-ce orienté objet ?</a:t>
            </a:r>
          </a:p>
        </p:txBody>
      </p:sp>
      <p:sp>
        <p:nvSpPr>
          <p:cNvPr id="23555" name="Rectangle 3"/>
          <p:cNvSpPr>
            <a:spLocks noGrp="1" noChangeArrowheads="1"/>
          </p:cNvSpPr>
          <p:nvPr>
            <p:ph type="body" idx="1"/>
          </p:nvPr>
        </p:nvSpPr>
        <p:spPr>
          <a:xfrm>
            <a:off x="279400" y="1312863"/>
            <a:ext cx="8599488" cy="2268537"/>
          </a:xfrm>
        </p:spPr>
        <p:txBody>
          <a:bodyPr/>
          <a:lstStyle/>
          <a:p>
            <a:r>
              <a:rPr lang="fr-FR" altLang="fr-FR"/>
              <a:t>La modélisation par cas d’utilisation est essentiellement fonctionnelle</a:t>
            </a:r>
          </a:p>
          <a:p>
            <a:pPr lvl="1"/>
            <a:r>
              <a:rPr lang="fr-FR" altLang="fr-FR"/>
              <a:t>D’où une résistance initiale de la communauté Objet</a:t>
            </a:r>
          </a:p>
          <a:p>
            <a:r>
              <a:rPr lang="fr-FR" altLang="fr-FR"/>
              <a:t>La justification des use-cases est la suivante</a:t>
            </a:r>
          </a:p>
          <a:p>
            <a:pPr lvl="1"/>
            <a:r>
              <a:rPr lang="fr-FR" altLang="fr-FR"/>
              <a:t>Un utilisateur veut juste que le système </a:t>
            </a:r>
            <a:r>
              <a:rPr lang="fr-FR" altLang="fr-FR" i="1">
                <a:latin typeface="Century Schoolbook" pitchFamily="18" charset="0"/>
              </a:rPr>
              <a:t>fasse</a:t>
            </a:r>
            <a:r>
              <a:rPr lang="fr-FR" altLang="fr-FR"/>
              <a:t> quelque chose ; les objets qui réalisent cette chose sont du domaine du développeur</a:t>
            </a:r>
          </a:p>
          <a:p>
            <a:pPr lvl="1"/>
            <a:r>
              <a:rPr lang="fr-FR" altLang="fr-FR"/>
              <a:t>Il existe des techniques bien définies pour transformer un cas d’utilisation en classes, objets, et interactions entre objets</a:t>
            </a:r>
          </a:p>
        </p:txBody>
      </p:sp>
    </p:spTree>
    <p:extLst>
      <p:ext uri="{BB962C8B-B14F-4D97-AF65-F5344CB8AC3E}">
        <p14:creationId xmlns:p14="http://schemas.microsoft.com/office/powerpoint/2010/main" val="4609032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fr-FR" altLang="fr-FR"/>
              <a:t>Qu’est-ce qu’un acteur ?</a:t>
            </a:r>
          </a:p>
        </p:txBody>
      </p:sp>
      <p:sp>
        <p:nvSpPr>
          <p:cNvPr id="26627" name="Rectangle 3"/>
          <p:cNvSpPr>
            <a:spLocks noGrp="1" noChangeArrowheads="1"/>
          </p:cNvSpPr>
          <p:nvPr>
            <p:ph type="body" idx="1"/>
          </p:nvPr>
        </p:nvSpPr>
        <p:spPr>
          <a:xfrm>
            <a:off x="304800" y="2465388"/>
            <a:ext cx="8599488" cy="2868612"/>
          </a:xfrm>
        </p:spPr>
        <p:txBody>
          <a:bodyPr/>
          <a:lstStyle/>
          <a:p>
            <a:r>
              <a:rPr lang="fr-FR" altLang="fr-FR"/>
              <a:t>Un </a:t>
            </a:r>
            <a:r>
              <a:rPr lang="fr-FR" altLang="fr-FR" i="1">
                <a:latin typeface="Century Schoolbook" pitchFamily="18" charset="0"/>
              </a:rPr>
              <a:t>acteur</a:t>
            </a:r>
            <a:r>
              <a:rPr lang="fr-FR" altLang="fr-FR"/>
              <a:t> définit un rôle joué par un utilisateur du système</a:t>
            </a:r>
          </a:p>
          <a:p>
            <a:pPr lvl="1"/>
            <a:r>
              <a:rPr lang="fr-FR" altLang="fr-FR"/>
              <a:t>Peut être un être humain</a:t>
            </a:r>
          </a:p>
          <a:p>
            <a:pPr lvl="1"/>
            <a:r>
              <a:rPr lang="fr-FR" altLang="fr-FR"/>
              <a:t>Peut être un autre système</a:t>
            </a:r>
          </a:p>
          <a:p>
            <a:pPr lvl="1"/>
            <a:r>
              <a:rPr lang="fr-FR" altLang="fr-FR"/>
              <a:t>Peut être le déroulement du temps</a:t>
            </a:r>
          </a:p>
          <a:p>
            <a:pPr lvl="2"/>
            <a:r>
              <a:rPr lang="fr-FR" altLang="fr-FR"/>
              <a:t>Par exemple, dans une simulation pour laquelle le système fait les calculs lorsque le processeur est inutilisé depuis un certain temps</a:t>
            </a:r>
          </a:p>
          <a:p>
            <a:r>
              <a:rPr lang="fr-FR" altLang="fr-FR"/>
              <a:t>Les acteurs sont par définition en dehors du système à modéliser</a:t>
            </a:r>
          </a:p>
          <a:p>
            <a:pPr lvl="1"/>
            <a:r>
              <a:rPr lang="fr-FR" altLang="fr-FR"/>
              <a:t>Ils ne sont pas étudiés en détails ; seules leurs interactions avec le système ont de l’intérêt</a:t>
            </a:r>
          </a:p>
        </p:txBody>
      </p:sp>
      <p:sp>
        <p:nvSpPr>
          <p:cNvPr id="26628" name="Text Box 4"/>
          <p:cNvSpPr txBox="1">
            <a:spLocks noChangeArrowheads="1"/>
          </p:cNvSpPr>
          <p:nvPr/>
        </p:nvSpPr>
        <p:spPr bwMode="blackWhite">
          <a:xfrm>
            <a:off x="533400" y="1401763"/>
            <a:ext cx="8001000" cy="960437"/>
          </a:xfrm>
          <a:prstGeom prst="rect">
            <a:avLst/>
          </a:prstGeom>
          <a:solidFill>
            <a:srgbClr val="FFFFCC"/>
          </a:solidFill>
          <a:ln w="12700">
            <a:solidFill>
              <a:schemeClr val="tx1"/>
            </a:solidFill>
            <a:miter lim="800000"/>
            <a:headEnd/>
            <a:tailEnd/>
          </a:ln>
          <a:effectLst>
            <a:outerShdw dist="35921" dir="2700000" algn="ctr" rotWithShape="0">
              <a:schemeClr val="tx1"/>
            </a:outerShdw>
          </a:effectLst>
        </p:spPr>
        <p:txBody>
          <a:bodyPr/>
          <a:lstStyle/>
          <a:p>
            <a:pPr algn="ctr"/>
            <a:r>
              <a:rPr lang="fr-FR" altLang="fr-FR" sz="1800" b="1" i="1" dirty="0">
                <a:solidFill>
                  <a:schemeClr val="bg1"/>
                </a:solidFill>
                <a:latin typeface="Century Schoolbook" pitchFamily="18" charset="0"/>
              </a:rPr>
              <a:t>“Une idéalisation d’une personne extérieure, d’un processus ou de quelque chose qui interagit avec un système, un sous-système ou une classe”</a:t>
            </a:r>
            <a:r>
              <a:rPr lang="fr-FR" altLang="fr-FR" sz="1800" b="1" i="1" baseline="30000" dirty="0">
                <a:solidFill>
                  <a:schemeClr val="bg1"/>
                </a:solidFill>
                <a:latin typeface="Century Schoolbook" pitchFamily="18" charset="0"/>
              </a:rPr>
              <a:t>*</a:t>
            </a:r>
            <a:endParaRPr lang="fr-FR" altLang="fr-FR" sz="1800" b="1" i="1" dirty="0">
              <a:solidFill>
                <a:schemeClr val="bg1"/>
              </a:solidFill>
              <a:latin typeface="Century Schoolbook" pitchFamily="18" charset="0"/>
            </a:endParaRPr>
          </a:p>
          <a:p>
            <a:endParaRPr lang="fr-FR" altLang="fr-FR" sz="1200" dirty="0">
              <a:solidFill>
                <a:schemeClr val="bg1"/>
              </a:solidFill>
            </a:endParaRPr>
          </a:p>
        </p:txBody>
      </p:sp>
      <p:sp>
        <p:nvSpPr>
          <p:cNvPr id="26629" name="Rectangle 5"/>
          <p:cNvSpPr>
            <a:spLocks noChangeArrowheads="1"/>
          </p:cNvSpPr>
          <p:nvPr/>
        </p:nvSpPr>
        <p:spPr bwMode="auto">
          <a:xfrm>
            <a:off x="304800" y="5934075"/>
            <a:ext cx="8064500" cy="54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ts val="200"/>
              </a:spcBef>
              <a:buClr>
                <a:schemeClr val="accent2"/>
              </a:buClr>
              <a:buFont typeface="Arial" panose="020B0604020202020204" pitchFamily="34" charset="0"/>
              <a:buNone/>
            </a:pPr>
            <a:r>
              <a:rPr lang="en-US" altLang="fr-FR">
                <a:solidFill>
                  <a:srgbClr val="000080"/>
                </a:solidFill>
              </a:rPr>
              <a:t>*Source: </a:t>
            </a:r>
            <a:r>
              <a:rPr lang="en-US" altLang="fr-FR" i="1">
                <a:solidFill>
                  <a:srgbClr val="000080"/>
                </a:solidFill>
              </a:rPr>
              <a:t>The Unified Modeling Language Reference Manual. </a:t>
            </a:r>
            <a:r>
              <a:rPr lang="en-US" altLang="fr-FR">
                <a:solidFill>
                  <a:srgbClr val="000080"/>
                </a:solidFill>
              </a:rPr>
              <a:t>par James Rumbaugh, Ivar Jacobson, </a:t>
            </a:r>
          </a:p>
          <a:p>
            <a:pPr>
              <a:spcBef>
                <a:spcPts val="200"/>
              </a:spcBef>
              <a:buClr>
                <a:schemeClr val="accent2"/>
              </a:buClr>
              <a:buFont typeface="Arial" panose="020B0604020202020204" pitchFamily="34" charset="0"/>
              <a:buNone/>
            </a:pPr>
            <a:r>
              <a:rPr lang="en-US" altLang="fr-FR">
                <a:solidFill>
                  <a:srgbClr val="000080"/>
                </a:solidFill>
              </a:rPr>
              <a:t>et Grady Booch. Éditions : Addison-Wesley, 1998.</a:t>
            </a:r>
          </a:p>
        </p:txBody>
      </p:sp>
    </p:spTree>
    <p:extLst>
      <p:ext uri="{BB962C8B-B14F-4D97-AF65-F5344CB8AC3E}">
        <p14:creationId xmlns:p14="http://schemas.microsoft.com/office/powerpoint/2010/main" val="13693266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fr-FR" altLang="fr-FR"/>
              <a:t>Symbole d’acteur en UML</a:t>
            </a:r>
          </a:p>
        </p:txBody>
      </p:sp>
      <p:sp>
        <p:nvSpPr>
          <p:cNvPr id="30723" name="Rectangle 3"/>
          <p:cNvSpPr>
            <a:spLocks noGrp="1" noChangeArrowheads="1"/>
          </p:cNvSpPr>
          <p:nvPr>
            <p:ph type="body" idx="1"/>
          </p:nvPr>
        </p:nvSpPr>
        <p:spPr>
          <a:xfrm>
            <a:off x="279400" y="1312863"/>
            <a:ext cx="8599488" cy="941387"/>
          </a:xfrm>
        </p:spPr>
        <p:txBody>
          <a:bodyPr/>
          <a:lstStyle/>
          <a:p>
            <a:r>
              <a:rPr lang="fr-FR" altLang="fr-FR"/>
              <a:t>Représenté par un “Bonhomme stylisé”</a:t>
            </a:r>
          </a:p>
          <a:p>
            <a:pPr lvl="1"/>
            <a:r>
              <a:rPr lang="fr-FR" altLang="fr-FR"/>
              <a:t>Un acteur est un type de classe et peut donc être représenté </a:t>
            </a:r>
            <a:br>
              <a:rPr lang="fr-FR" altLang="fr-FR"/>
            </a:br>
            <a:r>
              <a:rPr lang="fr-FR" altLang="fr-FR"/>
              <a:t>sous la forme d’une classe avec un stéréotype</a:t>
            </a:r>
          </a:p>
        </p:txBody>
      </p:sp>
      <p:grpSp>
        <p:nvGrpSpPr>
          <p:cNvPr id="30739" name="Group 19"/>
          <p:cNvGrpSpPr>
            <a:grpSpLocks/>
          </p:cNvGrpSpPr>
          <p:nvPr/>
        </p:nvGrpSpPr>
        <p:grpSpPr bwMode="auto">
          <a:xfrm>
            <a:off x="2057400" y="3657600"/>
            <a:ext cx="493713" cy="952500"/>
            <a:chOff x="1488" y="2016"/>
            <a:chExt cx="311" cy="600"/>
          </a:xfrm>
        </p:grpSpPr>
        <p:sp>
          <p:nvSpPr>
            <p:cNvPr id="30730" name="Oval 10"/>
            <p:cNvSpPr>
              <a:spLocks noChangeArrowheads="1"/>
            </p:cNvSpPr>
            <p:nvPr/>
          </p:nvSpPr>
          <p:spPr bwMode="auto">
            <a:xfrm>
              <a:off x="1545" y="2016"/>
              <a:ext cx="191" cy="192"/>
            </a:xfrm>
            <a:prstGeom prst="ellipse">
              <a:avLst/>
            </a:prstGeom>
            <a:solidFill>
              <a:srgbClr val="FFFFFF"/>
            </a:solidFill>
            <a:ln w="9525">
              <a:solidFill>
                <a:schemeClr val="tx1"/>
              </a:solidFill>
              <a:round/>
              <a:headEnd/>
              <a:tailEnd/>
            </a:ln>
          </p:spPr>
          <p:txBody>
            <a:bodyPr/>
            <a:lstStyle/>
            <a:p>
              <a:endParaRPr lang="fr-FR">
                <a:solidFill>
                  <a:schemeClr val="tx2"/>
                </a:solidFill>
              </a:endParaRPr>
            </a:p>
          </p:txBody>
        </p:sp>
        <p:sp>
          <p:nvSpPr>
            <p:cNvPr id="30731" name="Line 11"/>
            <p:cNvSpPr>
              <a:spLocks noChangeShapeType="1"/>
            </p:cNvSpPr>
            <p:nvPr/>
          </p:nvSpPr>
          <p:spPr bwMode="auto">
            <a:xfrm>
              <a:off x="1632" y="2208"/>
              <a:ext cx="0" cy="23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sp>
          <p:nvSpPr>
            <p:cNvPr id="30732" name="Line 12"/>
            <p:cNvSpPr>
              <a:spLocks noChangeShapeType="1"/>
            </p:cNvSpPr>
            <p:nvPr/>
          </p:nvSpPr>
          <p:spPr bwMode="auto">
            <a:xfrm>
              <a:off x="1488" y="2304"/>
              <a:ext cx="28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sp>
          <p:nvSpPr>
            <p:cNvPr id="30733" name="Line 13"/>
            <p:cNvSpPr>
              <a:spLocks noChangeShapeType="1"/>
            </p:cNvSpPr>
            <p:nvPr/>
          </p:nvSpPr>
          <p:spPr bwMode="auto">
            <a:xfrm flipH="1">
              <a:off x="1488" y="2448"/>
              <a:ext cx="144" cy="1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sp>
          <p:nvSpPr>
            <p:cNvPr id="30734" name="Line 14"/>
            <p:cNvSpPr>
              <a:spLocks noChangeShapeType="1"/>
            </p:cNvSpPr>
            <p:nvPr/>
          </p:nvSpPr>
          <p:spPr bwMode="auto">
            <a:xfrm>
              <a:off x="1632" y="2448"/>
              <a:ext cx="167" cy="1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grpSp>
      <p:sp>
        <p:nvSpPr>
          <p:cNvPr id="30735" name="Text Box 15"/>
          <p:cNvSpPr txBox="1">
            <a:spLocks noChangeArrowheads="1"/>
          </p:cNvSpPr>
          <p:nvPr/>
        </p:nvSpPr>
        <p:spPr bwMode="auto">
          <a:xfrm>
            <a:off x="1524000" y="4572000"/>
            <a:ext cx="1524000"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fr-FR" altLang="fr-FR" sz="1600" b="1">
                <a:solidFill>
                  <a:schemeClr val="tx2"/>
                </a:solidFill>
              </a:rPr>
              <a:t>Conducteur</a:t>
            </a:r>
          </a:p>
        </p:txBody>
      </p:sp>
      <p:sp>
        <p:nvSpPr>
          <p:cNvPr id="30736" name="Text Box 16"/>
          <p:cNvSpPr txBox="1">
            <a:spLocks noChangeArrowheads="1"/>
          </p:cNvSpPr>
          <p:nvPr/>
        </p:nvSpPr>
        <p:spPr bwMode="auto">
          <a:xfrm>
            <a:off x="5435600" y="3341688"/>
            <a:ext cx="18034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altLang="fr-FR" i="1">
                <a:solidFill>
                  <a:schemeClr val="tx2"/>
                </a:solidFill>
                <a:latin typeface="Lucida Sans" pitchFamily="34" charset="0"/>
              </a:rPr>
              <a:t>Symbole d’acteur</a:t>
            </a:r>
          </a:p>
          <a:p>
            <a:endParaRPr lang="fr-FR" altLang="fr-FR" i="1">
              <a:solidFill>
                <a:schemeClr val="tx2"/>
              </a:solidFill>
              <a:latin typeface="Lucida Sans" pitchFamily="34" charset="0"/>
            </a:endParaRPr>
          </a:p>
          <a:p>
            <a:endParaRPr lang="fr-FR" altLang="fr-FR" i="1">
              <a:solidFill>
                <a:schemeClr val="tx2"/>
              </a:solidFill>
              <a:latin typeface="Lucida Sans" pitchFamily="34" charset="0"/>
            </a:endParaRPr>
          </a:p>
          <a:p>
            <a:r>
              <a:rPr lang="fr-FR" altLang="fr-FR" i="1">
                <a:solidFill>
                  <a:schemeClr val="tx2"/>
                </a:solidFill>
                <a:latin typeface="Lucida Sans" pitchFamily="34" charset="0"/>
              </a:rPr>
              <a:t>Nom de l’acteur</a:t>
            </a:r>
          </a:p>
        </p:txBody>
      </p:sp>
      <p:sp>
        <p:nvSpPr>
          <p:cNvPr id="30737" name="Line 17"/>
          <p:cNvSpPr>
            <a:spLocks noChangeShapeType="1"/>
          </p:cNvSpPr>
          <p:nvPr/>
        </p:nvSpPr>
        <p:spPr bwMode="auto">
          <a:xfrm flipH="1">
            <a:off x="2743200" y="3505200"/>
            <a:ext cx="2667000" cy="457200"/>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sp>
        <p:nvSpPr>
          <p:cNvPr id="30738" name="Line 18"/>
          <p:cNvSpPr>
            <a:spLocks noChangeShapeType="1"/>
          </p:cNvSpPr>
          <p:nvPr/>
        </p:nvSpPr>
        <p:spPr bwMode="auto">
          <a:xfrm flipH="1">
            <a:off x="2895600" y="4114800"/>
            <a:ext cx="2514600" cy="609600"/>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spTree>
    <p:extLst>
      <p:ext uri="{BB962C8B-B14F-4D97-AF65-F5344CB8AC3E}">
        <p14:creationId xmlns:p14="http://schemas.microsoft.com/office/powerpoint/2010/main" val="37458523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fr-FR" altLang="fr-FR"/>
              <a:t>Qu’est-ce qu’un cas d’utilisation ?</a:t>
            </a:r>
          </a:p>
        </p:txBody>
      </p:sp>
      <p:sp>
        <p:nvSpPr>
          <p:cNvPr id="33795" name="Rectangle 3"/>
          <p:cNvSpPr>
            <a:spLocks noGrp="1" noChangeArrowheads="1"/>
          </p:cNvSpPr>
          <p:nvPr>
            <p:ph type="body" idx="1"/>
          </p:nvPr>
        </p:nvSpPr>
        <p:spPr>
          <a:xfrm>
            <a:off x="304800" y="2819400"/>
            <a:ext cx="8599488" cy="1216025"/>
          </a:xfrm>
        </p:spPr>
        <p:txBody>
          <a:bodyPr/>
          <a:lstStyle/>
          <a:p>
            <a:r>
              <a:rPr lang="fr-FR" altLang="fr-FR"/>
              <a:t>Le cas d’utilisation montre une vue utilisateur du comportement du système</a:t>
            </a:r>
          </a:p>
          <a:p>
            <a:pPr lvl="1"/>
            <a:r>
              <a:rPr lang="fr-FR" altLang="fr-FR"/>
              <a:t>L’ensemble de tous les cas d’utilisation identifiés pour un système décrit tous les comportements connus, visibles depuis l’extérieur</a:t>
            </a:r>
          </a:p>
        </p:txBody>
      </p:sp>
      <p:sp>
        <p:nvSpPr>
          <p:cNvPr id="33796" name="Text Box 4"/>
          <p:cNvSpPr txBox="1">
            <a:spLocks noChangeArrowheads="1"/>
          </p:cNvSpPr>
          <p:nvPr/>
        </p:nvSpPr>
        <p:spPr bwMode="blackWhite">
          <a:xfrm>
            <a:off x="1143000" y="1447800"/>
            <a:ext cx="6858000" cy="1042988"/>
          </a:xfrm>
          <a:prstGeom prst="rect">
            <a:avLst/>
          </a:prstGeom>
          <a:solidFill>
            <a:srgbClr val="FFFFCC"/>
          </a:solidFill>
          <a:ln w="12700">
            <a:solidFill>
              <a:schemeClr val="tx1"/>
            </a:solidFill>
            <a:miter lim="800000"/>
            <a:headEnd/>
            <a:tailEnd/>
          </a:ln>
          <a:effectLst>
            <a:outerShdw dist="35921" dir="2700000" algn="ctr" rotWithShape="0">
              <a:schemeClr val="tx1"/>
            </a:outerShdw>
          </a:effectLst>
        </p:spPr>
        <p:txBody>
          <a:bodyPr/>
          <a:lstStyle/>
          <a:p>
            <a:pPr algn="ctr"/>
            <a:r>
              <a:rPr lang="fr-FR" altLang="fr-FR" sz="1800" b="1" i="1" dirty="0">
                <a:solidFill>
                  <a:schemeClr val="tx2"/>
                </a:solidFill>
                <a:latin typeface="Century Schoolbook" pitchFamily="18" charset="0"/>
              </a:rPr>
              <a:t>“La spécification d’une séquence d’actions … qu’un système, un sous-système, ou une classe peut effectuer en interagissant avec des acteurs externes”</a:t>
            </a:r>
            <a:r>
              <a:rPr lang="fr-FR" altLang="fr-FR" sz="1800" b="1" i="1" baseline="30000" dirty="0">
                <a:solidFill>
                  <a:schemeClr val="tx2"/>
                </a:solidFill>
                <a:latin typeface="Century Schoolbook" pitchFamily="18" charset="0"/>
              </a:rPr>
              <a:t>*</a:t>
            </a:r>
            <a:endParaRPr lang="fr-FR" altLang="fr-FR" sz="1800" b="1" i="1" dirty="0">
              <a:solidFill>
                <a:schemeClr val="tx2"/>
              </a:solidFill>
              <a:latin typeface="Century Schoolbook" pitchFamily="18" charset="0"/>
            </a:endParaRPr>
          </a:p>
          <a:p>
            <a:endParaRPr lang="fr-FR" altLang="fr-FR" sz="1200" dirty="0">
              <a:solidFill>
                <a:schemeClr val="tx2"/>
              </a:solidFill>
            </a:endParaRPr>
          </a:p>
        </p:txBody>
      </p:sp>
      <p:sp>
        <p:nvSpPr>
          <p:cNvPr id="33797" name="Rectangle 5"/>
          <p:cNvSpPr>
            <a:spLocks noChangeArrowheads="1"/>
          </p:cNvSpPr>
          <p:nvPr/>
        </p:nvSpPr>
        <p:spPr bwMode="auto">
          <a:xfrm>
            <a:off x="304800" y="5934075"/>
            <a:ext cx="8064500" cy="54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ts val="200"/>
              </a:spcBef>
              <a:buClr>
                <a:schemeClr val="accent2"/>
              </a:buClr>
              <a:buFont typeface="Arial" panose="020B0604020202020204" pitchFamily="34" charset="0"/>
              <a:buNone/>
            </a:pPr>
            <a:r>
              <a:rPr lang="en-US" altLang="fr-FR">
                <a:solidFill>
                  <a:srgbClr val="000080"/>
                </a:solidFill>
              </a:rPr>
              <a:t>*Source: </a:t>
            </a:r>
            <a:r>
              <a:rPr lang="en-US" altLang="fr-FR" i="1">
                <a:solidFill>
                  <a:srgbClr val="000080"/>
                </a:solidFill>
              </a:rPr>
              <a:t>The Unified Modeling Language Reference Manual. </a:t>
            </a:r>
            <a:r>
              <a:rPr lang="en-US" altLang="fr-FR">
                <a:solidFill>
                  <a:srgbClr val="000080"/>
                </a:solidFill>
              </a:rPr>
              <a:t>par James Rumbaugh, Ivar Jacobson, </a:t>
            </a:r>
          </a:p>
          <a:p>
            <a:pPr>
              <a:spcBef>
                <a:spcPts val="200"/>
              </a:spcBef>
              <a:buClr>
                <a:schemeClr val="accent2"/>
              </a:buClr>
              <a:buFont typeface="Arial" panose="020B0604020202020204" pitchFamily="34" charset="0"/>
              <a:buNone/>
            </a:pPr>
            <a:r>
              <a:rPr lang="en-US" altLang="fr-FR">
                <a:solidFill>
                  <a:srgbClr val="000080"/>
                </a:solidFill>
              </a:rPr>
              <a:t>et Grady Booch. Éditions : Addison-Wesley, 1998.</a:t>
            </a:r>
          </a:p>
        </p:txBody>
      </p:sp>
    </p:spTree>
    <p:extLst>
      <p:ext uri="{BB962C8B-B14F-4D97-AF65-F5344CB8AC3E}">
        <p14:creationId xmlns:p14="http://schemas.microsoft.com/office/powerpoint/2010/main" val="32504732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fr-FR" altLang="fr-FR"/>
              <a:t>Le symbole de cas d’utilisation en UML</a:t>
            </a:r>
          </a:p>
        </p:txBody>
      </p:sp>
      <p:sp>
        <p:nvSpPr>
          <p:cNvPr id="37891" name="Rectangle 3"/>
          <p:cNvSpPr>
            <a:spLocks noGrp="1" noChangeArrowheads="1"/>
          </p:cNvSpPr>
          <p:nvPr>
            <p:ph type="body" idx="1"/>
          </p:nvPr>
        </p:nvSpPr>
        <p:spPr>
          <a:xfrm>
            <a:off x="279400" y="1312863"/>
            <a:ext cx="8599488" cy="1968500"/>
          </a:xfrm>
        </p:spPr>
        <p:txBody>
          <a:bodyPr/>
          <a:lstStyle/>
          <a:p>
            <a:r>
              <a:rPr lang="fr-FR" altLang="fr-FR"/>
              <a:t>Normalement représenté par une ellipse</a:t>
            </a:r>
          </a:p>
          <a:p>
            <a:pPr lvl="1"/>
            <a:r>
              <a:rPr lang="fr-FR" altLang="fr-FR"/>
              <a:t>Un cas d’utilisation est un type de classe, il peut donc être </a:t>
            </a:r>
            <a:br>
              <a:rPr lang="fr-FR" altLang="fr-FR"/>
            </a:br>
            <a:r>
              <a:rPr lang="fr-FR" altLang="fr-FR"/>
              <a:t>représenté sous la forme d’une classe avec un stéréotype</a:t>
            </a:r>
          </a:p>
          <a:p>
            <a:r>
              <a:rPr lang="fr-FR" altLang="fr-FR"/>
              <a:t>Les acteurs communiquent avec les cas d’utilisation</a:t>
            </a:r>
          </a:p>
          <a:p>
            <a:pPr lvl="1"/>
            <a:r>
              <a:rPr lang="fr-FR" altLang="fr-FR"/>
              <a:t>Les acteurs déclenchent les cas d’utilisation, leur transmettent et/ou en reçoivent des informations</a:t>
            </a:r>
          </a:p>
        </p:txBody>
      </p:sp>
      <p:pic>
        <p:nvPicPr>
          <p:cNvPr id="37899" name="Picture 11" descr="3-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3975" y="3429000"/>
            <a:ext cx="6494463" cy="2419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62611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fr-FR" altLang="fr-FR"/>
              <a:t>Description d’un cas d’utilisation</a:t>
            </a:r>
          </a:p>
        </p:txBody>
      </p:sp>
      <p:sp>
        <p:nvSpPr>
          <p:cNvPr id="39939" name="Rectangle 3"/>
          <p:cNvSpPr>
            <a:spLocks noGrp="1" noChangeArrowheads="1"/>
          </p:cNvSpPr>
          <p:nvPr>
            <p:ph type="body" idx="1"/>
          </p:nvPr>
        </p:nvSpPr>
        <p:spPr>
          <a:xfrm>
            <a:off x="279400" y="1312863"/>
            <a:ext cx="8599488" cy="4648200"/>
          </a:xfrm>
        </p:spPr>
        <p:txBody>
          <a:bodyPr/>
          <a:lstStyle/>
          <a:p>
            <a:r>
              <a:rPr lang="fr-FR" altLang="fr-FR"/>
              <a:t>Pour chaque cas d’utilisation, on doit décrire</a:t>
            </a:r>
          </a:p>
          <a:p>
            <a:pPr lvl="1"/>
            <a:r>
              <a:rPr lang="fr-FR" altLang="fr-FR"/>
              <a:t>Quand et comment il commence et se finit</a:t>
            </a:r>
          </a:p>
          <a:p>
            <a:pPr lvl="1"/>
            <a:r>
              <a:rPr lang="fr-FR" altLang="fr-FR"/>
              <a:t>Les informations échangées vers ou depuis l’acteur</a:t>
            </a:r>
          </a:p>
          <a:p>
            <a:pPr lvl="1"/>
            <a:r>
              <a:rPr lang="fr-FR" altLang="fr-FR"/>
              <a:t>Le comportement du système détectable depuis l'extérieur</a:t>
            </a:r>
          </a:p>
          <a:p>
            <a:r>
              <a:rPr lang="fr-FR" altLang="fr-FR"/>
              <a:t>Habituellement, un cas d’utilisation comprend une séquence principale de comportement</a:t>
            </a:r>
          </a:p>
          <a:p>
            <a:pPr lvl="1"/>
            <a:r>
              <a:rPr lang="fr-FR" altLang="fr-FR"/>
              <a:t>Parfois des séquences alternatives, d’erreur ou exceptionnelles peuvent être décrites</a:t>
            </a:r>
          </a:p>
          <a:p>
            <a:r>
              <a:rPr lang="fr-FR" altLang="fr-FR"/>
              <a:t>Peut être décrit en utilisant du texte</a:t>
            </a:r>
          </a:p>
          <a:p>
            <a:pPr lvl="1"/>
            <a:r>
              <a:rPr lang="fr-FR" altLang="fr-FR"/>
              <a:t>En dehors du diagramme ou attaché sous forme de notes</a:t>
            </a:r>
          </a:p>
          <a:p>
            <a:pPr lvl="1"/>
            <a:r>
              <a:rPr lang="fr-FR" altLang="fr-FR"/>
              <a:t>Imprécis mais souvent suffisant lorsqu’on travaille au niveau conceptuel</a:t>
            </a:r>
          </a:p>
          <a:p>
            <a:r>
              <a:rPr lang="fr-FR" altLang="fr-FR"/>
              <a:t>Peut être décrit en utilisant d’autres diagrammes UML</a:t>
            </a:r>
          </a:p>
          <a:p>
            <a:pPr lvl="1"/>
            <a:r>
              <a:rPr lang="fr-FR" altLang="fr-FR"/>
              <a:t>Diagrammes de séquence, de communication, d’états, </a:t>
            </a:r>
            <a:br>
              <a:rPr lang="fr-FR" altLang="fr-FR"/>
            </a:br>
            <a:r>
              <a:rPr lang="fr-FR" altLang="fr-FR"/>
              <a:t>ou d’activité</a:t>
            </a:r>
          </a:p>
        </p:txBody>
      </p:sp>
    </p:spTree>
    <p:extLst>
      <p:ext uri="{BB962C8B-B14F-4D97-AF65-F5344CB8AC3E}">
        <p14:creationId xmlns:p14="http://schemas.microsoft.com/office/powerpoint/2010/main" val="25538332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fr-FR" altLang="fr-FR"/>
              <a:t>Description textuelle d’un cas d’utilisation</a:t>
            </a:r>
          </a:p>
        </p:txBody>
      </p:sp>
      <p:sp>
        <p:nvSpPr>
          <p:cNvPr id="41988" name="Text Box 4"/>
          <p:cNvSpPr txBox="1">
            <a:spLocks noChangeArrowheads="1"/>
          </p:cNvSpPr>
          <p:nvPr/>
        </p:nvSpPr>
        <p:spPr bwMode="blackWhite">
          <a:xfrm>
            <a:off x="609600" y="1828800"/>
            <a:ext cx="7956550" cy="4121150"/>
          </a:xfrm>
          <a:prstGeom prst="rect">
            <a:avLst/>
          </a:prstGeom>
          <a:solidFill>
            <a:srgbClr val="FFFFCC"/>
          </a:solidFill>
          <a:ln w="12700">
            <a:solidFill>
              <a:schemeClr val="tx1"/>
            </a:solidFill>
            <a:miter lim="800000"/>
            <a:headEnd/>
            <a:tailEnd/>
          </a:ln>
          <a:effectLst>
            <a:outerShdw dist="35921" dir="2700000" algn="ctr" rotWithShape="0">
              <a:schemeClr val="tx1"/>
            </a:outerShdw>
          </a:effectLst>
        </p:spPr>
        <p:txBody>
          <a:bodyPr/>
          <a:lstStyle>
            <a:lvl1pPr marL="2236788" indent="-2236788" defTabSz="273050">
              <a:tabLst>
                <a:tab pos="1976438" algn="l"/>
              </a:tabLst>
              <a:defRPr sz="2400">
                <a:solidFill>
                  <a:schemeClr val="tx1"/>
                </a:solidFill>
                <a:latin typeface="Times New Roman" panose="02020603050405020304" pitchFamily="18" charset="0"/>
              </a:defRPr>
            </a:lvl1pPr>
            <a:lvl2pPr marL="2601913" defTabSz="273050">
              <a:tabLst>
                <a:tab pos="1976438" algn="l"/>
              </a:tabLst>
              <a:defRPr sz="2400">
                <a:solidFill>
                  <a:schemeClr val="tx1"/>
                </a:solidFill>
                <a:latin typeface="Times New Roman" panose="02020603050405020304" pitchFamily="18" charset="0"/>
              </a:defRPr>
            </a:lvl2pPr>
            <a:lvl3pPr marL="2781300" defTabSz="273050">
              <a:tabLst>
                <a:tab pos="1976438" algn="l"/>
              </a:tabLst>
              <a:defRPr sz="2400">
                <a:solidFill>
                  <a:schemeClr val="tx1"/>
                </a:solidFill>
                <a:latin typeface="Times New Roman" panose="02020603050405020304" pitchFamily="18" charset="0"/>
              </a:defRPr>
            </a:lvl3pPr>
            <a:lvl4pPr marL="2960688" defTabSz="273050">
              <a:tabLst>
                <a:tab pos="1976438" algn="l"/>
              </a:tabLst>
              <a:defRPr sz="2400">
                <a:solidFill>
                  <a:schemeClr val="tx1"/>
                </a:solidFill>
                <a:latin typeface="Times New Roman" panose="02020603050405020304" pitchFamily="18" charset="0"/>
              </a:defRPr>
            </a:lvl4pPr>
            <a:lvl5pPr marL="3140075" defTabSz="273050">
              <a:tabLst>
                <a:tab pos="1976438" algn="l"/>
              </a:tabLst>
              <a:defRPr sz="2400">
                <a:solidFill>
                  <a:schemeClr val="tx1"/>
                </a:solidFill>
                <a:latin typeface="Times New Roman" panose="02020603050405020304" pitchFamily="18" charset="0"/>
              </a:defRPr>
            </a:lvl5pPr>
            <a:lvl6pPr marL="3597275" defTabSz="273050" fontAlgn="base">
              <a:spcBef>
                <a:spcPct val="0"/>
              </a:spcBef>
              <a:spcAft>
                <a:spcPct val="0"/>
              </a:spcAft>
              <a:tabLst>
                <a:tab pos="1976438" algn="l"/>
              </a:tabLst>
              <a:defRPr sz="2400">
                <a:solidFill>
                  <a:schemeClr val="tx1"/>
                </a:solidFill>
                <a:latin typeface="Times New Roman" panose="02020603050405020304" pitchFamily="18" charset="0"/>
              </a:defRPr>
            </a:lvl6pPr>
            <a:lvl7pPr marL="4054475" defTabSz="273050" fontAlgn="base">
              <a:spcBef>
                <a:spcPct val="0"/>
              </a:spcBef>
              <a:spcAft>
                <a:spcPct val="0"/>
              </a:spcAft>
              <a:tabLst>
                <a:tab pos="1976438" algn="l"/>
              </a:tabLst>
              <a:defRPr sz="2400">
                <a:solidFill>
                  <a:schemeClr val="tx1"/>
                </a:solidFill>
                <a:latin typeface="Times New Roman" panose="02020603050405020304" pitchFamily="18" charset="0"/>
              </a:defRPr>
            </a:lvl7pPr>
            <a:lvl8pPr marL="4511675" defTabSz="273050" fontAlgn="base">
              <a:spcBef>
                <a:spcPct val="0"/>
              </a:spcBef>
              <a:spcAft>
                <a:spcPct val="0"/>
              </a:spcAft>
              <a:tabLst>
                <a:tab pos="1976438" algn="l"/>
              </a:tabLst>
              <a:defRPr sz="2400">
                <a:solidFill>
                  <a:schemeClr val="tx1"/>
                </a:solidFill>
                <a:latin typeface="Times New Roman" panose="02020603050405020304" pitchFamily="18" charset="0"/>
              </a:defRPr>
            </a:lvl8pPr>
            <a:lvl9pPr marL="4968875" defTabSz="273050" fontAlgn="base">
              <a:spcBef>
                <a:spcPct val="0"/>
              </a:spcBef>
              <a:spcAft>
                <a:spcPct val="0"/>
              </a:spcAft>
              <a:tabLst>
                <a:tab pos="1976438" algn="l"/>
              </a:tabLst>
              <a:defRPr sz="2400">
                <a:solidFill>
                  <a:schemeClr val="tx1"/>
                </a:solidFill>
                <a:latin typeface="Times New Roman" panose="02020603050405020304" pitchFamily="18" charset="0"/>
              </a:defRPr>
            </a:lvl9pPr>
          </a:lstStyle>
          <a:p>
            <a:r>
              <a:rPr lang="fr-FR" altLang="fr-FR" sz="1600" dirty="0">
                <a:solidFill>
                  <a:schemeClr val="tx2"/>
                </a:solidFill>
                <a:latin typeface="Arial" panose="020B0604020202020204" pitchFamily="34" charset="0"/>
              </a:rPr>
              <a:t>Cas d’utilisation	: 	Arriver sur les lieux</a:t>
            </a:r>
          </a:p>
          <a:p>
            <a:endParaRPr lang="fr-FR" altLang="fr-FR" sz="1600" dirty="0">
              <a:solidFill>
                <a:schemeClr val="tx2"/>
              </a:solidFill>
              <a:latin typeface="Arial" panose="020B0604020202020204" pitchFamily="34" charset="0"/>
            </a:endParaRPr>
          </a:p>
          <a:p>
            <a:r>
              <a:rPr lang="fr-FR" altLang="fr-FR" sz="1600" dirty="0">
                <a:solidFill>
                  <a:schemeClr val="tx2"/>
                </a:solidFill>
                <a:latin typeface="Arial" panose="020B0604020202020204" pitchFamily="34" charset="0"/>
              </a:rPr>
              <a:t>Déclenché par 	: 	Conducteur</a:t>
            </a:r>
          </a:p>
          <a:p>
            <a:endParaRPr lang="fr-FR" altLang="fr-FR" sz="1600" dirty="0">
              <a:solidFill>
                <a:schemeClr val="tx2"/>
              </a:solidFill>
              <a:latin typeface="Arial" panose="020B0604020202020204" pitchFamily="34" charset="0"/>
            </a:endParaRPr>
          </a:p>
          <a:p>
            <a:r>
              <a:rPr lang="fr-FR" altLang="fr-FR" sz="1600" dirty="0">
                <a:solidFill>
                  <a:schemeClr val="tx2"/>
                </a:solidFill>
                <a:latin typeface="Arial" panose="020B0604020202020204" pitchFamily="34" charset="0"/>
              </a:rPr>
              <a:t>Autre acteur impliqué	:	Coordinateur</a:t>
            </a:r>
          </a:p>
          <a:p>
            <a:endParaRPr lang="fr-FR" altLang="fr-FR" sz="1600" dirty="0">
              <a:solidFill>
                <a:schemeClr val="tx2"/>
              </a:solidFill>
              <a:latin typeface="Arial" panose="020B0604020202020204" pitchFamily="34" charset="0"/>
            </a:endParaRPr>
          </a:p>
          <a:p>
            <a:r>
              <a:rPr lang="fr-FR" altLang="fr-FR" sz="1600" dirty="0">
                <a:solidFill>
                  <a:schemeClr val="tx2"/>
                </a:solidFill>
                <a:latin typeface="Arial" panose="020B0604020202020204" pitchFamily="34" charset="0"/>
              </a:rPr>
              <a:t>Description	: 	Quand l’ambulance arrive sur les lieux d’un accident, le conducteur doit d’abord s’identifier auprès du système. Une fois identifié avec succès, le conducteur fournit des détails sur l’accident : lieu, nombre estimé de victimes nécessitant un transport en ambulance et d’autres renseignements comme par exemple les arrêts cardiaques présumés.</a:t>
            </a:r>
          </a:p>
          <a:p>
            <a:endParaRPr lang="fr-FR" altLang="fr-FR" sz="1600" dirty="0">
              <a:solidFill>
                <a:schemeClr val="tx2"/>
              </a:solidFill>
              <a:latin typeface="Arial" panose="020B0604020202020204" pitchFamily="34" charset="0"/>
            </a:endParaRPr>
          </a:p>
          <a:p>
            <a:r>
              <a:rPr lang="fr-FR" altLang="fr-FR" sz="1600" dirty="0">
                <a:solidFill>
                  <a:schemeClr val="tx2"/>
                </a:solidFill>
                <a:latin typeface="Arial" panose="020B0604020202020204" pitchFamily="34" charset="0"/>
              </a:rPr>
              <a:t>Chemin Alternatif	:	Si un identifiant invalide est fourni par le conducteur, ce dernier est prévenu. En cas de nouvel insuccès, une alarme est envoyée à la centrale.</a:t>
            </a:r>
          </a:p>
        </p:txBody>
      </p:sp>
    </p:spTree>
    <p:extLst>
      <p:ext uri="{BB962C8B-B14F-4D97-AF65-F5344CB8AC3E}">
        <p14:creationId xmlns:p14="http://schemas.microsoft.com/office/powerpoint/2010/main" val="21217060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179388" y="160338"/>
            <a:ext cx="8785225" cy="725487"/>
          </a:xfrm>
        </p:spPr>
        <p:txBody>
          <a:bodyPr/>
          <a:lstStyle/>
          <a:p>
            <a:r>
              <a:rPr lang="fr-FR" altLang="fr-FR"/>
              <a:t>Système d’expédition des ambulances : Diagramme de cas d’utilisation</a:t>
            </a:r>
          </a:p>
        </p:txBody>
      </p:sp>
      <p:pic>
        <p:nvPicPr>
          <p:cNvPr id="43012" name="Picture 4" descr="Use Cases (sans extensions - avec notes)_UseCaseDiagra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905000"/>
            <a:ext cx="7624763" cy="33766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5477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r>
              <a:rPr lang="fr-FR" altLang="fr-FR"/>
              <a:t> Limites du système</a:t>
            </a:r>
          </a:p>
        </p:txBody>
      </p:sp>
      <p:sp>
        <p:nvSpPr>
          <p:cNvPr id="47107" name="Rectangle 3"/>
          <p:cNvSpPr>
            <a:spLocks noGrp="1" noChangeArrowheads="1"/>
          </p:cNvSpPr>
          <p:nvPr>
            <p:ph type="body" idx="1"/>
          </p:nvPr>
        </p:nvSpPr>
        <p:spPr>
          <a:xfrm>
            <a:off x="279400" y="1312863"/>
            <a:ext cx="8599488" cy="4394200"/>
          </a:xfrm>
        </p:spPr>
        <p:txBody>
          <a:bodyPr/>
          <a:lstStyle/>
          <a:p>
            <a:r>
              <a:rPr lang="fr-FR" altLang="fr-FR" dirty="0"/>
              <a:t>Les </a:t>
            </a:r>
            <a:r>
              <a:rPr lang="fr-FR" altLang="fr-FR" i="1" dirty="0">
                <a:latin typeface="Century Schoolbook" pitchFamily="18" charset="0"/>
              </a:rPr>
              <a:t>limites</a:t>
            </a:r>
            <a:r>
              <a:rPr lang="fr-FR" altLang="fr-FR" dirty="0">
                <a:latin typeface="Century Schoolbook" pitchFamily="18" charset="0"/>
              </a:rPr>
              <a:t> </a:t>
            </a:r>
            <a:r>
              <a:rPr lang="fr-FR" altLang="fr-FR" dirty="0"/>
              <a:t>(</a:t>
            </a:r>
            <a:r>
              <a:rPr lang="fr-FR" altLang="fr-FR" i="1" dirty="0">
                <a:latin typeface="Century Schoolbook" pitchFamily="18" charset="0"/>
              </a:rPr>
              <a:t>frontières</a:t>
            </a:r>
            <a:r>
              <a:rPr lang="fr-FR" altLang="fr-FR" dirty="0"/>
              <a:t>)</a:t>
            </a:r>
            <a:r>
              <a:rPr lang="fr-FR" altLang="fr-FR" dirty="0">
                <a:latin typeface="Century Schoolbook" pitchFamily="18" charset="0"/>
              </a:rPr>
              <a:t> </a:t>
            </a:r>
            <a:r>
              <a:rPr lang="fr-FR" altLang="fr-FR" i="1" dirty="0">
                <a:latin typeface="Century Schoolbook" pitchFamily="18" charset="0"/>
              </a:rPr>
              <a:t>du système</a:t>
            </a:r>
            <a:r>
              <a:rPr lang="fr-FR" altLang="fr-FR" dirty="0"/>
              <a:t> distinguent ce qui est modélisé, du monde extérieur</a:t>
            </a:r>
          </a:p>
          <a:p>
            <a:pPr lvl="1"/>
            <a:r>
              <a:rPr lang="fr-FR" altLang="fr-FR" dirty="0"/>
              <a:t>Ce qui est considéré comme le monde extérieur à un niveau de granularité donné peut, en fait, se situer à l’intérieur d’un autre système</a:t>
            </a:r>
          </a:p>
          <a:p>
            <a:r>
              <a:rPr lang="fr-FR" altLang="fr-FR" dirty="0"/>
              <a:t>Les limites du système sont symbolisées par un </a:t>
            </a:r>
            <a:br>
              <a:rPr lang="fr-FR" altLang="fr-FR" dirty="0"/>
            </a:br>
            <a:r>
              <a:rPr lang="fr-FR" altLang="fr-FR" dirty="0"/>
              <a:t>rectangle sur le diagramme de cas d’utilisation </a:t>
            </a:r>
          </a:p>
          <a:p>
            <a:pPr lvl="1"/>
            <a:r>
              <a:rPr lang="fr-FR" altLang="fr-FR" dirty="0"/>
              <a:t>Le nom du système apparaît en </a:t>
            </a:r>
            <a:br>
              <a:rPr lang="fr-FR" altLang="fr-FR" dirty="0"/>
            </a:br>
            <a:r>
              <a:rPr lang="fr-FR" altLang="fr-FR" dirty="0"/>
              <a:t>gras</a:t>
            </a:r>
          </a:p>
          <a:p>
            <a:pPr lvl="1"/>
            <a:r>
              <a:rPr lang="fr-FR" altLang="fr-FR" dirty="0"/>
              <a:t>Les cas d’utilisation sont dans</a:t>
            </a:r>
            <a:br>
              <a:rPr lang="fr-FR" altLang="fr-FR" dirty="0"/>
            </a:br>
            <a:r>
              <a:rPr lang="fr-FR" altLang="fr-FR" dirty="0"/>
              <a:t>le rectangle</a:t>
            </a:r>
          </a:p>
          <a:p>
            <a:pPr lvl="1"/>
            <a:r>
              <a:rPr lang="fr-FR" altLang="fr-FR" dirty="0"/>
              <a:t>Les acteurs apparaissent</a:t>
            </a:r>
            <a:br>
              <a:rPr lang="fr-FR" altLang="fr-FR" dirty="0"/>
            </a:br>
            <a:r>
              <a:rPr lang="fr-FR" altLang="fr-FR" dirty="0"/>
              <a:t>en dehors du rectangle</a:t>
            </a:r>
          </a:p>
          <a:p>
            <a:r>
              <a:rPr lang="fr-FR" altLang="fr-FR" dirty="0"/>
              <a:t>Les limites du système peuvent </a:t>
            </a:r>
            <a:br>
              <a:rPr lang="fr-FR" altLang="fr-FR" dirty="0"/>
            </a:br>
            <a:r>
              <a:rPr lang="fr-FR" altLang="fr-FR" dirty="0"/>
              <a:t>être omises</a:t>
            </a:r>
          </a:p>
        </p:txBody>
      </p:sp>
      <p:sp>
        <p:nvSpPr>
          <p:cNvPr id="47108" name="Text Box 4"/>
          <p:cNvSpPr txBox="1">
            <a:spLocks noChangeArrowheads="1"/>
          </p:cNvSpPr>
          <p:nvPr/>
        </p:nvSpPr>
        <p:spPr bwMode="auto">
          <a:xfrm>
            <a:off x="6477000" y="3352800"/>
            <a:ext cx="2362200" cy="2397125"/>
          </a:xfrm>
          <a:prstGeom prst="rect">
            <a:avLst/>
          </a:prstGeom>
          <a:noFill/>
          <a:ln w="12700">
            <a:solidFill>
              <a:schemeClr val="tx1"/>
            </a:solidFill>
            <a:miter lim="800000"/>
            <a:headEnd/>
            <a:tailEnd/>
          </a:ln>
          <a:extLst>
            <a:ext uri="{909E8E84-426E-40DD-AFC4-6F175D3DCCD1}">
              <a14:hiddenFill xmlns:a14="http://schemas.microsoft.com/office/drawing/2010/main">
                <a:solidFill>
                  <a:schemeClr val="accent1"/>
                </a:solidFill>
              </a14:hiddenFill>
            </a:ext>
          </a:extLst>
        </p:spPr>
        <p:txBody>
          <a:bodyPr/>
          <a:lstStyle/>
          <a:p>
            <a:pPr algn="ctr"/>
            <a:r>
              <a:rPr lang="fr-FR" altLang="fr-FR" sz="1600" b="1">
                <a:solidFill>
                  <a:schemeClr val="tx2"/>
                </a:solidFill>
              </a:rPr>
              <a:t>Système d’affectation d’ambulances</a:t>
            </a:r>
          </a:p>
        </p:txBody>
      </p:sp>
      <p:sp>
        <p:nvSpPr>
          <p:cNvPr id="47109" name="Oval 5"/>
          <p:cNvSpPr>
            <a:spLocks noChangeArrowheads="1"/>
          </p:cNvSpPr>
          <p:nvPr/>
        </p:nvSpPr>
        <p:spPr bwMode="blackWhite">
          <a:xfrm>
            <a:off x="6916738" y="4016375"/>
            <a:ext cx="1457325" cy="704850"/>
          </a:xfrm>
          <a:prstGeom prst="ellipse">
            <a:avLst/>
          </a:prstGeom>
          <a:noFill/>
          <a:ln w="1270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a:lstStyle/>
          <a:p>
            <a:endParaRPr lang="fr-FR">
              <a:solidFill>
                <a:schemeClr val="tx2"/>
              </a:solidFill>
            </a:endParaRPr>
          </a:p>
        </p:txBody>
      </p:sp>
      <p:sp>
        <p:nvSpPr>
          <p:cNvPr id="47110" name="Text Box 6"/>
          <p:cNvSpPr txBox="1">
            <a:spLocks noChangeArrowheads="1"/>
          </p:cNvSpPr>
          <p:nvPr/>
        </p:nvSpPr>
        <p:spPr bwMode="auto">
          <a:xfrm>
            <a:off x="7010400" y="4110038"/>
            <a:ext cx="12700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fr-FR" altLang="fr-FR" sz="1600" b="1">
                <a:solidFill>
                  <a:schemeClr val="tx2"/>
                </a:solidFill>
              </a:rPr>
              <a:t>Arriver sur les lieux</a:t>
            </a:r>
          </a:p>
        </p:txBody>
      </p:sp>
      <p:sp>
        <p:nvSpPr>
          <p:cNvPr id="47118" name="Line 14"/>
          <p:cNvSpPr>
            <a:spLocks noChangeShapeType="1"/>
          </p:cNvSpPr>
          <p:nvPr/>
        </p:nvSpPr>
        <p:spPr bwMode="auto">
          <a:xfrm>
            <a:off x="5867400" y="4338638"/>
            <a:ext cx="10668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sp>
        <p:nvSpPr>
          <p:cNvPr id="47119" name="Oval 15"/>
          <p:cNvSpPr>
            <a:spLocks noChangeArrowheads="1"/>
          </p:cNvSpPr>
          <p:nvPr/>
        </p:nvSpPr>
        <p:spPr bwMode="blackWhite">
          <a:xfrm>
            <a:off x="6916738" y="4908550"/>
            <a:ext cx="1457325" cy="706438"/>
          </a:xfrm>
          <a:prstGeom prst="ellipse">
            <a:avLst/>
          </a:prstGeom>
          <a:noFill/>
          <a:ln w="1270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a:lstStyle/>
          <a:p>
            <a:endParaRPr lang="fr-FR">
              <a:solidFill>
                <a:schemeClr val="tx2"/>
              </a:solidFill>
            </a:endParaRPr>
          </a:p>
        </p:txBody>
      </p:sp>
      <p:sp>
        <p:nvSpPr>
          <p:cNvPr id="47120" name="Text Box 16"/>
          <p:cNvSpPr txBox="1">
            <a:spLocks noChangeArrowheads="1"/>
          </p:cNvSpPr>
          <p:nvPr/>
        </p:nvSpPr>
        <p:spPr bwMode="auto">
          <a:xfrm>
            <a:off x="7010400" y="5002213"/>
            <a:ext cx="1270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fr-FR" altLang="fr-FR" sz="1600" b="1">
                <a:solidFill>
                  <a:schemeClr val="tx2"/>
                </a:solidFill>
              </a:rPr>
              <a:t>Quitter les lieux</a:t>
            </a:r>
          </a:p>
        </p:txBody>
      </p:sp>
      <p:sp>
        <p:nvSpPr>
          <p:cNvPr id="47121" name="Line 17"/>
          <p:cNvSpPr>
            <a:spLocks noChangeShapeType="1"/>
          </p:cNvSpPr>
          <p:nvPr/>
        </p:nvSpPr>
        <p:spPr bwMode="auto">
          <a:xfrm>
            <a:off x="5867400" y="4567238"/>
            <a:ext cx="1066800" cy="685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grpSp>
        <p:nvGrpSpPr>
          <p:cNvPr id="47122" name="Group 18"/>
          <p:cNvGrpSpPr>
            <a:grpSpLocks/>
          </p:cNvGrpSpPr>
          <p:nvPr/>
        </p:nvGrpSpPr>
        <p:grpSpPr bwMode="auto">
          <a:xfrm>
            <a:off x="5334000" y="4033838"/>
            <a:ext cx="414338" cy="800100"/>
            <a:chOff x="1488" y="2016"/>
            <a:chExt cx="311" cy="600"/>
          </a:xfrm>
        </p:grpSpPr>
        <p:sp>
          <p:nvSpPr>
            <p:cNvPr id="47123" name="Oval 19"/>
            <p:cNvSpPr>
              <a:spLocks noChangeArrowheads="1"/>
            </p:cNvSpPr>
            <p:nvPr/>
          </p:nvSpPr>
          <p:spPr bwMode="auto">
            <a:xfrm>
              <a:off x="1545" y="2016"/>
              <a:ext cx="191" cy="192"/>
            </a:xfrm>
            <a:prstGeom prst="ellipse">
              <a:avLst/>
            </a:prstGeom>
            <a:solidFill>
              <a:srgbClr val="FFFFFF"/>
            </a:solidFill>
            <a:ln w="9525">
              <a:solidFill>
                <a:schemeClr val="tx1"/>
              </a:solidFill>
              <a:round/>
              <a:headEnd/>
              <a:tailEnd/>
            </a:ln>
          </p:spPr>
          <p:txBody>
            <a:bodyPr/>
            <a:lstStyle/>
            <a:p>
              <a:endParaRPr lang="fr-FR">
                <a:solidFill>
                  <a:schemeClr val="tx2"/>
                </a:solidFill>
              </a:endParaRPr>
            </a:p>
          </p:txBody>
        </p:sp>
        <p:sp>
          <p:nvSpPr>
            <p:cNvPr id="47124" name="Line 20"/>
            <p:cNvSpPr>
              <a:spLocks noChangeShapeType="1"/>
            </p:cNvSpPr>
            <p:nvPr/>
          </p:nvSpPr>
          <p:spPr bwMode="auto">
            <a:xfrm>
              <a:off x="1632" y="2208"/>
              <a:ext cx="0" cy="23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sp>
          <p:nvSpPr>
            <p:cNvPr id="47125" name="Line 21"/>
            <p:cNvSpPr>
              <a:spLocks noChangeShapeType="1"/>
            </p:cNvSpPr>
            <p:nvPr/>
          </p:nvSpPr>
          <p:spPr bwMode="auto">
            <a:xfrm>
              <a:off x="1488" y="2304"/>
              <a:ext cx="28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sp>
          <p:nvSpPr>
            <p:cNvPr id="47126" name="Line 22"/>
            <p:cNvSpPr>
              <a:spLocks noChangeShapeType="1"/>
            </p:cNvSpPr>
            <p:nvPr/>
          </p:nvSpPr>
          <p:spPr bwMode="auto">
            <a:xfrm flipH="1">
              <a:off x="1488" y="2448"/>
              <a:ext cx="144" cy="1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sp>
          <p:nvSpPr>
            <p:cNvPr id="47127" name="Line 23"/>
            <p:cNvSpPr>
              <a:spLocks noChangeShapeType="1"/>
            </p:cNvSpPr>
            <p:nvPr/>
          </p:nvSpPr>
          <p:spPr bwMode="auto">
            <a:xfrm>
              <a:off x="1632" y="2448"/>
              <a:ext cx="167" cy="1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grpSp>
      <p:sp>
        <p:nvSpPr>
          <p:cNvPr id="47128" name="Text Box 24"/>
          <p:cNvSpPr txBox="1">
            <a:spLocks noChangeArrowheads="1"/>
          </p:cNvSpPr>
          <p:nvPr/>
        </p:nvSpPr>
        <p:spPr bwMode="auto">
          <a:xfrm>
            <a:off x="4876800" y="4876800"/>
            <a:ext cx="1368425" cy="26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fr-FR" altLang="fr-FR" sz="1600" b="1">
                <a:solidFill>
                  <a:schemeClr val="tx2"/>
                </a:solidFill>
              </a:rPr>
              <a:t>Conducteur</a:t>
            </a:r>
          </a:p>
        </p:txBody>
      </p:sp>
    </p:spTree>
    <p:extLst>
      <p:ext uri="{BB962C8B-B14F-4D97-AF65-F5344CB8AC3E}">
        <p14:creationId xmlns:p14="http://schemas.microsoft.com/office/powerpoint/2010/main" val="26764042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r>
              <a:rPr lang="fr-FR" altLang="fr-FR"/>
              <a:t>Relations entre les cas d’utilisation</a:t>
            </a:r>
          </a:p>
        </p:txBody>
      </p:sp>
      <p:sp>
        <p:nvSpPr>
          <p:cNvPr id="50179" name="Rectangle 3"/>
          <p:cNvSpPr>
            <a:spLocks noGrp="1" noChangeArrowheads="1"/>
          </p:cNvSpPr>
          <p:nvPr>
            <p:ph type="body" idx="1"/>
          </p:nvPr>
        </p:nvSpPr>
        <p:spPr>
          <a:xfrm>
            <a:off x="279400" y="1312863"/>
            <a:ext cx="8599488" cy="4322762"/>
          </a:xfrm>
        </p:spPr>
        <p:txBody>
          <a:bodyPr/>
          <a:lstStyle/>
          <a:p>
            <a:r>
              <a:rPr lang="fr-FR" altLang="fr-FR"/>
              <a:t>UML fournit les moyens de spécifier des relations entre les cas d’utilisation</a:t>
            </a:r>
          </a:p>
          <a:p>
            <a:pPr lvl="1"/>
            <a:r>
              <a:rPr lang="fr-FR" altLang="fr-FR"/>
              <a:t>Utilisé pour éviter les duplications (description de cas d’utilisation grandement similaires)</a:t>
            </a:r>
          </a:p>
          <a:p>
            <a:r>
              <a:rPr lang="fr-FR" altLang="fr-FR"/>
              <a:t>Les trois relations standards sont</a:t>
            </a:r>
          </a:p>
          <a:p>
            <a:pPr lvl="1"/>
            <a:r>
              <a:rPr lang="fr-FR" altLang="fr-FR"/>
              <a:t>«include»</a:t>
            </a:r>
          </a:p>
          <a:p>
            <a:pPr lvl="1"/>
            <a:r>
              <a:rPr lang="fr-FR" altLang="fr-FR"/>
              <a:t>«extend»</a:t>
            </a:r>
          </a:p>
          <a:p>
            <a:pPr lvl="1"/>
            <a:r>
              <a:rPr lang="fr-FR" altLang="fr-FR"/>
              <a:t>«generalization»</a:t>
            </a:r>
          </a:p>
          <a:p>
            <a:r>
              <a:rPr lang="fr-FR" altLang="fr-FR"/>
              <a:t> Différencier ces relations est parfois complexe</a:t>
            </a:r>
          </a:p>
          <a:p>
            <a:r>
              <a:rPr lang="fr-FR" altLang="fr-FR"/>
              <a:t>Un cas d’utilisation </a:t>
            </a:r>
            <a:r>
              <a:rPr lang="fr-FR" altLang="fr-FR" i="1">
                <a:latin typeface="Century Schoolbook" pitchFamily="18" charset="0"/>
              </a:rPr>
              <a:t>instanciable</a:t>
            </a:r>
            <a:r>
              <a:rPr lang="fr-FR" altLang="fr-FR"/>
              <a:t> ou </a:t>
            </a:r>
            <a:r>
              <a:rPr lang="fr-FR" altLang="fr-FR" i="1">
                <a:latin typeface="Century Schoolbook" pitchFamily="18" charset="0"/>
              </a:rPr>
              <a:t>concret</a:t>
            </a:r>
            <a:r>
              <a:rPr lang="fr-FR" altLang="fr-FR"/>
              <a:t> représente une interaction complète qui peut être déclenchée par un acteur</a:t>
            </a:r>
          </a:p>
          <a:p>
            <a:pPr lvl="1"/>
            <a:r>
              <a:rPr lang="fr-FR" altLang="fr-FR"/>
              <a:t>Un cas d’utilisation intervenant dans une relation peut être </a:t>
            </a:r>
            <a:r>
              <a:rPr lang="fr-FR" altLang="fr-FR" i="1">
                <a:latin typeface="Century Schoolbook" pitchFamily="18" charset="0"/>
              </a:rPr>
              <a:t>abstrait</a:t>
            </a:r>
            <a:r>
              <a:rPr lang="fr-FR" altLang="fr-FR"/>
              <a:t> et seulement décrire un </a:t>
            </a:r>
            <a:r>
              <a:rPr lang="fr-FR" altLang="fr-FR" i="1">
                <a:latin typeface="Century Schoolbook" pitchFamily="18" charset="0"/>
              </a:rPr>
              <a:t>fragment</a:t>
            </a:r>
            <a:r>
              <a:rPr lang="fr-FR" altLang="fr-FR"/>
              <a:t> de l’interaction</a:t>
            </a:r>
          </a:p>
        </p:txBody>
      </p:sp>
    </p:spTree>
    <p:extLst>
      <p:ext uri="{BB962C8B-B14F-4D97-AF65-F5344CB8AC3E}">
        <p14:creationId xmlns:p14="http://schemas.microsoft.com/office/powerpoint/2010/main" val="24640424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r>
              <a:rPr lang="fr-FR" altLang="fr-FR"/>
              <a:t>La relation «include»</a:t>
            </a:r>
          </a:p>
        </p:txBody>
      </p:sp>
      <p:sp>
        <p:nvSpPr>
          <p:cNvPr id="52227" name="Rectangle 3"/>
          <p:cNvSpPr>
            <a:spLocks noGrp="1" noChangeArrowheads="1"/>
          </p:cNvSpPr>
          <p:nvPr>
            <p:ph type="body" idx="1"/>
          </p:nvPr>
        </p:nvSpPr>
        <p:spPr>
          <a:xfrm>
            <a:off x="279400" y="1312863"/>
            <a:ext cx="8599488" cy="3295650"/>
          </a:xfrm>
        </p:spPr>
        <p:txBody>
          <a:bodyPr/>
          <a:lstStyle/>
          <a:p>
            <a:r>
              <a:rPr lang="fr-FR" altLang="fr-FR"/>
              <a:t>Un </a:t>
            </a:r>
            <a:r>
              <a:rPr lang="fr-FR" altLang="fr-FR" i="1">
                <a:latin typeface="Century Schoolbook" pitchFamily="18" charset="0"/>
              </a:rPr>
              <a:t>cas d’utilisation de base</a:t>
            </a:r>
            <a:r>
              <a:rPr lang="fr-FR" altLang="fr-FR"/>
              <a:t> peut contenir un </a:t>
            </a:r>
            <a:r>
              <a:rPr lang="fr-FR" altLang="fr-FR" i="1">
                <a:latin typeface="Century Schoolbook" pitchFamily="18" charset="0"/>
              </a:rPr>
              <a:t>cas d’utilisation inclus</a:t>
            </a:r>
            <a:endParaRPr lang="fr-FR" altLang="fr-FR" i="1"/>
          </a:p>
          <a:p>
            <a:r>
              <a:rPr lang="fr-FR" altLang="fr-FR"/>
              <a:t>Noté comme une dépendance avec le mot clef </a:t>
            </a:r>
            <a:r>
              <a:rPr lang="fr-FR" altLang="fr-FR" i="1">
                <a:latin typeface="Century Schoolbook" pitchFamily="18" charset="0"/>
              </a:rPr>
              <a:t>include</a:t>
            </a:r>
            <a:r>
              <a:rPr lang="fr-FR" altLang="fr-FR"/>
              <a:t> entre guillemets</a:t>
            </a:r>
          </a:p>
          <a:p>
            <a:pPr lvl="1"/>
            <a:r>
              <a:rPr lang="fr-FR" altLang="fr-FR"/>
              <a:t>Un </a:t>
            </a:r>
            <a:r>
              <a:rPr lang="fr-FR" altLang="fr-FR" i="1">
                <a:latin typeface="Century Schoolbook" pitchFamily="18" charset="0"/>
              </a:rPr>
              <a:t>mot clef</a:t>
            </a:r>
            <a:r>
              <a:rPr lang="fr-FR" altLang="fr-FR"/>
              <a:t> permet de représenter un élément UML qui ne possède pas de notation graphique propre</a:t>
            </a:r>
          </a:p>
          <a:p>
            <a:pPr lvl="1"/>
            <a:r>
              <a:rPr lang="fr-FR" altLang="fr-FR"/>
              <a:t>Si les </a:t>
            </a:r>
            <a:r>
              <a:rPr lang="fr-FR" altLang="fr-FR" i="1">
                <a:latin typeface="Century Schoolbook" pitchFamily="18" charset="0"/>
              </a:rPr>
              <a:t>guillemets</a:t>
            </a:r>
            <a:r>
              <a:rPr lang="fr-FR" altLang="fr-FR"/>
              <a:t> ne sont pas disponibles sur le clavier, on peut utiliser les doubles chevrons (&lt;&lt; &gt;&gt;)</a:t>
            </a:r>
          </a:p>
          <a:p>
            <a:pPr lvl="1">
              <a:buFont typeface="Arial" panose="020B0604020202020204" pitchFamily="34" charset="0"/>
              <a:buNone/>
            </a:pPr>
            <a:endParaRPr lang="fr-FR" altLang="fr-FR"/>
          </a:p>
          <a:p>
            <a:r>
              <a:rPr lang="fr-FR" altLang="fr-FR"/>
              <a:t>Le cas d’utilisation inclus décrit typiquement </a:t>
            </a:r>
            <a:br>
              <a:rPr lang="fr-FR" altLang="fr-FR"/>
            </a:br>
            <a:r>
              <a:rPr lang="fr-FR" altLang="fr-FR"/>
              <a:t>un fragment de comportement réutilisable</a:t>
            </a:r>
          </a:p>
          <a:p>
            <a:pPr lvl="1"/>
            <a:r>
              <a:rPr lang="fr-FR" altLang="fr-FR"/>
              <a:t>Il peut être abstrait</a:t>
            </a:r>
          </a:p>
        </p:txBody>
      </p:sp>
      <p:sp>
        <p:nvSpPr>
          <p:cNvPr id="52228" name="Oval 4"/>
          <p:cNvSpPr>
            <a:spLocks noChangeArrowheads="1"/>
          </p:cNvSpPr>
          <p:nvPr/>
        </p:nvSpPr>
        <p:spPr bwMode="blackWhite">
          <a:xfrm>
            <a:off x="5638800" y="5297488"/>
            <a:ext cx="1981200" cy="704850"/>
          </a:xfrm>
          <a:prstGeom prst="ellipse">
            <a:avLst/>
          </a:prstGeom>
          <a:noFill/>
          <a:ln w="1270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a:lstStyle/>
          <a:p>
            <a:endParaRPr lang="fr-FR">
              <a:solidFill>
                <a:schemeClr val="tx2"/>
              </a:solidFill>
            </a:endParaRPr>
          </a:p>
        </p:txBody>
      </p:sp>
      <p:sp>
        <p:nvSpPr>
          <p:cNvPr id="52229" name="Text Box 5"/>
          <p:cNvSpPr txBox="1">
            <a:spLocks noChangeArrowheads="1"/>
          </p:cNvSpPr>
          <p:nvPr/>
        </p:nvSpPr>
        <p:spPr bwMode="auto">
          <a:xfrm>
            <a:off x="5715000" y="5410200"/>
            <a:ext cx="1868488"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fr-FR" altLang="fr-FR" sz="1600" b="1">
                <a:solidFill>
                  <a:schemeClr val="tx2"/>
                </a:solidFill>
              </a:rPr>
              <a:t>Cas d’utilisation de base</a:t>
            </a:r>
          </a:p>
        </p:txBody>
      </p:sp>
      <p:sp>
        <p:nvSpPr>
          <p:cNvPr id="52230" name="Oval 6"/>
          <p:cNvSpPr>
            <a:spLocks noChangeArrowheads="1"/>
          </p:cNvSpPr>
          <p:nvPr/>
        </p:nvSpPr>
        <p:spPr bwMode="blackWhite">
          <a:xfrm>
            <a:off x="6705600" y="3948113"/>
            <a:ext cx="1905000" cy="785812"/>
          </a:xfrm>
          <a:prstGeom prst="ellipse">
            <a:avLst/>
          </a:prstGeom>
          <a:noFill/>
          <a:ln w="1270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a:lstStyle/>
          <a:p>
            <a:endParaRPr lang="fr-FR">
              <a:solidFill>
                <a:schemeClr val="tx2"/>
              </a:solidFill>
            </a:endParaRPr>
          </a:p>
        </p:txBody>
      </p:sp>
      <p:sp>
        <p:nvSpPr>
          <p:cNvPr id="52231" name="Text Box 7"/>
          <p:cNvSpPr txBox="1">
            <a:spLocks noChangeArrowheads="1"/>
          </p:cNvSpPr>
          <p:nvPr/>
        </p:nvSpPr>
        <p:spPr bwMode="auto">
          <a:xfrm>
            <a:off x="6781800" y="4122738"/>
            <a:ext cx="18288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fr-FR" altLang="fr-FR" sz="1600" b="1">
                <a:solidFill>
                  <a:schemeClr val="tx2"/>
                </a:solidFill>
              </a:rPr>
              <a:t>Cas d’utilisation inclus</a:t>
            </a:r>
          </a:p>
        </p:txBody>
      </p:sp>
      <p:sp>
        <p:nvSpPr>
          <p:cNvPr id="52232" name="Line 8"/>
          <p:cNvSpPr>
            <a:spLocks noChangeShapeType="1"/>
          </p:cNvSpPr>
          <p:nvPr/>
        </p:nvSpPr>
        <p:spPr bwMode="auto">
          <a:xfrm flipV="1">
            <a:off x="6667500" y="4686300"/>
            <a:ext cx="611188" cy="611188"/>
          </a:xfrm>
          <a:prstGeom prst="line">
            <a:avLst/>
          </a:prstGeom>
          <a:noFill/>
          <a:ln w="12700">
            <a:solidFill>
              <a:schemeClr val="tx1"/>
            </a:solidFill>
            <a:prstDash val="lgDash"/>
            <a:round/>
            <a:headEnd/>
            <a:tailEnd type="arrow" w="med" len="me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sp>
        <p:nvSpPr>
          <p:cNvPr id="52233" name="Text Box 9"/>
          <p:cNvSpPr txBox="1">
            <a:spLocks noChangeArrowheads="1"/>
          </p:cNvSpPr>
          <p:nvPr/>
        </p:nvSpPr>
        <p:spPr bwMode="auto">
          <a:xfrm>
            <a:off x="6950075" y="4921250"/>
            <a:ext cx="1173163"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altLang="fr-FR">
                <a:solidFill>
                  <a:schemeClr val="tx2"/>
                </a:solidFill>
              </a:rPr>
              <a:t>«include»</a:t>
            </a:r>
          </a:p>
        </p:txBody>
      </p:sp>
    </p:spTree>
    <p:extLst>
      <p:ext uri="{BB962C8B-B14F-4D97-AF65-F5344CB8AC3E}">
        <p14:creationId xmlns:p14="http://schemas.microsoft.com/office/powerpoint/2010/main" val="31311798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r>
              <a:rPr lang="fr-FR" altLang="fr-FR"/>
              <a:t>La relation «include» : Exemple</a:t>
            </a:r>
          </a:p>
        </p:txBody>
      </p:sp>
      <p:sp>
        <p:nvSpPr>
          <p:cNvPr id="54275" name="Rectangle 3"/>
          <p:cNvSpPr>
            <a:spLocks noGrp="1" noChangeArrowheads="1"/>
          </p:cNvSpPr>
          <p:nvPr>
            <p:ph type="body" idx="1"/>
          </p:nvPr>
        </p:nvSpPr>
        <p:spPr>
          <a:xfrm>
            <a:off x="279400" y="1312863"/>
            <a:ext cx="8599488" cy="641350"/>
          </a:xfrm>
        </p:spPr>
        <p:txBody>
          <a:bodyPr/>
          <a:lstStyle/>
          <a:p>
            <a:r>
              <a:rPr lang="fr-FR" altLang="fr-FR"/>
              <a:t>Le conducteur doit s’identifier au début de chaque interaction avec le système</a:t>
            </a:r>
          </a:p>
        </p:txBody>
      </p:sp>
      <p:pic>
        <p:nvPicPr>
          <p:cNvPr id="54278" name="Picture 6" descr="3-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3275" y="2286000"/>
            <a:ext cx="7537450" cy="3270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01681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fr-FR" altLang="fr-FR"/>
              <a:t>La relation «extend»</a:t>
            </a:r>
          </a:p>
        </p:txBody>
      </p:sp>
      <p:sp>
        <p:nvSpPr>
          <p:cNvPr id="56323" name="Rectangle 3"/>
          <p:cNvSpPr>
            <a:spLocks noGrp="1" noChangeArrowheads="1"/>
          </p:cNvSpPr>
          <p:nvPr>
            <p:ph type="body" idx="1"/>
          </p:nvPr>
        </p:nvSpPr>
        <p:spPr>
          <a:xfrm>
            <a:off x="279400" y="1312863"/>
            <a:ext cx="8599488" cy="2940050"/>
          </a:xfrm>
        </p:spPr>
        <p:txBody>
          <a:bodyPr/>
          <a:lstStyle/>
          <a:p>
            <a:r>
              <a:rPr lang="fr-FR" altLang="fr-FR"/>
              <a:t>La relation </a:t>
            </a:r>
            <a:r>
              <a:rPr lang="fr-FR" altLang="fr-FR" i="1">
                <a:latin typeface="Century Schoolbook" pitchFamily="18" charset="0"/>
              </a:rPr>
              <a:t>extend</a:t>
            </a:r>
            <a:r>
              <a:rPr lang="fr-FR" altLang="fr-FR"/>
              <a:t> est utilisée pour indiquer un comportement qui n’a lieu que dans certaines conditions</a:t>
            </a:r>
          </a:p>
          <a:p>
            <a:pPr lvl="1"/>
            <a:r>
              <a:rPr lang="fr-FR" altLang="fr-FR"/>
              <a:t>Le cas d’utilisation de base spécifie un ensemble de </a:t>
            </a:r>
            <a:r>
              <a:rPr lang="fr-FR" altLang="fr-FR" i="1">
                <a:latin typeface="Century Schoolbook" pitchFamily="18" charset="0"/>
              </a:rPr>
              <a:t>points d’extension </a:t>
            </a:r>
            <a:r>
              <a:rPr lang="fr-FR" altLang="fr-FR"/>
              <a:t>à partir desquels un comportement conditionnel peut avoir lieu</a:t>
            </a:r>
          </a:p>
          <a:p>
            <a:pPr lvl="1"/>
            <a:r>
              <a:rPr lang="fr-FR" altLang="fr-FR"/>
              <a:t>Une </a:t>
            </a:r>
            <a:r>
              <a:rPr lang="fr-FR" altLang="fr-FR" i="1">
                <a:latin typeface="Century Schoolbook" pitchFamily="18" charset="0"/>
              </a:rPr>
              <a:t>extension de cas d’utilisation</a:t>
            </a:r>
            <a:r>
              <a:rPr lang="fr-FR" altLang="fr-FR"/>
              <a:t> décrit un fragment de comportement pouvant être inséré (sous certaines conditions) au niveau d'un point d'extension.</a:t>
            </a:r>
          </a:p>
          <a:p>
            <a:pPr lvl="2"/>
            <a:r>
              <a:rPr lang="fr-FR" altLang="fr-FR"/>
              <a:t>Pas nécessairement instanciable isolément</a:t>
            </a:r>
          </a:p>
          <a:p>
            <a:pPr lvl="1"/>
            <a:r>
              <a:rPr lang="fr-FR" altLang="fr-FR"/>
              <a:t>La relation spécifie un point d’extension et optionnellement une condition à vérifier pour l’application de l’extension</a:t>
            </a:r>
          </a:p>
        </p:txBody>
      </p:sp>
      <p:sp>
        <p:nvSpPr>
          <p:cNvPr id="56324" name="Oval 4"/>
          <p:cNvSpPr>
            <a:spLocks noChangeArrowheads="1"/>
          </p:cNvSpPr>
          <p:nvPr/>
        </p:nvSpPr>
        <p:spPr bwMode="blackWhite">
          <a:xfrm>
            <a:off x="5867400" y="4191000"/>
            <a:ext cx="2438400" cy="1290638"/>
          </a:xfrm>
          <a:prstGeom prst="ellipse">
            <a:avLst/>
          </a:prstGeom>
          <a:noFill/>
          <a:ln w="1270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a:lstStyle/>
          <a:p>
            <a:endParaRPr lang="fr-FR">
              <a:solidFill>
                <a:schemeClr val="tx2"/>
              </a:solidFill>
            </a:endParaRPr>
          </a:p>
        </p:txBody>
      </p:sp>
      <p:sp>
        <p:nvSpPr>
          <p:cNvPr id="56325" name="Text Box 5"/>
          <p:cNvSpPr txBox="1">
            <a:spLocks noChangeArrowheads="1"/>
          </p:cNvSpPr>
          <p:nvPr/>
        </p:nvSpPr>
        <p:spPr bwMode="auto">
          <a:xfrm>
            <a:off x="6172200" y="4267200"/>
            <a:ext cx="18415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fr-FR" altLang="fr-FR" sz="1600" b="1">
                <a:solidFill>
                  <a:schemeClr val="tx2"/>
                </a:solidFill>
              </a:rPr>
              <a:t>Cas d’utilisation</a:t>
            </a:r>
            <a:br>
              <a:rPr lang="fr-FR" altLang="fr-FR" sz="1600" b="1">
                <a:solidFill>
                  <a:schemeClr val="tx2"/>
                </a:solidFill>
              </a:rPr>
            </a:br>
            <a:r>
              <a:rPr lang="fr-FR" altLang="fr-FR" sz="1600" b="1">
                <a:solidFill>
                  <a:schemeClr val="tx2"/>
                </a:solidFill>
              </a:rPr>
              <a:t>de base</a:t>
            </a:r>
            <a:endParaRPr lang="fr-FR" altLang="fr-FR">
              <a:solidFill>
                <a:schemeClr val="tx2"/>
              </a:solidFill>
            </a:endParaRPr>
          </a:p>
        </p:txBody>
      </p:sp>
      <p:sp>
        <p:nvSpPr>
          <p:cNvPr id="56326" name="Line 6"/>
          <p:cNvSpPr>
            <a:spLocks noChangeShapeType="1"/>
          </p:cNvSpPr>
          <p:nvPr/>
        </p:nvSpPr>
        <p:spPr bwMode="auto">
          <a:xfrm flipH="1" flipV="1">
            <a:off x="5867400" y="4800600"/>
            <a:ext cx="24384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sp>
        <p:nvSpPr>
          <p:cNvPr id="56327" name="Oval 7"/>
          <p:cNvSpPr>
            <a:spLocks noChangeArrowheads="1"/>
          </p:cNvSpPr>
          <p:nvPr/>
        </p:nvSpPr>
        <p:spPr bwMode="blackWhite">
          <a:xfrm>
            <a:off x="2590800" y="5681663"/>
            <a:ext cx="2133600" cy="704850"/>
          </a:xfrm>
          <a:prstGeom prst="ellipse">
            <a:avLst/>
          </a:prstGeom>
          <a:noFill/>
          <a:ln w="1270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a:lstStyle/>
          <a:p>
            <a:endParaRPr lang="fr-FR">
              <a:solidFill>
                <a:schemeClr val="tx2"/>
              </a:solidFill>
            </a:endParaRPr>
          </a:p>
        </p:txBody>
      </p:sp>
      <p:sp>
        <p:nvSpPr>
          <p:cNvPr id="56328" name="Text Box 8"/>
          <p:cNvSpPr txBox="1">
            <a:spLocks noChangeArrowheads="1"/>
          </p:cNvSpPr>
          <p:nvPr/>
        </p:nvSpPr>
        <p:spPr bwMode="auto">
          <a:xfrm>
            <a:off x="2819400" y="5715000"/>
            <a:ext cx="17557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fr-FR" altLang="fr-FR" sz="1600" b="1">
                <a:solidFill>
                  <a:schemeClr val="tx2"/>
                </a:solidFill>
              </a:rPr>
              <a:t>Extension de cas d’utilisation</a:t>
            </a:r>
          </a:p>
        </p:txBody>
      </p:sp>
      <p:sp>
        <p:nvSpPr>
          <p:cNvPr id="56329" name="Line 9"/>
          <p:cNvSpPr>
            <a:spLocks noChangeShapeType="1"/>
          </p:cNvSpPr>
          <p:nvPr/>
        </p:nvSpPr>
        <p:spPr bwMode="auto">
          <a:xfrm flipV="1">
            <a:off x="3709988" y="4876800"/>
            <a:ext cx="2157412" cy="804863"/>
          </a:xfrm>
          <a:prstGeom prst="line">
            <a:avLst/>
          </a:prstGeom>
          <a:noFill/>
          <a:ln w="12700">
            <a:solidFill>
              <a:schemeClr val="tx1"/>
            </a:solidFill>
            <a:prstDash val="lgDash"/>
            <a:round/>
            <a:headEnd/>
            <a:tailEnd type="arrow" w="med" len="me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sp>
        <p:nvSpPr>
          <p:cNvPr id="56330" name="Text Box 10"/>
          <p:cNvSpPr txBox="1">
            <a:spLocks noChangeArrowheads="1"/>
          </p:cNvSpPr>
          <p:nvPr/>
        </p:nvSpPr>
        <p:spPr bwMode="auto">
          <a:xfrm>
            <a:off x="4495800" y="5257800"/>
            <a:ext cx="2514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altLang="fr-FR">
                <a:solidFill>
                  <a:schemeClr val="tx2"/>
                </a:solidFill>
              </a:rPr>
              <a:t>«extend»</a:t>
            </a:r>
          </a:p>
          <a:p>
            <a:r>
              <a:rPr lang="fr-FR" altLang="fr-FR">
                <a:solidFill>
                  <a:schemeClr val="tx2"/>
                </a:solidFill>
              </a:rPr>
              <a:t>(point1, point2)[condition1]</a:t>
            </a:r>
          </a:p>
        </p:txBody>
      </p:sp>
      <p:sp>
        <p:nvSpPr>
          <p:cNvPr id="56333" name="Line 13"/>
          <p:cNvSpPr>
            <a:spLocks noChangeShapeType="1"/>
          </p:cNvSpPr>
          <p:nvPr/>
        </p:nvSpPr>
        <p:spPr bwMode="auto">
          <a:xfrm flipV="1">
            <a:off x="2971800" y="4724400"/>
            <a:ext cx="2895600" cy="381000"/>
          </a:xfrm>
          <a:prstGeom prst="line">
            <a:avLst/>
          </a:prstGeom>
          <a:noFill/>
          <a:ln w="12700">
            <a:solidFill>
              <a:schemeClr val="tx1"/>
            </a:solidFill>
            <a:prstDash val="lgDash"/>
            <a:round/>
            <a:headEnd/>
            <a:tailEnd type="arrow" w="med" len="me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sp>
        <p:nvSpPr>
          <p:cNvPr id="56334" name="Text Box 14"/>
          <p:cNvSpPr txBox="1">
            <a:spLocks noChangeArrowheads="1"/>
          </p:cNvSpPr>
          <p:nvPr/>
        </p:nvSpPr>
        <p:spPr bwMode="auto">
          <a:xfrm>
            <a:off x="3200400" y="4343400"/>
            <a:ext cx="1784350"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altLang="fr-FR">
                <a:solidFill>
                  <a:schemeClr val="tx2"/>
                </a:solidFill>
              </a:rPr>
              <a:t>«extend»</a:t>
            </a:r>
          </a:p>
          <a:p>
            <a:r>
              <a:rPr lang="fr-FR" altLang="fr-FR">
                <a:solidFill>
                  <a:schemeClr val="tx2"/>
                </a:solidFill>
              </a:rPr>
              <a:t>(point1)[condition2]</a:t>
            </a:r>
          </a:p>
        </p:txBody>
      </p:sp>
      <p:sp>
        <p:nvSpPr>
          <p:cNvPr id="56335" name="Rectangle 15"/>
          <p:cNvSpPr>
            <a:spLocks noChangeArrowheads="1"/>
          </p:cNvSpPr>
          <p:nvPr/>
        </p:nvSpPr>
        <p:spPr bwMode="auto">
          <a:xfrm>
            <a:off x="6172200" y="4800600"/>
            <a:ext cx="1828800"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fr-FR" altLang="fr-FR" b="1">
                <a:solidFill>
                  <a:schemeClr val="tx2"/>
                </a:solidFill>
              </a:rPr>
              <a:t>Points d’extension</a:t>
            </a:r>
          </a:p>
          <a:p>
            <a:pPr algn="ctr"/>
            <a:r>
              <a:rPr lang="fr-FR" altLang="fr-FR">
                <a:solidFill>
                  <a:schemeClr val="tx2"/>
                </a:solidFill>
              </a:rPr>
              <a:t>point1</a:t>
            </a:r>
          </a:p>
          <a:p>
            <a:pPr algn="ctr"/>
            <a:r>
              <a:rPr lang="fr-FR" altLang="fr-FR">
                <a:solidFill>
                  <a:schemeClr val="tx2"/>
                </a:solidFill>
              </a:rPr>
              <a:t>point2</a:t>
            </a:r>
          </a:p>
        </p:txBody>
      </p:sp>
      <p:sp>
        <p:nvSpPr>
          <p:cNvPr id="56336" name="Text Box 16"/>
          <p:cNvSpPr txBox="1">
            <a:spLocks noChangeArrowheads="1"/>
          </p:cNvSpPr>
          <p:nvPr/>
        </p:nvSpPr>
        <p:spPr bwMode="auto">
          <a:xfrm>
            <a:off x="1066800" y="4876800"/>
            <a:ext cx="17557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fr-FR" altLang="fr-FR" sz="1600" b="1">
                <a:solidFill>
                  <a:schemeClr val="tx2"/>
                </a:solidFill>
              </a:rPr>
              <a:t>Extension de cas d’utilisation</a:t>
            </a:r>
          </a:p>
        </p:txBody>
      </p:sp>
      <p:sp>
        <p:nvSpPr>
          <p:cNvPr id="56337" name="Oval 17"/>
          <p:cNvSpPr>
            <a:spLocks noChangeArrowheads="1"/>
          </p:cNvSpPr>
          <p:nvPr/>
        </p:nvSpPr>
        <p:spPr bwMode="blackWhite">
          <a:xfrm>
            <a:off x="838200" y="4800600"/>
            <a:ext cx="2133600" cy="704850"/>
          </a:xfrm>
          <a:prstGeom prst="ellipse">
            <a:avLst/>
          </a:prstGeom>
          <a:noFill/>
          <a:ln w="1270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a:lstStyle/>
          <a:p>
            <a:endParaRPr lang="fr-FR">
              <a:solidFill>
                <a:schemeClr val="tx2"/>
              </a:solidFill>
            </a:endParaRPr>
          </a:p>
        </p:txBody>
      </p:sp>
    </p:spTree>
    <p:extLst>
      <p:ext uri="{BB962C8B-B14F-4D97-AF65-F5344CB8AC3E}">
        <p14:creationId xmlns:p14="http://schemas.microsoft.com/office/powerpoint/2010/main" val="12056340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r>
              <a:rPr lang="fr-FR" altLang="fr-FR"/>
              <a:t>La relation «extend» : Exemple</a:t>
            </a:r>
          </a:p>
        </p:txBody>
      </p:sp>
      <p:sp>
        <p:nvSpPr>
          <p:cNvPr id="58371" name="Rectangle 3"/>
          <p:cNvSpPr>
            <a:spLocks noGrp="1" noChangeArrowheads="1"/>
          </p:cNvSpPr>
          <p:nvPr>
            <p:ph type="body" idx="1"/>
          </p:nvPr>
        </p:nvSpPr>
        <p:spPr>
          <a:xfrm>
            <a:off x="279400" y="1312863"/>
            <a:ext cx="8599488" cy="641350"/>
          </a:xfrm>
        </p:spPr>
        <p:txBody>
          <a:bodyPr/>
          <a:lstStyle/>
          <a:p>
            <a:r>
              <a:rPr lang="fr-FR" altLang="fr-FR"/>
              <a:t>Lorsqu’une ambulance quitte les lieux de l’appel, elle peut être réaffectée si elle est disponible (pas de patient à bord)</a:t>
            </a:r>
          </a:p>
        </p:txBody>
      </p:sp>
      <p:pic>
        <p:nvPicPr>
          <p:cNvPr id="58372" name="Picture 4" descr="Départ des lieux (montrant la syntaxe complète avec extens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286000"/>
            <a:ext cx="7754938" cy="32496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65197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r>
              <a:rPr lang="fr-FR" altLang="fr-FR"/>
              <a:t>La relation de généralisation</a:t>
            </a:r>
          </a:p>
        </p:txBody>
      </p:sp>
      <p:sp>
        <p:nvSpPr>
          <p:cNvPr id="60419" name="Rectangle 3"/>
          <p:cNvSpPr>
            <a:spLocks noGrp="1" noChangeArrowheads="1"/>
          </p:cNvSpPr>
          <p:nvPr>
            <p:ph type="body" idx="1"/>
          </p:nvPr>
        </p:nvSpPr>
        <p:spPr>
          <a:xfrm>
            <a:off x="279400" y="1312863"/>
            <a:ext cx="8599488" cy="2995612"/>
          </a:xfrm>
        </p:spPr>
        <p:txBody>
          <a:bodyPr/>
          <a:lstStyle/>
          <a:p>
            <a:r>
              <a:rPr lang="fr-FR" altLang="fr-FR"/>
              <a:t>Un cas d’utilisation est un type de classe</a:t>
            </a:r>
          </a:p>
          <a:p>
            <a:pPr lvl="1"/>
            <a:r>
              <a:rPr lang="fr-FR" altLang="fr-FR"/>
              <a:t>La généralisation peut être appliquée aux cas d’utilisation comme aux classes </a:t>
            </a:r>
          </a:p>
          <a:p>
            <a:r>
              <a:rPr lang="fr-FR" altLang="fr-FR"/>
              <a:t>Un cas d’utilisation fils hérite du comportement du cas d’utilisation parent</a:t>
            </a:r>
          </a:p>
          <a:p>
            <a:pPr lvl="1"/>
            <a:r>
              <a:rPr lang="fr-FR" altLang="fr-FR"/>
              <a:t>Le comportement peut être modifié (cf. polymorphisme)</a:t>
            </a:r>
          </a:p>
          <a:p>
            <a:r>
              <a:rPr lang="fr-FR" altLang="fr-FR"/>
              <a:t>Le principe de substitution s’applique</a:t>
            </a:r>
          </a:p>
          <a:p>
            <a:pPr lvl="1"/>
            <a:r>
              <a:rPr lang="fr-FR" altLang="fr-FR"/>
              <a:t>Une instance du fils doit pouvoir être </a:t>
            </a:r>
            <a:br>
              <a:rPr lang="fr-FR" altLang="fr-FR"/>
            </a:br>
            <a:r>
              <a:rPr lang="fr-FR" altLang="fr-FR"/>
              <a:t>utilisée là où une instance du parent est </a:t>
            </a:r>
            <a:br>
              <a:rPr lang="fr-FR" altLang="fr-FR"/>
            </a:br>
            <a:r>
              <a:rPr lang="fr-FR" altLang="fr-FR"/>
              <a:t>attendue</a:t>
            </a:r>
          </a:p>
        </p:txBody>
      </p:sp>
      <p:sp>
        <p:nvSpPr>
          <p:cNvPr id="60420" name="Oval 4"/>
          <p:cNvSpPr>
            <a:spLocks noChangeArrowheads="1"/>
          </p:cNvSpPr>
          <p:nvPr/>
        </p:nvSpPr>
        <p:spPr bwMode="auto">
          <a:xfrm>
            <a:off x="6324600" y="5105400"/>
            <a:ext cx="1981200" cy="731838"/>
          </a:xfrm>
          <a:prstGeom prst="ellipse">
            <a:avLst/>
          </a:prstGeom>
          <a:solidFill>
            <a:srgbClr val="FFFFFF"/>
          </a:solidFill>
          <a:ln w="12700">
            <a:solidFill>
              <a:schemeClr val="tx1"/>
            </a:solidFill>
            <a:round/>
            <a:headEnd/>
            <a:tailEnd/>
          </a:ln>
        </p:spPr>
        <p:txBody>
          <a:bodyPr/>
          <a:lstStyle/>
          <a:p>
            <a:endParaRPr lang="fr-FR">
              <a:solidFill>
                <a:schemeClr val="tx2"/>
              </a:solidFill>
            </a:endParaRPr>
          </a:p>
        </p:txBody>
      </p:sp>
      <p:sp>
        <p:nvSpPr>
          <p:cNvPr id="60421" name="Text Box 5"/>
          <p:cNvSpPr txBox="1">
            <a:spLocks noChangeArrowheads="1"/>
          </p:cNvSpPr>
          <p:nvPr/>
        </p:nvSpPr>
        <p:spPr bwMode="auto">
          <a:xfrm>
            <a:off x="6400800" y="5257800"/>
            <a:ext cx="19050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fr-FR" altLang="fr-FR" sz="1600" b="1">
                <a:solidFill>
                  <a:schemeClr val="tx2"/>
                </a:solidFill>
              </a:rPr>
              <a:t>Cas d’utilisation</a:t>
            </a:r>
            <a:br>
              <a:rPr lang="fr-FR" altLang="fr-FR" sz="1600" b="1">
                <a:solidFill>
                  <a:schemeClr val="tx2"/>
                </a:solidFill>
              </a:rPr>
            </a:br>
            <a:r>
              <a:rPr lang="fr-FR" altLang="fr-FR" sz="1600" b="1">
                <a:solidFill>
                  <a:schemeClr val="tx2"/>
                </a:solidFill>
              </a:rPr>
              <a:t>fils</a:t>
            </a:r>
          </a:p>
        </p:txBody>
      </p:sp>
      <p:sp>
        <p:nvSpPr>
          <p:cNvPr id="60422" name="Oval 6"/>
          <p:cNvSpPr>
            <a:spLocks noChangeArrowheads="1"/>
          </p:cNvSpPr>
          <p:nvPr/>
        </p:nvSpPr>
        <p:spPr bwMode="auto">
          <a:xfrm>
            <a:off x="6324600" y="3429000"/>
            <a:ext cx="1905000" cy="762000"/>
          </a:xfrm>
          <a:prstGeom prst="ellipse">
            <a:avLst/>
          </a:prstGeom>
          <a:solidFill>
            <a:srgbClr val="FFFFFF"/>
          </a:solidFill>
          <a:ln w="12700">
            <a:solidFill>
              <a:schemeClr val="tx1"/>
            </a:solidFill>
            <a:round/>
            <a:headEnd/>
            <a:tailEnd/>
          </a:ln>
        </p:spPr>
        <p:txBody>
          <a:bodyPr/>
          <a:lstStyle/>
          <a:p>
            <a:endParaRPr lang="fr-FR">
              <a:solidFill>
                <a:schemeClr val="tx2"/>
              </a:solidFill>
            </a:endParaRPr>
          </a:p>
        </p:txBody>
      </p:sp>
      <p:sp>
        <p:nvSpPr>
          <p:cNvPr id="60423" name="Text Box 7"/>
          <p:cNvSpPr txBox="1">
            <a:spLocks noChangeArrowheads="1"/>
          </p:cNvSpPr>
          <p:nvPr/>
        </p:nvSpPr>
        <p:spPr bwMode="auto">
          <a:xfrm>
            <a:off x="6400800" y="3581400"/>
            <a:ext cx="18288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fr-FR" altLang="fr-FR" sz="1600" b="1">
                <a:solidFill>
                  <a:schemeClr val="tx2"/>
                </a:solidFill>
              </a:rPr>
              <a:t>Cas d’utilisation</a:t>
            </a:r>
            <a:br>
              <a:rPr lang="fr-FR" altLang="fr-FR" sz="1600" b="1">
                <a:solidFill>
                  <a:schemeClr val="tx2"/>
                </a:solidFill>
              </a:rPr>
            </a:br>
            <a:r>
              <a:rPr lang="fr-FR" altLang="fr-FR" sz="1600" b="1">
                <a:solidFill>
                  <a:schemeClr val="tx2"/>
                </a:solidFill>
              </a:rPr>
              <a:t>parent</a:t>
            </a:r>
          </a:p>
        </p:txBody>
      </p:sp>
      <p:sp>
        <p:nvSpPr>
          <p:cNvPr id="60428" name="AutoShape 12"/>
          <p:cNvSpPr>
            <a:spLocks noChangeArrowheads="1"/>
          </p:cNvSpPr>
          <p:nvPr/>
        </p:nvSpPr>
        <p:spPr bwMode="auto">
          <a:xfrm>
            <a:off x="7162800" y="4037707"/>
            <a:ext cx="366960" cy="611386"/>
          </a:xfrm>
          <a:prstGeom prst="triangle">
            <a:avLst>
              <a:gd name="adj" fmla="val 50000"/>
            </a:avLst>
          </a:prstGeom>
          <a:solidFill>
            <a:schemeClr val="tx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fr-FR">
              <a:solidFill>
                <a:schemeClr val="tx2"/>
              </a:solidFill>
            </a:endParaRPr>
          </a:p>
        </p:txBody>
      </p:sp>
      <p:sp>
        <p:nvSpPr>
          <p:cNvPr id="60429" name="Line 13"/>
          <p:cNvSpPr>
            <a:spLocks noChangeShapeType="1"/>
          </p:cNvSpPr>
          <p:nvPr/>
        </p:nvSpPr>
        <p:spPr bwMode="auto">
          <a:xfrm>
            <a:off x="7315200" y="4495800"/>
            <a:ext cx="0" cy="6096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fr-FR">
              <a:solidFill>
                <a:schemeClr val="tx2"/>
              </a:solidFill>
            </a:endParaRPr>
          </a:p>
        </p:txBody>
      </p:sp>
    </p:spTree>
    <p:extLst>
      <p:ext uri="{BB962C8B-B14F-4D97-AF65-F5344CB8AC3E}">
        <p14:creationId xmlns:p14="http://schemas.microsoft.com/office/powerpoint/2010/main" val="9653468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r>
              <a:rPr lang="fr-FR" altLang="fr-FR"/>
              <a:t>La relation de généralisation : Exemple</a:t>
            </a:r>
          </a:p>
        </p:txBody>
      </p:sp>
      <p:sp>
        <p:nvSpPr>
          <p:cNvPr id="62467" name="Rectangle 3"/>
          <p:cNvSpPr>
            <a:spLocks noGrp="1" noChangeArrowheads="1"/>
          </p:cNvSpPr>
          <p:nvPr>
            <p:ph type="body" idx="1"/>
          </p:nvPr>
        </p:nvSpPr>
        <p:spPr>
          <a:xfrm>
            <a:off x="279400" y="1312863"/>
            <a:ext cx="8599488" cy="366712"/>
          </a:xfrm>
        </p:spPr>
        <p:txBody>
          <a:bodyPr/>
          <a:lstStyle/>
          <a:p>
            <a:r>
              <a:rPr lang="fr-FR" altLang="fr-FR"/>
              <a:t>Un conducteur peut être identifié de différentes façons</a:t>
            </a:r>
          </a:p>
        </p:txBody>
      </p:sp>
      <p:pic>
        <p:nvPicPr>
          <p:cNvPr id="62470" name="Picture 6" descr="3-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2600" y="2209800"/>
            <a:ext cx="8178800" cy="2722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32662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r>
              <a:rPr lang="fr-FR" altLang="fr-FR"/>
              <a:t>Relations entre acteurs</a:t>
            </a:r>
          </a:p>
        </p:txBody>
      </p:sp>
      <p:sp>
        <p:nvSpPr>
          <p:cNvPr id="64515" name="Rectangle 3"/>
          <p:cNvSpPr>
            <a:spLocks noGrp="1" noChangeArrowheads="1"/>
          </p:cNvSpPr>
          <p:nvPr>
            <p:ph type="body" idx="1"/>
          </p:nvPr>
        </p:nvSpPr>
        <p:spPr>
          <a:xfrm>
            <a:off x="279400" y="1312863"/>
            <a:ext cx="8599488" cy="2517775"/>
          </a:xfrm>
        </p:spPr>
        <p:txBody>
          <a:bodyPr/>
          <a:lstStyle/>
          <a:p>
            <a:r>
              <a:rPr lang="fr-FR" altLang="fr-FR"/>
              <a:t>Un acteur est un type de classe ; des relations de généralisation peuvent y être appliquées</a:t>
            </a:r>
          </a:p>
          <a:p>
            <a:pPr lvl="1"/>
            <a:r>
              <a:rPr lang="fr-FR" altLang="fr-FR"/>
              <a:t>Un acteur fils peut remplacer un acteur parent dans ses interactions avec les cas d’utilisation, mais il peut également interagir avec des cas d’utilisation supplémentaires</a:t>
            </a:r>
          </a:p>
          <a:p>
            <a:r>
              <a:rPr lang="fr-FR" altLang="fr-FR"/>
              <a:t>Un acteur parent peut être abstrait</a:t>
            </a:r>
          </a:p>
          <a:p>
            <a:pPr lvl="1"/>
            <a:r>
              <a:rPr lang="fr-FR" altLang="fr-FR"/>
              <a:t>Cette possibilité existe uniquement pour regrouper des interactions entre acteurs et cas d’utilisation</a:t>
            </a:r>
          </a:p>
        </p:txBody>
      </p:sp>
      <p:grpSp>
        <p:nvGrpSpPr>
          <p:cNvPr id="64516" name="Group 4"/>
          <p:cNvGrpSpPr>
            <a:grpSpLocks/>
          </p:cNvGrpSpPr>
          <p:nvPr/>
        </p:nvGrpSpPr>
        <p:grpSpPr bwMode="auto">
          <a:xfrm>
            <a:off x="1219200" y="5181600"/>
            <a:ext cx="414338" cy="800100"/>
            <a:chOff x="1488" y="2016"/>
            <a:chExt cx="311" cy="600"/>
          </a:xfrm>
        </p:grpSpPr>
        <p:sp>
          <p:nvSpPr>
            <p:cNvPr id="64517" name="Oval 5"/>
            <p:cNvSpPr>
              <a:spLocks noChangeArrowheads="1"/>
            </p:cNvSpPr>
            <p:nvPr/>
          </p:nvSpPr>
          <p:spPr bwMode="auto">
            <a:xfrm>
              <a:off x="1545" y="2016"/>
              <a:ext cx="191" cy="192"/>
            </a:xfrm>
            <a:prstGeom prst="ellipse">
              <a:avLst/>
            </a:prstGeom>
            <a:solidFill>
              <a:srgbClr val="FFFFFF"/>
            </a:solidFill>
            <a:ln w="9525">
              <a:solidFill>
                <a:schemeClr val="tx1"/>
              </a:solidFill>
              <a:round/>
              <a:headEnd/>
              <a:tailEnd/>
            </a:ln>
          </p:spPr>
          <p:txBody>
            <a:bodyPr/>
            <a:lstStyle/>
            <a:p>
              <a:endParaRPr lang="fr-FR">
                <a:solidFill>
                  <a:schemeClr val="tx2"/>
                </a:solidFill>
              </a:endParaRPr>
            </a:p>
          </p:txBody>
        </p:sp>
        <p:sp>
          <p:nvSpPr>
            <p:cNvPr id="64518" name="Line 6"/>
            <p:cNvSpPr>
              <a:spLocks noChangeShapeType="1"/>
            </p:cNvSpPr>
            <p:nvPr/>
          </p:nvSpPr>
          <p:spPr bwMode="auto">
            <a:xfrm>
              <a:off x="1632" y="2208"/>
              <a:ext cx="0" cy="23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sp>
          <p:nvSpPr>
            <p:cNvPr id="64519" name="Line 7"/>
            <p:cNvSpPr>
              <a:spLocks noChangeShapeType="1"/>
            </p:cNvSpPr>
            <p:nvPr/>
          </p:nvSpPr>
          <p:spPr bwMode="auto">
            <a:xfrm>
              <a:off x="1488" y="2304"/>
              <a:ext cx="28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sp>
          <p:nvSpPr>
            <p:cNvPr id="64520" name="Line 8"/>
            <p:cNvSpPr>
              <a:spLocks noChangeShapeType="1"/>
            </p:cNvSpPr>
            <p:nvPr/>
          </p:nvSpPr>
          <p:spPr bwMode="auto">
            <a:xfrm flipH="1">
              <a:off x="1488" y="2448"/>
              <a:ext cx="144" cy="1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sp>
          <p:nvSpPr>
            <p:cNvPr id="64521" name="Line 9"/>
            <p:cNvSpPr>
              <a:spLocks noChangeShapeType="1"/>
            </p:cNvSpPr>
            <p:nvPr/>
          </p:nvSpPr>
          <p:spPr bwMode="auto">
            <a:xfrm>
              <a:off x="1632" y="2448"/>
              <a:ext cx="167" cy="1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grpSp>
      <p:sp>
        <p:nvSpPr>
          <p:cNvPr id="64522" name="Text Box 10"/>
          <p:cNvSpPr txBox="1">
            <a:spLocks noChangeArrowheads="1"/>
          </p:cNvSpPr>
          <p:nvPr/>
        </p:nvSpPr>
        <p:spPr bwMode="auto">
          <a:xfrm>
            <a:off x="762000" y="6019800"/>
            <a:ext cx="1368425" cy="26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fr-FR" altLang="fr-FR" sz="1600" b="1">
                <a:solidFill>
                  <a:schemeClr val="tx2"/>
                </a:solidFill>
              </a:rPr>
              <a:t>Acteur fils</a:t>
            </a:r>
          </a:p>
        </p:txBody>
      </p:sp>
      <p:grpSp>
        <p:nvGrpSpPr>
          <p:cNvPr id="64523" name="Group 11"/>
          <p:cNvGrpSpPr>
            <a:grpSpLocks/>
          </p:cNvGrpSpPr>
          <p:nvPr/>
        </p:nvGrpSpPr>
        <p:grpSpPr bwMode="auto">
          <a:xfrm>
            <a:off x="2590800" y="4038600"/>
            <a:ext cx="414338" cy="800100"/>
            <a:chOff x="1488" y="2016"/>
            <a:chExt cx="311" cy="600"/>
          </a:xfrm>
        </p:grpSpPr>
        <p:sp>
          <p:nvSpPr>
            <p:cNvPr id="64524" name="Oval 12"/>
            <p:cNvSpPr>
              <a:spLocks noChangeArrowheads="1"/>
            </p:cNvSpPr>
            <p:nvPr/>
          </p:nvSpPr>
          <p:spPr bwMode="auto">
            <a:xfrm>
              <a:off x="1545" y="2016"/>
              <a:ext cx="191" cy="192"/>
            </a:xfrm>
            <a:prstGeom prst="ellipse">
              <a:avLst/>
            </a:prstGeom>
            <a:solidFill>
              <a:srgbClr val="FFFFFF"/>
            </a:solidFill>
            <a:ln w="9525">
              <a:solidFill>
                <a:schemeClr val="tx1"/>
              </a:solidFill>
              <a:round/>
              <a:headEnd/>
              <a:tailEnd/>
            </a:ln>
          </p:spPr>
          <p:txBody>
            <a:bodyPr/>
            <a:lstStyle/>
            <a:p>
              <a:endParaRPr lang="fr-FR">
                <a:solidFill>
                  <a:schemeClr val="tx2"/>
                </a:solidFill>
              </a:endParaRPr>
            </a:p>
          </p:txBody>
        </p:sp>
        <p:sp>
          <p:nvSpPr>
            <p:cNvPr id="64525" name="Line 13"/>
            <p:cNvSpPr>
              <a:spLocks noChangeShapeType="1"/>
            </p:cNvSpPr>
            <p:nvPr/>
          </p:nvSpPr>
          <p:spPr bwMode="auto">
            <a:xfrm>
              <a:off x="1632" y="2208"/>
              <a:ext cx="0" cy="23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sp>
          <p:nvSpPr>
            <p:cNvPr id="64526" name="Line 14"/>
            <p:cNvSpPr>
              <a:spLocks noChangeShapeType="1"/>
            </p:cNvSpPr>
            <p:nvPr/>
          </p:nvSpPr>
          <p:spPr bwMode="auto">
            <a:xfrm>
              <a:off x="1488" y="2304"/>
              <a:ext cx="28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sp>
          <p:nvSpPr>
            <p:cNvPr id="64527" name="Line 15"/>
            <p:cNvSpPr>
              <a:spLocks noChangeShapeType="1"/>
            </p:cNvSpPr>
            <p:nvPr/>
          </p:nvSpPr>
          <p:spPr bwMode="auto">
            <a:xfrm flipH="1">
              <a:off x="1488" y="2448"/>
              <a:ext cx="144" cy="1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sp>
          <p:nvSpPr>
            <p:cNvPr id="64528" name="Line 16"/>
            <p:cNvSpPr>
              <a:spLocks noChangeShapeType="1"/>
            </p:cNvSpPr>
            <p:nvPr/>
          </p:nvSpPr>
          <p:spPr bwMode="auto">
            <a:xfrm>
              <a:off x="1632" y="2448"/>
              <a:ext cx="167" cy="1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grpSp>
      <p:sp>
        <p:nvSpPr>
          <p:cNvPr id="64529" name="Text Box 17"/>
          <p:cNvSpPr txBox="1">
            <a:spLocks noChangeArrowheads="1"/>
          </p:cNvSpPr>
          <p:nvPr/>
        </p:nvSpPr>
        <p:spPr bwMode="auto">
          <a:xfrm>
            <a:off x="1981200" y="4876800"/>
            <a:ext cx="1600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fr-FR" altLang="fr-FR" sz="1600" b="1" i="1">
                <a:solidFill>
                  <a:schemeClr val="tx2"/>
                </a:solidFill>
              </a:rPr>
              <a:t>Acteur </a:t>
            </a:r>
            <a:br>
              <a:rPr lang="fr-FR" altLang="fr-FR" sz="1600" b="1" i="1">
                <a:solidFill>
                  <a:schemeClr val="tx2"/>
                </a:solidFill>
              </a:rPr>
            </a:br>
            <a:r>
              <a:rPr lang="fr-FR" altLang="fr-FR" sz="1600" b="1" i="1">
                <a:solidFill>
                  <a:schemeClr val="tx2"/>
                </a:solidFill>
              </a:rPr>
              <a:t>parent </a:t>
            </a:r>
            <a:br>
              <a:rPr lang="fr-FR" altLang="fr-FR" sz="1600" b="1" i="1">
                <a:solidFill>
                  <a:schemeClr val="tx2"/>
                </a:solidFill>
              </a:rPr>
            </a:br>
            <a:r>
              <a:rPr lang="fr-FR" altLang="fr-FR" sz="1600" b="1" i="1">
                <a:solidFill>
                  <a:schemeClr val="tx2"/>
                </a:solidFill>
              </a:rPr>
              <a:t>abstrait</a:t>
            </a:r>
          </a:p>
        </p:txBody>
      </p:sp>
      <p:grpSp>
        <p:nvGrpSpPr>
          <p:cNvPr id="64530" name="Group 18"/>
          <p:cNvGrpSpPr>
            <a:grpSpLocks/>
          </p:cNvGrpSpPr>
          <p:nvPr/>
        </p:nvGrpSpPr>
        <p:grpSpPr bwMode="auto">
          <a:xfrm>
            <a:off x="4038600" y="5181600"/>
            <a:ext cx="414338" cy="800100"/>
            <a:chOff x="1488" y="2016"/>
            <a:chExt cx="311" cy="600"/>
          </a:xfrm>
        </p:grpSpPr>
        <p:sp>
          <p:nvSpPr>
            <p:cNvPr id="64531" name="Oval 19"/>
            <p:cNvSpPr>
              <a:spLocks noChangeArrowheads="1"/>
            </p:cNvSpPr>
            <p:nvPr/>
          </p:nvSpPr>
          <p:spPr bwMode="auto">
            <a:xfrm>
              <a:off x="1545" y="2016"/>
              <a:ext cx="191" cy="192"/>
            </a:xfrm>
            <a:prstGeom prst="ellipse">
              <a:avLst/>
            </a:prstGeom>
            <a:solidFill>
              <a:srgbClr val="FFFFFF"/>
            </a:solidFill>
            <a:ln w="9525">
              <a:solidFill>
                <a:schemeClr val="tx1"/>
              </a:solidFill>
              <a:round/>
              <a:headEnd/>
              <a:tailEnd/>
            </a:ln>
          </p:spPr>
          <p:txBody>
            <a:bodyPr/>
            <a:lstStyle/>
            <a:p>
              <a:endParaRPr lang="fr-FR">
                <a:solidFill>
                  <a:schemeClr val="tx2"/>
                </a:solidFill>
              </a:endParaRPr>
            </a:p>
          </p:txBody>
        </p:sp>
        <p:sp>
          <p:nvSpPr>
            <p:cNvPr id="64532" name="Line 20"/>
            <p:cNvSpPr>
              <a:spLocks noChangeShapeType="1"/>
            </p:cNvSpPr>
            <p:nvPr/>
          </p:nvSpPr>
          <p:spPr bwMode="auto">
            <a:xfrm>
              <a:off x="1632" y="2208"/>
              <a:ext cx="0" cy="23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sp>
          <p:nvSpPr>
            <p:cNvPr id="64533" name="Line 21"/>
            <p:cNvSpPr>
              <a:spLocks noChangeShapeType="1"/>
            </p:cNvSpPr>
            <p:nvPr/>
          </p:nvSpPr>
          <p:spPr bwMode="auto">
            <a:xfrm>
              <a:off x="1488" y="2304"/>
              <a:ext cx="28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sp>
          <p:nvSpPr>
            <p:cNvPr id="64534" name="Line 22"/>
            <p:cNvSpPr>
              <a:spLocks noChangeShapeType="1"/>
            </p:cNvSpPr>
            <p:nvPr/>
          </p:nvSpPr>
          <p:spPr bwMode="auto">
            <a:xfrm flipH="1">
              <a:off x="1488" y="2448"/>
              <a:ext cx="144" cy="1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sp>
          <p:nvSpPr>
            <p:cNvPr id="64535" name="Line 23"/>
            <p:cNvSpPr>
              <a:spLocks noChangeShapeType="1"/>
            </p:cNvSpPr>
            <p:nvPr/>
          </p:nvSpPr>
          <p:spPr bwMode="auto">
            <a:xfrm>
              <a:off x="1632" y="2448"/>
              <a:ext cx="167" cy="1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grpSp>
      <p:sp>
        <p:nvSpPr>
          <p:cNvPr id="64536" name="Text Box 24"/>
          <p:cNvSpPr txBox="1">
            <a:spLocks noChangeArrowheads="1"/>
          </p:cNvSpPr>
          <p:nvPr/>
        </p:nvSpPr>
        <p:spPr bwMode="auto">
          <a:xfrm>
            <a:off x="3581400" y="6019800"/>
            <a:ext cx="1368425" cy="26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fr-FR" altLang="fr-FR" sz="1600" b="1">
                <a:solidFill>
                  <a:schemeClr val="tx2"/>
                </a:solidFill>
              </a:rPr>
              <a:t>Acteur fils</a:t>
            </a:r>
          </a:p>
        </p:txBody>
      </p:sp>
      <p:grpSp>
        <p:nvGrpSpPr>
          <p:cNvPr id="64543" name="Group 31"/>
          <p:cNvGrpSpPr>
            <a:grpSpLocks/>
          </p:cNvGrpSpPr>
          <p:nvPr/>
        </p:nvGrpSpPr>
        <p:grpSpPr bwMode="auto">
          <a:xfrm>
            <a:off x="5867400" y="5181600"/>
            <a:ext cx="414338" cy="800100"/>
            <a:chOff x="1488" y="2016"/>
            <a:chExt cx="311" cy="600"/>
          </a:xfrm>
        </p:grpSpPr>
        <p:sp>
          <p:nvSpPr>
            <p:cNvPr id="64544" name="Oval 32"/>
            <p:cNvSpPr>
              <a:spLocks noChangeArrowheads="1"/>
            </p:cNvSpPr>
            <p:nvPr/>
          </p:nvSpPr>
          <p:spPr bwMode="auto">
            <a:xfrm>
              <a:off x="1545" y="2016"/>
              <a:ext cx="191" cy="192"/>
            </a:xfrm>
            <a:prstGeom prst="ellipse">
              <a:avLst/>
            </a:prstGeom>
            <a:solidFill>
              <a:srgbClr val="FFFFFF"/>
            </a:solidFill>
            <a:ln w="9525">
              <a:solidFill>
                <a:schemeClr val="tx1"/>
              </a:solidFill>
              <a:round/>
              <a:headEnd/>
              <a:tailEnd/>
            </a:ln>
          </p:spPr>
          <p:txBody>
            <a:bodyPr/>
            <a:lstStyle/>
            <a:p>
              <a:endParaRPr lang="fr-FR">
                <a:solidFill>
                  <a:schemeClr val="tx2"/>
                </a:solidFill>
              </a:endParaRPr>
            </a:p>
          </p:txBody>
        </p:sp>
        <p:sp>
          <p:nvSpPr>
            <p:cNvPr id="64545" name="Line 33"/>
            <p:cNvSpPr>
              <a:spLocks noChangeShapeType="1"/>
            </p:cNvSpPr>
            <p:nvPr/>
          </p:nvSpPr>
          <p:spPr bwMode="auto">
            <a:xfrm>
              <a:off x="1632" y="2208"/>
              <a:ext cx="0" cy="23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sp>
          <p:nvSpPr>
            <p:cNvPr id="64546" name="Line 34"/>
            <p:cNvSpPr>
              <a:spLocks noChangeShapeType="1"/>
            </p:cNvSpPr>
            <p:nvPr/>
          </p:nvSpPr>
          <p:spPr bwMode="auto">
            <a:xfrm>
              <a:off x="1488" y="2304"/>
              <a:ext cx="28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sp>
          <p:nvSpPr>
            <p:cNvPr id="64547" name="Line 35"/>
            <p:cNvSpPr>
              <a:spLocks noChangeShapeType="1"/>
            </p:cNvSpPr>
            <p:nvPr/>
          </p:nvSpPr>
          <p:spPr bwMode="auto">
            <a:xfrm flipH="1">
              <a:off x="1488" y="2448"/>
              <a:ext cx="144" cy="1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sp>
          <p:nvSpPr>
            <p:cNvPr id="64548" name="Line 36"/>
            <p:cNvSpPr>
              <a:spLocks noChangeShapeType="1"/>
            </p:cNvSpPr>
            <p:nvPr/>
          </p:nvSpPr>
          <p:spPr bwMode="auto">
            <a:xfrm>
              <a:off x="1632" y="2448"/>
              <a:ext cx="167" cy="1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grpSp>
      <p:sp>
        <p:nvSpPr>
          <p:cNvPr id="64549" name="Text Box 37"/>
          <p:cNvSpPr txBox="1">
            <a:spLocks noChangeArrowheads="1"/>
          </p:cNvSpPr>
          <p:nvPr/>
        </p:nvSpPr>
        <p:spPr bwMode="auto">
          <a:xfrm>
            <a:off x="5410200" y="6019800"/>
            <a:ext cx="1368425" cy="26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fr-FR" altLang="fr-FR" sz="1600" b="1">
                <a:solidFill>
                  <a:schemeClr val="tx2"/>
                </a:solidFill>
              </a:rPr>
              <a:t>Acteur fils</a:t>
            </a:r>
          </a:p>
        </p:txBody>
      </p:sp>
      <p:grpSp>
        <p:nvGrpSpPr>
          <p:cNvPr id="64566" name="Group 54"/>
          <p:cNvGrpSpPr>
            <a:grpSpLocks/>
          </p:cNvGrpSpPr>
          <p:nvPr/>
        </p:nvGrpSpPr>
        <p:grpSpPr bwMode="auto">
          <a:xfrm>
            <a:off x="6172200" y="4464050"/>
            <a:ext cx="981075" cy="508000"/>
            <a:chOff x="3801" y="2889"/>
            <a:chExt cx="618" cy="320"/>
          </a:xfrm>
        </p:grpSpPr>
        <p:sp>
          <p:nvSpPr>
            <p:cNvPr id="64551" name="AutoShape 39"/>
            <p:cNvSpPr>
              <a:spLocks noChangeArrowheads="1"/>
            </p:cNvSpPr>
            <p:nvPr/>
          </p:nvSpPr>
          <p:spPr bwMode="auto">
            <a:xfrm rot="2825733">
              <a:off x="4111" y="2812"/>
              <a:ext cx="231" cy="385"/>
            </a:xfrm>
            <a:prstGeom prst="triangle">
              <a:avLst>
                <a:gd name="adj" fmla="val 50000"/>
              </a:avLst>
            </a:prstGeom>
            <a:solidFill>
              <a:schemeClr val="tx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fr-FR">
                <a:solidFill>
                  <a:schemeClr val="tx2"/>
                </a:solidFill>
              </a:endParaRPr>
            </a:p>
          </p:txBody>
        </p:sp>
        <p:sp>
          <p:nvSpPr>
            <p:cNvPr id="64552" name="Line 40"/>
            <p:cNvSpPr>
              <a:spLocks noChangeShapeType="1"/>
            </p:cNvSpPr>
            <p:nvPr/>
          </p:nvSpPr>
          <p:spPr bwMode="auto">
            <a:xfrm rot="2825733">
              <a:off x="4006" y="3004"/>
              <a:ext cx="0" cy="40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fr-FR">
                <a:solidFill>
                  <a:schemeClr val="tx2"/>
                </a:solidFill>
              </a:endParaRPr>
            </a:p>
          </p:txBody>
        </p:sp>
      </p:grpSp>
      <p:grpSp>
        <p:nvGrpSpPr>
          <p:cNvPr id="64553" name="Group 41"/>
          <p:cNvGrpSpPr>
            <a:grpSpLocks/>
          </p:cNvGrpSpPr>
          <p:nvPr/>
        </p:nvGrpSpPr>
        <p:grpSpPr bwMode="auto">
          <a:xfrm>
            <a:off x="7086600" y="4038600"/>
            <a:ext cx="414338" cy="800100"/>
            <a:chOff x="1488" y="2016"/>
            <a:chExt cx="311" cy="600"/>
          </a:xfrm>
        </p:grpSpPr>
        <p:sp>
          <p:nvSpPr>
            <p:cNvPr id="64554" name="Oval 42"/>
            <p:cNvSpPr>
              <a:spLocks noChangeArrowheads="1"/>
            </p:cNvSpPr>
            <p:nvPr/>
          </p:nvSpPr>
          <p:spPr bwMode="auto">
            <a:xfrm>
              <a:off x="1545" y="2016"/>
              <a:ext cx="191" cy="192"/>
            </a:xfrm>
            <a:prstGeom prst="ellipse">
              <a:avLst/>
            </a:prstGeom>
            <a:solidFill>
              <a:srgbClr val="FFFFFF"/>
            </a:solidFill>
            <a:ln w="9525">
              <a:solidFill>
                <a:schemeClr val="tx1"/>
              </a:solidFill>
              <a:round/>
              <a:headEnd/>
              <a:tailEnd/>
            </a:ln>
          </p:spPr>
          <p:txBody>
            <a:bodyPr/>
            <a:lstStyle/>
            <a:p>
              <a:endParaRPr lang="fr-FR">
                <a:solidFill>
                  <a:schemeClr val="tx2"/>
                </a:solidFill>
              </a:endParaRPr>
            </a:p>
          </p:txBody>
        </p:sp>
        <p:sp>
          <p:nvSpPr>
            <p:cNvPr id="64555" name="Line 43"/>
            <p:cNvSpPr>
              <a:spLocks noChangeShapeType="1"/>
            </p:cNvSpPr>
            <p:nvPr/>
          </p:nvSpPr>
          <p:spPr bwMode="auto">
            <a:xfrm>
              <a:off x="1632" y="2208"/>
              <a:ext cx="0" cy="23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sp>
          <p:nvSpPr>
            <p:cNvPr id="64556" name="Line 44"/>
            <p:cNvSpPr>
              <a:spLocks noChangeShapeType="1"/>
            </p:cNvSpPr>
            <p:nvPr/>
          </p:nvSpPr>
          <p:spPr bwMode="auto">
            <a:xfrm>
              <a:off x="1488" y="2304"/>
              <a:ext cx="28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sp>
          <p:nvSpPr>
            <p:cNvPr id="64557" name="Line 45"/>
            <p:cNvSpPr>
              <a:spLocks noChangeShapeType="1"/>
            </p:cNvSpPr>
            <p:nvPr/>
          </p:nvSpPr>
          <p:spPr bwMode="auto">
            <a:xfrm flipH="1">
              <a:off x="1488" y="2448"/>
              <a:ext cx="144" cy="1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sp>
          <p:nvSpPr>
            <p:cNvPr id="64558" name="Line 46"/>
            <p:cNvSpPr>
              <a:spLocks noChangeShapeType="1"/>
            </p:cNvSpPr>
            <p:nvPr/>
          </p:nvSpPr>
          <p:spPr bwMode="auto">
            <a:xfrm>
              <a:off x="1632" y="2448"/>
              <a:ext cx="167" cy="1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grpSp>
      <p:sp>
        <p:nvSpPr>
          <p:cNvPr id="64559" name="Text Box 47"/>
          <p:cNvSpPr txBox="1">
            <a:spLocks noChangeArrowheads="1"/>
          </p:cNvSpPr>
          <p:nvPr/>
        </p:nvSpPr>
        <p:spPr bwMode="auto">
          <a:xfrm>
            <a:off x="6629400" y="4876800"/>
            <a:ext cx="1368425" cy="26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fr-FR" altLang="fr-FR" sz="1600" b="1">
                <a:solidFill>
                  <a:schemeClr val="tx2"/>
                </a:solidFill>
              </a:rPr>
              <a:t>Acteur parent</a:t>
            </a:r>
          </a:p>
        </p:txBody>
      </p:sp>
      <p:grpSp>
        <p:nvGrpSpPr>
          <p:cNvPr id="64562" name="Group 50"/>
          <p:cNvGrpSpPr>
            <a:grpSpLocks/>
          </p:cNvGrpSpPr>
          <p:nvPr/>
        </p:nvGrpSpPr>
        <p:grpSpPr bwMode="auto">
          <a:xfrm rot="3083399">
            <a:off x="2003262" y="4180262"/>
            <a:ext cx="304800" cy="1296988"/>
            <a:chOff x="2304" y="2351"/>
            <a:chExt cx="192" cy="817"/>
          </a:xfrm>
        </p:grpSpPr>
        <p:sp>
          <p:nvSpPr>
            <p:cNvPr id="64560" name="Line 48"/>
            <p:cNvSpPr>
              <a:spLocks noChangeShapeType="1"/>
            </p:cNvSpPr>
            <p:nvPr/>
          </p:nvSpPr>
          <p:spPr bwMode="auto">
            <a:xfrm flipV="1">
              <a:off x="2400" y="2640"/>
              <a:ext cx="0" cy="52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fr-FR">
                <a:solidFill>
                  <a:schemeClr val="tx2"/>
                </a:solidFill>
              </a:endParaRPr>
            </a:p>
          </p:txBody>
        </p:sp>
        <p:sp>
          <p:nvSpPr>
            <p:cNvPr id="64561" name="AutoShape 49"/>
            <p:cNvSpPr>
              <a:spLocks noChangeArrowheads="1"/>
            </p:cNvSpPr>
            <p:nvPr/>
          </p:nvSpPr>
          <p:spPr bwMode="auto">
            <a:xfrm>
              <a:off x="2304" y="2351"/>
              <a:ext cx="192" cy="385"/>
            </a:xfrm>
            <a:prstGeom prst="triangle">
              <a:avLst>
                <a:gd name="adj" fmla="val 50000"/>
              </a:avLst>
            </a:prstGeom>
            <a:solidFill>
              <a:schemeClr val="tx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fr-FR">
                <a:solidFill>
                  <a:schemeClr val="tx2"/>
                </a:solidFill>
              </a:endParaRPr>
            </a:p>
          </p:txBody>
        </p:sp>
      </p:grpSp>
      <p:grpSp>
        <p:nvGrpSpPr>
          <p:cNvPr id="64563" name="Group 51"/>
          <p:cNvGrpSpPr>
            <a:grpSpLocks/>
          </p:cNvGrpSpPr>
          <p:nvPr/>
        </p:nvGrpSpPr>
        <p:grpSpPr bwMode="auto">
          <a:xfrm rot="18516601" flipH="1">
            <a:off x="3330738" y="4180262"/>
            <a:ext cx="304800" cy="1296988"/>
            <a:chOff x="2304" y="2351"/>
            <a:chExt cx="192" cy="817"/>
          </a:xfrm>
        </p:grpSpPr>
        <p:sp>
          <p:nvSpPr>
            <p:cNvPr id="64564" name="Line 52"/>
            <p:cNvSpPr>
              <a:spLocks noChangeShapeType="1"/>
            </p:cNvSpPr>
            <p:nvPr/>
          </p:nvSpPr>
          <p:spPr bwMode="auto">
            <a:xfrm flipV="1">
              <a:off x="2400" y="2640"/>
              <a:ext cx="0" cy="52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fr-FR">
                <a:solidFill>
                  <a:schemeClr val="tx2"/>
                </a:solidFill>
              </a:endParaRPr>
            </a:p>
          </p:txBody>
        </p:sp>
        <p:sp>
          <p:nvSpPr>
            <p:cNvPr id="64565" name="AutoShape 53"/>
            <p:cNvSpPr>
              <a:spLocks noChangeArrowheads="1"/>
            </p:cNvSpPr>
            <p:nvPr/>
          </p:nvSpPr>
          <p:spPr bwMode="auto">
            <a:xfrm>
              <a:off x="2304" y="2351"/>
              <a:ext cx="192" cy="385"/>
            </a:xfrm>
            <a:prstGeom prst="triangle">
              <a:avLst>
                <a:gd name="adj" fmla="val 50000"/>
              </a:avLst>
            </a:prstGeom>
            <a:solidFill>
              <a:schemeClr val="tx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fr-FR">
                <a:solidFill>
                  <a:schemeClr val="tx2"/>
                </a:solidFill>
              </a:endParaRPr>
            </a:p>
          </p:txBody>
        </p:sp>
      </p:grpSp>
    </p:spTree>
    <p:extLst>
      <p:ext uri="{BB962C8B-B14F-4D97-AF65-F5344CB8AC3E}">
        <p14:creationId xmlns:p14="http://schemas.microsoft.com/office/powerpoint/2010/main" val="28058885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r>
              <a:rPr lang="fr-FR" altLang="fr-FR"/>
              <a:t>Relations entre acteurs : Exemple</a:t>
            </a:r>
          </a:p>
        </p:txBody>
      </p:sp>
      <p:sp>
        <p:nvSpPr>
          <p:cNvPr id="66563" name="Rectangle 3"/>
          <p:cNvSpPr>
            <a:spLocks noGrp="1" noChangeArrowheads="1"/>
          </p:cNvSpPr>
          <p:nvPr>
            <p:ph type="body" idx="1"/>
          </p:nvPr>
        </p:nvSpPr>
        <p:spPr/>
        <p:txBody>
          <a:bodyPr/>
          <a:lstStyle/>
          <a:p>
            <a:r>
              <a:rPr lang="fr-FR" altLang="fr-FR"/>
              <a:t>Les cas d’utilisation peuvent être appelés :</a:t>
            </a:r>
          </a:p>
          <a:p>
            <a:pPr lvl="1"/>
            <a:r>
              <a:rPr lang="fr-FR" altLang="fr-FR"/>
              <a:t>Soit uniquement par les conducteurs</a:t>
            </a:r>
          </a:p>
          <a:p>
            <a:pPr lvl="1"/>
            <a:r>
              <a:rPr lang="fr-FR" altLang="fr-FR"/>
              <a:t>Soit uniquement par le personnel médical</a:t>
            </a:r>
          </a:p>
          <a:p>
            <a:pPr lvl="1"/>
            <a:r>
              <a:rPr lang="fr-FR" altLang="fr-FR"/>
              <a:t>Soit par tout membre du personnel ambulancier</a:t>
            </a:r>
          </a:p>
        </p:txBody>
      </p:sp>
      <p:sp>
        <p:nvSpPr>
          <p:cNvPr id="66565" name="Text Box 5"/>
          <p:cNvSpPr txBox="1">
            <a:spLocks noChangeArrowheads="1"/>
          </p:cNvSpPr>
          <p:nvPr/>
        </p:nvSpPr>
        <p:spPr bwMode="auto">
          <a:xfrm>
            <a:off x="304800" y="6172200"/>
            <a:ext cx="5562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ts val="200"/>
              </a:spcBef>
              <a:buClr>
                <a:schemeClr val="accent2"/>
              </a:buClr>
              <a:buFont typeface="Arial" panose="020B0604020202020204" pitchFamily="34" charset="0"/>
              <a:buNone/>
            </a:pPr>
            <a:r>
              <a:rPr lang="fr-FR" altLang="fr-FR">
                <a:solidFill>
                  <a:srgbClr val="000080"/>
                </a:solidFill>
              </a:rPr>
              <a:t>ECG = ÉlectroCardioGramme</a:t>
            </a:r>
            <a:endParaRPr lang="fr-FR" altLang="fr-FR"/>
          </a:p>
        </p:txBody>
      </p:sp>
      <p:pic>
        <p:nvPicPr>
          <p:cNvPr id="66567" name="Picture 7" descr="3-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6350" y="2743200"/>
            <a:ext cx="6591300" cy="3251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13909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r>
              <a:rPr lang="fr-FR" altLang="fr-FR"/>
              <a:t>Buts et utilisations</a:t>
            </a:r>
          </a:p>
        </p:txBody>
      </p:sp>
      <p:sp>
        <p:nvSpPr>
          <p:cNvPr id="69635" name="Rectangle 3"/>
          <p:cNvSpPr>
            <a:spLocks noGrp="1" noChangeArrowheads="1"/>
          </p:cNvSpPr>
          <p:nvPr>
            <p:ph type="body" idx="1"/>
          </p:nvPr>
        </p:nvSpPr>
        <p:spPr>
          <a:xfrm>
            <a:off x="279400" y="1312863"/>
            <a:ext cx="8599488" cy="3143250"/>
          </a:xfrm>
        </p:spPr>
        <p:txBody>
          <a:bodyPr/>
          <a:lstStyle/>
          <a:p>
            <a:r>
              <a:rPr lang="fr-FR" altLang="fr-FR"/>
              <a:t>Le diagramme de cas d’utilisation est utilisé pour la modélisation des besoins du système</a:t>
            </a:r>
          </a:p>
          <a:p>
            <a:pPr lvl="1"/>
            <a:r>
              <a:rPr lang="fr-FR" altLang="fr-FR"/>
              <a:t>Les diagrammes de cas d’utilisation et leurs descriptions associées forment un modèle de cas d’utilisation</a:t>
            </a:r>
          </a:p>
          <a:p>
            <a:r>
              <a:rPr lang="fr-FR" altLang="fr-FR"/>
              <a:t>Un modèle de cas d’utilisation peut être utilisé pour décrire beaucoup de types de système</a:t>
            </a:r>
          </a:p>
          <a:p>
            <a:pPr lvl="1"/>
            <a:r>
              <a:rPr lang="fr-FR" altLang="fr-FR"/>
              <a:t>Un ensemble de processus métier</a:t>
            </a:r>
          </a:p>
          <a:p>
            <a:pPr lvl="1"/>
            <a:r>
              <a:rPr lang="fr-FR" altLang="fr-FR"/>
              <a:t>Un système logiciel</a:t>
            </a:r>
          </a:p>
          <a:p>
            <a:pPr lvl="1"/>
            <a:r>
              <a:rPr lang="fr-FR" altLang="fr-FR"/>
              <a:t>Un sous-système</a:t>
            </a:r>
          </a:p>
          <a:p>
            <a:pPr lvl="1"/>
            <a:r>
              <a:rPr lang="fr-FR" altLang="fr-FR"/>
              <a:t>Une vue externe de classe</a:t>
            </a:r>
          </a:p>
        </p:txBody>
      </p:sp>
    </p:spTree>
    <p:extLst>
      <p:ext uri="{BB962C8B-B14F-4D97-AF65-F5344CB8AC3E}">
        <p14:creationId xmlns:p14="http://schemas.microsoft.com/office/powerpoint/2010/main" val="14856744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179388" y="160338"/>
            <a:ext cx="8964612" cy="725487"/>
          </a:xfrm>
        </p:spPr>
        <p:txBody>
          <a:bodyPr/>
          <a:lstStyle/>
          <a:p>
            <a:r>
              <a:rPr lang="fr-FR" altLang="fr-FR"/>
              <a:t>Système d’affectation des ambulances : Diagramme de cas d’utilisation avec relations</a:t>
            </a:r>
          </a:p>
        </p:txBody>
      </p:sp>
      <p:pic>
        <p:nvPicPr>
          <p:cNvPr id="71686" name="Picture 6" descr="3-3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913" y="1219200"/>
            <a:ext cx="8258175" cy="50053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0520627"/>
      </p:ext>
    </p:extLst>
  </p:cSld>
  <p:clrMapOvr>
    <a:masterClrMapping/>
  </p:clrMapOvr>
</p:sld>
</file>

<file path=ppt/theme/theme1.xml><?xml version="1.0" encoding="utf-8"?>
<a:theme xmlns:a="http://schemas.openxmlformats.org/drawingml/2006/main" name="EPIC">
  <a:themeElements>
    <a:clrScheme name="EPIC 3">
      <a:dk1>
        <a:srgbClr val="000080"/>
      </a:dk1>
      <a:lt1>
        <a:srgbClr val="BCD507"/>
      </a:lt1>
      <a:dk2>
        <a:srgbClr val="FFFFFF"/>
      </a:dk2>
      <a:lt2>
        <a:srgbClr val="000000"/>
      </a:lt2>
      <a:accent1>
        <a:srgbClr val="FFFFCC"/>
      </a:accent1>
      <a:accent2>
        <a:srgbClr val="B90117"/>
      </a:accent2>
      <a:accent3>
        <a:srgbClr val="DAE7AA"/>
      </a:accent3>
      <a:accent4>
        <a:srgbClr val="00006C"/>
      </a:accent4>
      <a:accent5>
        <a:srgbClr val="FFFFE2"/>
      </a:accent5>
      <a:accent6>
        <a:srgbClr val="A70114"/>
      </a:accent6>
      <a:hlink>
        <a:srgbClr val="FFCCCC"/>
      </a:hlink>
      <a:folHlink>
        <a:srgbClr val="99CCFF"/>
      </a:folHlink>
    </a:clrScheme>
    <a:fontScheme name="EPIC">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1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1400" b="0" i="0" u="none" strike="noStrike" cap="none" normalizeH="0" baseline="0" smtClean="0">
            <a:ln>
              <a:noFill/>
            </a:ln>
            <a:solidFill>
              <a:schemeClr val="tx1"/>
            </a:solidFill>
            <a:effectLst/>
            <a:latin typeface="Arial" charset="0"/>
          </a:defRPr>
        </a:defPPr>
      </a:lstStyle>
    </a:lnDef>
  </a:objectDefaults>
  <a:extraClrSchemeLst>
    <a:extraClrScheme>
      <a:clrScheme name="EPIC 1">
        <a:dk1>
          <a:srgbClr val="000080"/>
        </a:dk1>
        <a:lt1>
          <a:srgbClr val="BAB600"/>
        </a:lt1>
        <a:dk2>
          <a:srgbClr val="FFFFFF"/>
        </a:dk2>
        <a:lt2>
          <a:srgbClr val="000000"/>
        </a:lt2>
        <a:accent1>
          <a:srgbClr val="FFFF66"/>
        </a:accent1>
        <a:accent2>
          <a:srgbClr val="B90117"/>
        </a:accent2>
        <a:accent3>
          <a:srgbClr val="D9D7AA"/>
        </a:accent3>
        <a:accent4>
          <a:srgbClr val="00006C"/>
        </a:accent4>
        <a:accent5>
          <a:srgbClr val="FFFFB8"/>
        </a:accent5>
        <a:accent6>
          <a:srgbClr val="A70114"/>
        </a:accent6>
        <a:hlink>
          <a:srgbClr val="3333FF"/>
        </a:hlink>
        <a:folHlink>
          <a:srgbClr val="6699FF"/>
        </a:folHlink>
      </a:clrScheme>
      <a:clrMap bg1="lt1" tx1="dk1" bg2="lt2" tx2="dk2" accent1="accent1" accent2="accent2" accent3="accent3" accent4="accent4" accent5="accent5" accent6="accent6" hlink="hlink" folHlink="folHlink"/>
    </a:extraClrScheme>
    <a:extraClrScheme>
      <a:clrScheme name="EPIC 2">
        <a:dk1>
          <a:srgbClr val="000080"/>
        </a:dk1>
        <a:lt1>
          <a:srgbClr val="BCD507"/>
        </a:lt1>
        <a:dk2>
          <a:srgbClr val="FFFFFF"/>
        </a:dk2>
        <a:lt2>
          <a:srgbClr val="000000"/>
        </a:lt2>
        <a:accent1>
          <a:srgbClr val="FFFF66"/>
        </a:accent1>
        <a:accent2>
          <a:srgbClr val="B90117"/>
        </a:accent2>
        <a:accent3>
          <a:srgbClr val="DAE7AA"/>
        </a:accent3>
        <a:accent4>
          <a:srgbClr val="00006C"/>
        </a:accent4>
        <a:accent5>
          <a:srgbClr val="FFFFB8"/>
        </a:accent5>
        <a:accent6>
          <a:srgbClr val="A70114"/>
        </a:accent6>
        <a:hlink>
          <a:srgbClr val="FFCCCC"/>
        </a:hlink>
        <a:folHlink>
          <a:srgbClr val="99CCFF"/>
        </a:folHlink>
      </a:clrScheme>
      <a:clrMap bg1="lt1" tx1="dk1" bg2="lt2" tx2="dk2" accent1="accent1" accent2="accent2" accent3="accent3" accent4="accent4" accent5="accent5" accent6="accent6" hlink="hlink" folHlink="folHlink"/>
    </a:extraClrScheme>
    <a:extraClrScheme>
      <a:clrScheme name="EPIC 3">
        <a:dk1>
          <a:srgbClr val="000080"/>
        </a:dk1>
        <a:lt1>
          <a:srgbClr val="BCD507"/>
        </a:lt1>
        <a:dk2>
          <a:srgbClr val="FFFFFF"/>
        </a:dk2>
        <a:lt2>
          <a:srgbClr val="000000"/>
        </a:lt2>
        <a:accent1>
          <a:srgbClr val="FFFFCC"/>
        </a:accent1>
        <a:accent2>
          <a:srgbClr val="B90117"/>
        </a:accent2>
        <a:accent3>
          <a:srgbClr val="DAE7AA"/>
        </a:accent3>
        <a:accent4>
          <a:srgbClr val="00006C"/>
        </a:accent4>
        <a:accent5>
          <a:srgbClr val="FFFFE2"/>
        </a:accent5>
        <a:accent6>
          <a:srgbClr val="A70114"/>
        </a:accent6>
        <a:hlink>
          <a:srgbClr val="FFCCCC"/>
        </a:hlink>
        <a:folHlink>
          <a:srgbClr val="99CCFF"/>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5921</TotalTime>
  <Words>1742</Words>
  <Application>Microsoft Office PowerPoint</Application>
  <PresentationFormat>Affichage à l'écran (4:3)</PresentationFormat>
  <Paragraphs>212</Paragraphs>
  <Slides>25</Slides>
  <Notes>25</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25</vt:i4>
      </vt:variant>
    </vt:vector>
  </HeadingPairs>
  <TitlesOfParts>
    <vt:vector size="30" baseType="lpstr">
      <vt:lpstr>Arial</vt:lpstr>
      <vt:lpstr>Century Schoolbook</vt:lpstr>
      <vt:lpstr>Lucida Sans</vt:lpstr>
      <vt:lpstr>Times New Roman</vt:lpstr>
      <vt:lpstr>EPIC</vt:lpstr>
      <vt:lpstr>Présentation PowerPoint</vt:lpstr>
      <vt:lpstr>Déroulement</vt:lpstr>
      <vt:lpstr>Diagramme de cas d’utilisation : Exemple simple </vt:lpstr>
      <vt:lpstr>Modélisation des scénarios</vt:lpstr>
      <vt:lpstr>Formaliser les scénarios sous forme de cas d’utilisation</vt:lpstr>
      <vt:lpstr>Est-ce orienté objet ?</vt:lpstr>
      <vt:lpstr>Qu’est-ce qu’un acteur ?</vt:lpstr>
      <vt:lpstr>Symbole d’acteur en UML</vt:lpstr>
      <vt:lpstr>Qu’est-ce qu’un cas d’utilisation ?</vt:lpstr>
      <vt:lpstr>Le symbole de cas d’utilisation en UML</vt:lpstr>
      <vt:lpstr>Description d’un cas d’utilisation</vt:lpstr>
      <vt:lpstr>Description textuelle d’un cas d’utilisation</vt:lpstr>
      <vt:lpstr>Système d’expédition des ambulances : Diagramme de cas d’utilisation</vt:lpstr>
      <vt:lpstr> Limites du système</vt:lpstr>
      <vt:lpstr>Relations entre les cas d’utilisation</vt:lpstr>
      <vt:lpstr>La relation «include»</vt:lpstr>
      <vt:lpstr>La relation «include» : Exemple</vt:lpstr>
      <vt:lpstr>La relation «extend»</vt:lpstr>
      <vt:lpstr>La relation «extend» : Exemple</vt:lpstr>
      <vt:lpstr>La relation de généralisation</vt:lpstr>
      <vt:lpstr>La relation de généralisation : Exemple</vt:lpstr>
      <vt:lpstr>Relations entre acteurs</vt:lpstr>
      <vt:lpstr>Relations entre acteurs : Exemple</vt:lpstr>
      <vt:lpstr>Buts et utilisations</vt:lpstr>
      <vt:lpstr>Système d’affectation des ambulances : Diagramme de cas d’utilisation avec relations</vt:lpstr>
    </vt:vector>
  </TitlesOfParts>
  <Company>Rutlands.com</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XSL Overview</dc:title>
  <dc:creator>Administrator</dc:creator>
  <cp:lastModifiedBy>Cyril Vincent</cp:lastModifiedBy>
  <cp:revision>251</cp:revision>
  <cp:lastPrinted>2001-10-05T18:03:23Z</cp:lastPrinted>
  <dcterms:created xsi:type="dcterms:W3CDTF">2001-05-13T21:09:34Z</dcterms:created>
  <dcterms:modified xsi:type="dcterms:W3CDTF">2016-09-17T13:39:21Z</dcterms:modified>
</cp:coreProperties>
</file>